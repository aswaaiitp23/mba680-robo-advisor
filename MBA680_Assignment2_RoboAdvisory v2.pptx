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310" r:id="rId5"/>
    <p:sldId id="307" r:id="rId6"/>
    <p:sldId id="308" r:id="rId7"/>
    <p:sldId id="302" r:id="rId8"/>
    <p:sldId id="300" r:id="rId9"/>
    <p:sldId id="311" r:id="rId10"/>
    <p:sldId id="306" r:id="rId11"/>
    <p:sldId id="312" r:id="rId12"/>
    <p:sldId id="313" r:id="rId13"/>
    <p:sldId id="314" r:id="rId14"/>
    <p:sldId id="279" r:id="rId15"/>
    <p:sldId id="315" r:id="rId16"/>
    <p:sldId id="309"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EE6"/>
    <a:srgbClr val="132BDC"/>
    <a:srgbClr val="DCE0FC"/>
    <a:srgbClr val="FDF200"/>
    <a:srgbClr val="80FBE5"/>
    <a:srgbClr val="3CF3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26"/>
  </p:normalViewPr>
  <p:slideViewPr>
    <p:cSldViewPr snapToGrid="0">
      <p:cViewPr varScale="1">
        <p:scale>
          <a:sx n="121" d="100"/>
          <a:sy n="121" d="100"/>
        </p:scale>
        <p:origin x="80" y="84"/>
      </p:cViewPr>
      <p:guideLst/>
    </p:cSldViewPr>
  </p:slideViewPr>
  <p:notesTextViewPr>
    <p:cViewPr>
      <p:scale>
        <a:sx n="1" d="1"/>
        <a:sy n="1" d="1"/>
      </p:scale>
      <p:origin x="0" y="0"/>
    </p:cViewPr>
  </p:notesTextViewPr>
  <p:notesViewPr>
    <p:cSldViewPr snapToGrid="0">
      <p:cViewPr varScale="1">
        <p:scale>
          <a:sx n="137" d="100"/>
          <a:sy n="137" d="100"/>
        </p:scale>
        <p:origin x="6744"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IN" sz="1300" b="1">
                <a:solidFill>
                  <a:srgbClr val="36393B"/>
                </a:solidFill>
              </a:rPr>
              <a:t>Utility function (EUT, CRRA)</a:t>
            </a:r>
          </a:p>
          <a:p>
            <a:r>
              <a:rPr lang="en-IN" sz="1050" b="0" i="1">
                <a:solidFill>
                  <a:srgbClr val="5F6266"/>
                </a:solidFill>
              </a:rPr>
              <a:t>u(W) = (W^(1−</a:t>
            </a:r>
            <a:r>
              <a:rPr lang="el-GR" sz="1050" b="0" i="1">
                <a:solidFill>
                  <a:srgbClr val="5F6266"/>
                </a:solidFill>
              </a:rPr>
              <a:t>γ) − 1) / (1−γ)</a:t>
            </a:r>
          </a:p>
        </c:rich>
      </c:tx>
      <c:overlay val="0"/>
    </c:title>
    <c:autoTitleDeleted val="0"/>
    <c:plotArea>
      <c:layout/>
      <c:scatterChart>
        <c:scatterStyle val="lineMarker"/>
        <c:varyColors val="0"/>
        <c:ser>
          <c:idx val="0"/>
          <c:order val="0"/>
          <c:tx>
            <c:strRef>
              <c:f>Sheet1!$B$1</c:f>
              <c:strCache>
                <c:ptCount val="1"/>
                <c:pt idx="0">
                  <c:v>Shree Charan</c:v>
                </c:pt>
              </c:strCache>
            </c:strRef>
          </c:tx>
          <c:spPr>
            <a:ln w="28575">
              <a:solidFill>
                <a:srgbClr val="4D62EF"/>
              </a:solidFill>
            </a:ln>
          </c:spPr>
          <c:marker>
            <c:symbol val="none"/>
          </c:marker>
          <c:xVal>
            <c:numRef>
              <c:f>Sheet1!$A$2:$A$46</c:f>
              <c:numCache>
                <c:formatCode>General</c:formatCode>
                <c:ptCount val="45"/>
                <c:pt idx="0">
                  <c:v>0.35</c:v>
                </c:pt>
                <c:pt idx="1">
                  <c:v>0.39886363636363631</c:v>
                </c:pt>
                <c:pt idx="2">
                  <c:v>0.4477272727272727</c:v>
                </c:pt>
                <c:pt idx="3">
                  <c:v>0.49659090909090908</c:v>
                </c:pt>
                <c:pt idx="4">
                  <c:v>0.54545454545454541</c:v>
                </c:pt>
                <c:pt idx="5">
                  <c:v>0.59431818181818175</c:v>
                </c:pt>
                <c:pt idx="6">
                  <c:v>0.64318181818181808</c:v>
                </c:pt>
                <c:pt idx="7">
                  <c:v>0.69204545454545452</c:v>
                </c:pt>
                <c:pt idx="8">
                  <c:v>0.74090909090909085</c:v>
                </c:pt>
                <c:pt idx="9">
                  <c:v>0.78977272727272718</c:v>
                </c:pt>
                <c:pt idx="10">
                  <c:v>0.83863636363636362</c:v>
                </c:pt>
                <c:pt idx="11">
                  <c:v>0.88749999999999996</c:v>
                </c:pt>
                <c:pt idx="12">
                  <c:v>0.93636363636363629</c:v>
                </c:pt>
                <c:pt idx="13">
                  <c:v>0.98522727272727262</c:v>
                </c:pt>
                <c:pt idx="14">
                  <c:v>1.0340909090909092</c:v>
                </c:pt>
                <c:pt idx="15">
                  <c:v>1.0829545454545455</c:v>
                </c:pt>
                <c:pt idx="16">
                  <c:v>1.1318181818181818</c:v>
                </c:pt>
                <c:pt idx="17">
                  <c:v>1.1806818181818182</c:v>
                </c:pt>
                <c:pt idx="18">
                  <c:v>1.2295454545454545</c:v>
                </c:pt>
                <c:pt idx="19">
                  <c:v>1.2784090909090908</c:v>
                </c:pt>
                <c:pt idx="20">
                  <c:v>1.3272727272727272</c:v>
                </c:pt>
                <c:pt idx="21">
                  <c:v>1.3761363636363635</c:v>
                </c:pt>
                <c:pt idx="22">
                  <c:v>1.4249999999999998</c:v>
                </c:pt>
                <c:pt idx="23">
                  <c:v>1.4738636363636362</c:v>
                </c:pt>
                <c:pt idx="24">
                  <c:v>1.5227272727272725</c:v>
                </c:pt>
                <c:pt idx="25">
                  <c:v>1.5715909090909088</c:v>
                </c:pt>
                <c:pt idx="26">
                  <c:v>1.6204545454545451</c:v>
                </c:pt>
                <c:pt idx="27">
                  <c:v>1.6693181818181815</c:v>
                </c:pt>
                <c:pt idx="28">
                  <c:v>1.7181818181818183</c:v>
                </c:pt>
                <c:pt idx="29">
                  <c:v>1.7670454545454546</c:v>
                </c:pt>
                <c:pt idx="30">
                  <c:v>1.8159090909090909</c:v>
                </c:pt>
                <c:pt idx="31">
                  <c:v>1.8647727272727272</c:v>
                </c:pt>
                <c:pt idx="32">
                  <c:v>1.9136363636363636</c:v>
                </c:pt>
                <c:pt idx="33">
                  <c:v>1.9624999999999999</c:v>
                </c:pt>
                <c:pt idx="34">
                  <c:v>2.0113636363636362</c:v>
                </c:pt>
                <c:pt idx="35">
                  <c:v>2.0602272727272726</c:v>
                </c:pt>
                <c:pt idx="36">
                  <c:v>2.1090909090909089</c:v>
                </c:pt>
                <c:pt idx="37">
                  <c:v>2.1579545454545452</c:v>
                </c:pt>
                <c:pt idx="38">
                  <c:v>2.2068181818181816</c:v>
                </c:pt>
                <c:pt idx="39">
                  <c:v>2.2556818181818179</c:v>
                </c:pt>
                <c:pt idx="40">
                  <c:v>2.3045454545454542</c:v>
                </c:pt>
                <c:pt idx="41">
                  <c:v>2.353409090909091</c:v>
                </c:pt>
                <c:pt idx="42">
                  <c:v>2.4022727272727273</c:v>
                </c:pt>
                <c:pt idx="43">
                  <c:v>2.4511363636363637</c:v>
                </c:pt>
                <c:pt idx="44">
                  <c:v>2.5</c:v>
                </c:pt>
              </c:numCache>
            </c:numRef>
          </c:xVal>
          <c:yVal>
            <c:numRef>
              <c:f>Sheet1!$B$2:$B$46</c:f>
              <c:numCache>
                <c:formatCode>General</c:formatCode>
                <c:ptCount val="45"/>
                <c:pt idx="0">
                  <c:v>-2.1199284181368236</c:v>
                </c:pt>
                <c:pt idx="1">
                  <c:v>-1.688528986089703</c:v>
                </c:pt>
                <c:pt idx="2">
                  <c:v>-1.3600056224263024</c:v>
                </c:pt>
                <c:pt idx="3">
                  <c:v>-1.1022066449941244</c:v>
                </c:pt>
                <c:pt idx="4">
                  <c:v>-0.89498700773607509</c:v>
                </c:pt>
                <c:pt idx="5">
                  <c:v>-0.72511249220301066</c:v>
                </c:pt>
                <c:pt idx="6">
                  <c:v>-0.58354726718845629</c:v>
                </c:pt>
                <c:pt idx="7">
                  <c:v>-0.46392135848145061</c:v>
                </c:pt>
                <c:pt idx="8">
                  <c:v>-0.36162118175724972</c:v>
                </c:pt>
                <c:pt idx="9">
                  <c:v>-0.2732271321994228</c:v>
                </c:pt>
                <c:pt idx="10">
                  <c:v>-0.19615337980710576</c:v>
                </c:pt>
                <c:pt idx="11">
                  <c:v>-0.1284100893237678</c:v>
                </c:pt>
                <c:pt idx="12">
                  <c:v>-6.8442265578856173E-2</c:v>
                </c:pt>
                <c:pt idx="13">
                  <c:v>-1.5017971414963509E-2</c:v>
                </c:pt>
                <c:pt idx="14">
                  <c:v>3.2850816926351022E-2</c:v>
                </c:pt>
                <c:pt idx="15">
                  <c:v>7.596528324090733E-2</c:v>
                </c:pt>
                <c:pt idx="16">
                  <c:v>0.11498161223840862</c:v>
                </c:pt>
                <c:pt idx="17">
                  <c:v>0.15044212322507614</c:v>
                </c:pt>
                <c:pt idx="18">
                  <c:v>0.18279875173082358</c:v>
                </c:pt>
                <c:pt idx="19">
                  <c:v>0.21243097940899894</c:v>
                </c:pt>
                <c:pt idx="20">
                  <c:v>0.23965968018710276</c:v>
                </c:pt>
                <c:pt idx="21">
                  <c:v>0.26475792430595668</c:v>
                </c:pt>
                <c:pt idx="22">
                  <c:v>0.28795948969567092</c:v>
                </c:pt>
                <c:pt idx="23">
                  <c:v>0.30946562685159779</c:v>
                </c:pt>
                <c:pt idx="24">
                  <c:v>0.32945047996442012</c:v>
                </c:pt>
                <c:pt idx="25">
                  <c:v>0.34806546458114412</c:v>
                </c:pt>
                <c:pt idx="26">
                  <c:v>0.36544282796656691</c:v>
                </c:pt>
                <c:pt idx="27">
                  <c:v>0.3816985641452344</c:v>
                </c:pt>
                <c:pt idx="28">
                  <c:v>0.39693481556596505</c:v>
                </c:pt>
                <c:pt idx="29">
                  <c:v>0.41124186346080127</c:v>
                </c:pt>
                <c:pt idx="30">
                  <c:v>0.42469978648218243</c:v>
                </c:pt>
                <c:pt idx="31">
                  <c:v>0.43737985012658248</c:v>
                </c:pt>
                <c:pt idx="32">
                  <c:v>0.44934567638250822</c:v>
                </c:pt>
                <c:pt idx="33">
                  <c:v>0.46065423296002966</c:v>
                </c:pt>
                <c:pt idx="34">
                  <c:v>0.47135667362823797</c:v>
                </c:pt>
                <c:pt idx="35">
                  <c:v>0.4814990550626837</c:v>
                </c:pt>
                <c:pt idx="36">
                  <c:v>0.49112295078424889</c:v>
                </c:pt>
                <c:pt idx="37">
                  <c:v>0.50026597895333003</c:v>
                </c:pt>
                <c:pt idx="38">
                  <c:v>0.50896225774242121</c:v>
                </c:pt>
                <c:pt idx="39">
                  <c:v>0.51724279957475161</c:v>
                </c:pt>
                <c:pt idx="40">
                  <c:v>0.52513585355578507</c:v>
                </c:pt>
                <c:pt idx="41">
                  <c:v>0.53266720383773636</c:v>
                </c:pt>
                <c:pt idx="42">
                  <c:v>0.53986043036724529</c:v>
                </c:pt>
                <c:pt idx="43">
                  <c:v>0.54673713741271091</c:v>
                </c:pt>
                <c:pt idx="44">
                  <c:v>0.55331715440346774</c:v>
                </c:pt>
              </c:numCache>
            </c:numRef>
          </c:yVal>
          <c:smooth val="0"/>
          <c:extLst>
            <c:ext xmlns:c16="http://schemas.microsoft.com/office/drawing/2014/chart" uri="{C3380CC4-5D6E-409C-BE32-E72D297353CC}">
              <c16:uniqueId val="{00000000-9083-4D32-A7F6-8CA65CE48FDF}"/>
            </c:ext>
          </c:extLst>
        </c:ser>
        <c:ser>
          <c:idx val="1"/>
          <c:order val="1"/>
          <c:tx>
            <c:strRef>
              <c:f>Sheet1!$B$48</c:f>
              <c:strCache>
                <c:ptCount val="1"/>
                <c:pt idx="0">
                  <c:v>Kshitij</c:v>
                </c:pt>
              </c:strCache>
            </c:strRef>
          </c:tx>
          <c:spPr>
            <a:ln w="28575">
              <a:solidFill>
                <a:srgbClr val="FD4C00"/>
              </a:solidFill>
            </a:ln>
          </c:spPr>
          <c:marker>
            <c:symbol val="none"/>
          </c:marker>
          <c:xVal>
            <c:numRef>
              <c:f>Sheet1!$A$49:$A$93</c:f>
              <c:numCache>
                <c:formatCode>General</c:formatCode>
                <c:ptCount val="45"/>
                <c:pt idx="0">
                  <c:v>0.35</c:v>
                </c:pt>
                <c:pt idx="1">
                  <c:v>0.39886363636363631</c:v>
                </c:pt>
                <c:pt idx="2">
                  <c:v>0.4477272727272727</c:v>
                </c:pt>
                <c:pt idx="3">
                  <c:v>0.49659090909090908</c:v>
                </c:pt>
                <c:pt idx="4">
                  <c:v>0.54545454545454541</c:v>
                </c:pt>
                <c:pt idx="5">
                  <c:v>0.59431818181818175</c:v>
                </c:pt>
                <c:pt idx="6">
                  <c:v>0.64318181818181808</c:v>
                </c:pt>
                <c:pt idx="7">
                  <c:v>0.69204545454545452</c:v>
                </c:pt>
                <c:pt idx="8">
                  <c:v>0.74090909090909085</c:v>
                </c:pt>
                <c:pt idx="9">
                  <c:v>0.78977272727272718</c:v>
                </c:pt>
                <c:pt idx="10">
                  <c:v>0.83863636363636362</c:v>
                </c:pt>
                <c:pt idx="11">
                  <c:v>0.88749999999999996</c:v>
                </c:pt>
                <c:pt idx="12">
                  <c:v>0.93636363636363629</c:v>
                </c:pt>
                <c:pt idx="13">
                  <c:v>0.98522727272727262</c:v>
                </c:pt>
                <c:pt idx="14">
                  <c:v>1.0340909090909092</c:v>
                </c:pt>
                <c:pt idx="15">
                  <c:v>1.0829545454545455</c:v>
                </c:pt>
                <c:pt idx="16">
                  <c:v>1.1318181818181818</c:v>
                </c:pt>
                <c:pt idx="17">
                  <c:v>1.1806818181818182</c:v>
                </c:pt>
                <c:pt idx="18">
                  <c:v>1.2295454545454545</c:v>
                </c:pt>
                <c:pt idx="19">
                  <c:v>1.2784090909090908</c:v>
                </c:pt>
                <c:pt idx="20">
                  <c:v>1.3272727272727272</c:v>
                </c:pt>
                <c:pt idx="21">
                  <c:v>1.3761363636363635</c:v>
                </c:pt>
                <c:pt idx="22">
                  <c:v>1.4249999999999998</c:v>
                </c:pt>
                <c:pt idx="23">
                  <c:v>1.4738636363636362</c:v>
                </c:pt>
                <c:pt idx="24">
                  <c:v>1.5227272727272725</c:v>
                </c:pt>
                <c:pt idx="25">
                  <c:v>1.5715909090909088</c:v>
                </c:pt>
                <c:pt idx="26">
                  <c:v>1.6204545454545451</c:v>
                </c:pt>
                <c:pt idx="27">
                  <c:v>1.6693181818181815</c:v>
                </c:pt>
                <c:pt idx="28">
                  <c:v>1.7181818181818183</c:v>
                </c:pt>
                <c:pt idx="29">
                  <c:v>1.7670454545454546</c:v>
                </c:pt>
                <c:pt idx="30">
                  <c:v>1.8159090909090909</c:v>
                </c:pt>
                <c:pt idx="31">
                  <c:v>1.8647727272727272</c:v>
                </c:pt>
                <c:pt idx="32">
                  <c:v>1.9136363636363636</c:v>
                </c:pt>
                <c:pt idx="33">
                  <c:v>1.9624999999999999</c:v>
                </c:pt>
                <c:pt idx="34">
                  <c:v>2.0113636363636362</c:v>
                </c:pt>
                <c:pt idx="35">
                  <c:v>2.0602272727272726</c:v>
                </c:pt>
                <c:pt idx="36">
                  <c:v>2.1090909090909089</c:v>
                </c:pt>
                <c:pt idx="37">
                  <c:v>2.1579545454545452</c:v>
                </c:pt>
                <c:pt idx="38">
                  <c:v>2.2068181818181816</c:v>
                </c:pt>
                <c:pt idx="39">
                  <c:v>2.2556818181818179</c:v>
                </c:pt>
                <c:pt idx="40">
                  <c:v>2.3045454545454542</c:v>
                </c:pt>
                <c:pt idx="41">
                  <c:v>2.353409090909091</c:v>
                </c:pt>
                <c:pt idx="42">
                  <c:v>2.4022727272727273</c:v>
                </c:pt>
                <c:pt idx="43">
                  <c:v>2.4511363636363637</c:v>
                </c:pt>
                <c:pt idx="44">
                  <c:v>2.5</c:v>
                </c:pt>
              </c:numCache>
            </c:numRef>
          </c:xVal>
          <c:yVal>
            <c:numRef>
              <c:f>Sheet1!$B$49:$B$93</c:f>
              <c:numCache>
                <c:formatCode>General</c:formatCode>
                <c:ptCount val="45"/>
                <c:pt idx="0">
                  <c:v>-0.52862480506100895</c:v>
                </c:pt>
                <c:pt idx="1">
                  <c:v>-0.49873004691066658</c:v>
                </c:pt>
                <c:pt idx="2">
                  <c:v>-0.466943213881438</c:v>
                </c:pt>
                <c:pt idx="3">
                  <c:v>-0.43337088392695328</c:v>
                </c:pt>
                <c:pt idx="4">
                  <c:v>-0.39810341362084983</c:v>
                </c:pt>
                <c:pt idx="5">
                  <c:v>-0.36121868059353029</c:v>
                </c:pt>
                <c:pt idx="6">
                  <c:v>-0.32278471766480415</c:v>
                </c:pt>
                <c:pt idx="7">
                  <c:v>-0.28286162823890004</c:v>
                </c:pt>
                <c:pt idx="8">
                  <c:v>-0.24150301712424871</c:v>
                </c:pt>
                <c:pt idx="9">
                  <c:v>-0.19875708391074665</c:v>
                </c:pt>
                <c:pt idx="10">
                  <c:v>-0.15466747484430962</c:v>
                </c:pt>
                <c:pt idx="11">
                  <c:v>-0.10927395775808724</c:v>
                </c:pt>
                <c:pt idx="12">
                  <c:v>-6.2612964696100296E-2</c:v>
                </c:pt>
                <c:pt idx="13">
                  <c:v>-1.4718033825945906E-2</c:v>
                </c:pt>
                <c:pt idx="14">
                  <c:v>3.4379826525115696E-2</c:v>
                </c:pt>
                <c:pt idx="15">
                  <c:v>8.4651834903480452E-2</c:v>
                </c:pt>
                <c:pt idx="16">
                  <c:v>0.13607118225704365</c:v>
                </c:pt>
                <c:pt idx="17">
                  <c:v>0.18861281641011848</c:v>
                </c:pt>
                <c:pt idx="18">
                  <c:v>0.24225325813987331</c:v>
                </c:pt>
                <c:pt idx="19">
                  <c:v>0.29697044313442439</c:v>
                </c:pt>
                <c:pt idx="20">
                  <c:v>0.35274358532952926</c:v>
                </c:pt>
                <c:pt idx="21">
                  <c:v>0.40955305804302417</c:v>
                </c:pt>
                <c:pt idx="22">
                  <c:v>0.46738029003309878</c:v>
                </c:pt>
                <c:pt idx="23">
                  <c:v>0.52620767415418079</c:v>
                </c:pt>
                <c:pt idx="24">
                  <c:v>0.586018486712646</c:v>
                </c:pt>
                <c:pt idx="25">
                  <c:v>0.6467968159627423</c:v>
                </c:pt>
                <c:pt idx="26">
                  <c:v>0.70852749845230889</c:v>
                </c:pt>
                <c:pt idx="27">
                  <c:v>0.77119606214380154</c:v>
                </c:pt>
                <c:pt idx="28">
                  <c:v>0.83478867541062662</c:v>
                </c:pt>
                <c:pt idx="29">
                  <c:v>0.89929210115072833</c:v>
                </c:pt>
                <c:pt idx="30">
                  <c:v>0.96469365537562146</c:v>
                </c:pt>
                <c:pt idx="31">
                  <c:v>1.0309811697287696</c:v>
                </c:pt>
                <c:pt idx="32">
                  <c:v>1.0981429574665356</c:v>
                </c:pt>
                <c:pt idx="33">
                  <c:v>1.1661677825009484</c:v>
                </c:pt>
                <c:pt idx="34">
                  <c:v>1.2350448311588271</c:v>
                </c:pt>
                <c:pt idx="35">
                  <c:v>1.3047636863582606</c:v>
                </c:pt>
                <c:pt idx="36">
                  <c:v>1.3753143039427345</c:v>
                </c:pt>
                <c:pt idx="37">
                  <c:v>1.4466869909464837</c:v>
                </c:pt>
                <c:pt idx="38">
                  <c:v>1.518872385593057</c:v>
                </c:pt>
                <c:pt idx="39">
                  <c:v>1.5918614388533197</c:v>
                </c:pt>
                <c:pt idx="40">
                  <c:v>1.6656453974099683</c:v>
                </c:pt>
                <c:pt idx="41">
                  <c:v>1.7402157878935709</c:v>
                </c:pt>
                <c:pt idx="42">
                  <c:v>1.8155644022706372</c:v>
                </c:pt>
                <c:pt idx="43">
                  <c:v>1.8916832842776905</c:v>
                </c:pt>
                <c:pt idx="44">
                  <c:v>1.9685647168069826</c:v>
                </c:pt>
              </c:numCache>
            </c:numRef>
          </c:yVal>
          <c:smooth val="0"/>
          <c:extLst>
            <c:ext xmlns:c16="http://schemas.microsoft.com/office/drawing/2014/chart" uri="{C3380CC4-5D6E-409C-BE32-E72D297353CC}">
              <c16:uniqueId val="{00000001-9083-4D32-A7F6-8CA65CE48FDF}"/>
            </c:ext>
          </c:extLst>
        </c:ser>
        <c:ser>
          <c:idx val="2"/>
          <c:order val="2"/>
          <c:tx>
            <c:strRef>
              <c:f>Sheet1!$B$95</c:f>
              <c:strCache>
                <c:ptCount val="1"/>
                <c:pt idx="0">
                  <c:v>Kartika</c:v>
                </c:pt>
              </c:strCache>
            </c:strRef>
          </c:tx>
          <c:spPr>
            <a:ln w="28575">
              <a:solidFill>
                <a:srgbClr val="12A385"/>
              </a:solidFill>
            </a:ln>
          </c:spPr>
          <c:marker>
            <c:symbol val="none"/>
          </c:marker>
          <c:xVal>
            <c:numRef>
              <c:f>Sheet1!$A$96:$A$140</c:f>
              <c:numCache>
                <c:formatCode>General</c:formatCode>
                <c:ptCount val="45"/>
                <c:pt idx="0">
                  <c:v>0.35</c:v>
                </c:pt>
                <c:pt idx="1">
                  <c:v>0.39886363636363631</c:v>
                </c:pt>
                <c:pt idx="2">
                  <c:v>0.4477272727272727</c:v>
                </c:pt>
                <c:pt idx="3">
                  <c:v>0.49659090909090908</c:v>
                </c:pt>
                <c:pt idx="4">
                  <c:v>0.54545454545454541</c:v>
                </c:pt>
                <c:pt idx="5">
                  <c:v>0.59431818181818175</c:v>
                </c:pt>
                <c:pt idx="6">
                  <c:v>0.64318181818181808</c:v>
                </c:pt>
                <c:pt idx="7">
                  <c:v>0.69204545454545452</c:v>
                </c:pt>
                <c:pt idx="8">
                  <c:v>0.74090909090909085</c:v>
                </c:pt>
                <c:pt idx="9">
                  <c:v>0.78977272727272718</c:v>
                </c:pt>
                <c:pt idx="10">
                  <c:v>0.83863636363636362</c:v>
                </c:pt>
                <c:pt idx="11">
                  <c:v>0.88749999999999996</c:v>
                </c:pt>
                <c:pt idx="12">
                  <c:v>0.93636363636363629</c:v>
                </c:pt>
                <c:pt idx="13">
                  <c:v>0.98522727272727262</c:v>
                </c:pt>
                <c:pt idx="14">
                  <c:v>1.0340909090909092</c:v>
                </c:pt>
                <c:pt idx="15">
                  <c:v>1.0829545454545455</c:v>
                </c:pt>
                <c:pt idx="16">
                  <c:v>1.1318181818181818</c:v>
                </c:pt>
                <c:pt idx="17">
                  <c:v>1.1806818181818182</c:v>
                </c:pt>
                <c:pt idx="18">
                  <c:v>1.2295454545454545</c:v>
                </c:pt>
                <c:pt idx="19">
                  <c:v>1.2784090909090908</c:v>
                </c:pt>
                <c:pt idx="20">
                  <c:v>1.3272727272727272</c:v>
                </c:pt>
                <c:pt idx="21">
                  <c:v>1.3761363636363635</c:v>
                </c:pt>
                <c:pt idx="22">
                  <c:v>1.4249999999999998</c:v>
                </c:pt>
                <c:pt idx="23">
                  <c:v>1.4738636363636362</c:v>
                </c:pt>
                <c:pt idx="24">
                  <c:v>1.5227272727272725</c:v>
                </c:pt>
                <c:pt idx="25">
                  <c:v>1.5715909090909088</c:v>
                </c:pt>
                <c:pt idx="26">
                  <c:v>1.6204545454545451</c:v>
                </c:pt>
                <c:pt idx="27">
                  <c:v>1.6693181818181815</c:v>
                </c:pt>
                <c:pt idx="28">
                  <c:v>1.7181818181818183</c:v>
                </c:pt>
                <c:pt idx="29">
                  <c:v>1.7670454545454546</c:v>
                </c:pt>
                <c:pt idx="30">
                  <c:v>1.8159090909090909</c:v>
                </c:pt>
                <c:pt idx="31">
                  <c:v>1.8647727272727272</c:v>
                </c:pt>
                <c:pt idx="32">
                  <c:v>1.9136363636363636</c:v>
                </c:pt>
                <c:pt idx="33">
                  <c:v>1.9624999999999999</c:v>
                </c:pt>
                <c:pt idx="34">
                  <c:v>2.0113636363636362</c:v>
                </c:pt>
                <c:pt idx="35">
                  <c:v>2.0602272727272726</c:v>
                </c:pt>
                <c:pt idx="36">
                  <c:v>2.1090909090909089</c:v>
                </c:pt>
                <c:pt idx="37">
                  <c:v>2.1579545454545452</c:v>
                </c:pt>
                <c:pt idx="38">
                  <c:v>2.2068181818181816</c:v>
                </c:pt>
                <c:pt idx="39">
                  <c:v>2.2556818181818179</c:v>
                </c:pt>
                <c:pt idx="40">
                  <c:v>2.3045454545454542</c:v>
                </c:pt>
                <c:pt idx="41">
                  <c:v>2.353409090909091</c:v>
                </c:pt>
                <c:pt idx="42">
                  <c:v>2.4022727272727273</c:v>
                </c:pt>
                <c:pt idx="43">
                  <c:v>2.4511363636363637</c:v>
                </c:pt>
                <c:pt idx="44">
                  <c:v>2.5</c:v>
                </c:pt>
              </c:numCache>
            </c:numRef>
          </c:xVal>
          <c:yVal>
            <c:numRef>
              <c:f>Sheet1!$B$96:$B$140</c:f>
              <c:numCache>
                <c:formatCode>General</c:formatCode>
                <c:ptCount val="45"/>
                <c:pt idx="0">
                  <c:v>-0.71028504952393456</c:v>
                </c:pt>
                <c:pt idx="1">
                  <c:v>-0.65080308533983056</c:v>
                </c:pt>
                <c:pt idx="2">
                  <c:v>-0.59276474317009009</c:v>
                </c:pt>
                <c:pt idx="3">
                  <c:v>-0.53598222256711014</c:v>
                </c:pt>
                <c:pt idx="4">
                  <c:v>-0.48030819041122896</c:v>
                </c:pt>
                <c:pt idx="5">
                  <c:v>-0.42562421511309217</c:v>
                </c:pt>
                <c:pt idx="6">
                  <c:v>-0.37183318764559381</c:v>
                </c:pt>
                <c:pt idx="7">
                  <c:v>-0.31885415561173025</c:v>
                </c:pt>
                <c:pt idx="8">
                  <c:v>-0.26661868552188978</c:v>
                </c:pt>
                <c:pt idx="9">
                  <c:v>-0.2150682300525536</c:v>
                </c:pt>
                <c:pt idx="10">
                  <c:v>-0.16415217757045936</c:v>
                </c:pt>
                <c:pt idx="11">
                  <c:v>-0.11382637763657902</c:v>
                </c:pt>
                <c:pt idx="12">
                  <c:v>-6.4052006515211146E-2</c:v>
                </c:pt>
                <c:pt idx="13">
                  <c:v>-1.4794680633755247E-2</c:v>
                </c:pt>
                <c:pt idx="14">
                  <c:v>3.3976245805454885E-2</c:v>
                </c:pt>
                <c:pt idx="15">
                  <c:v>8.2288244204034022E-2</c:v>
                </c:pt>
                <c:pt idx="16">
                  <c:v>0.13016606847575829</c:v>
                </c:pt>
                <c:pt idx="17">
                  <c:v>0.1776321293302946</c:v>
                </c:pt>
                <c:pt idx="18">
                  <c:v>0.22470680367213586</c:v>
                </c:pt>
                <c:pt idx="19">
                  <c:v>0.27140869249224903</c:v>
                </c:pt>
                <c:pt idx="20">
                  <c:v>0.31775483746619565</c:v>
                </c:pt>
                <c:pt idx="21">
                  <c:v>0.36376090414585838</c:v>
                </c:pt>
                <c:pt idx="22">
                  <c:v>0.40944133789906106</c:v>
                </c:pt>
                <c:pt idx="23">
                  <c:v>0.45480949744559157</c:v>
                </c:pt>
                <c:pt idx="24">
                  <c:v>0.49987776984349447</c:v>
                </c:pt>
                <c:pt idx="25">
                  <c:v>0.54465767001426491</c:v>
                </c:pt>
                <c:pt idx="26">
                  <c:v>0.58915992730133926</c:v>
                </c:pt>
                <c:pt idx="27">
                  <c:v>0.63339456109083669</c:v>
                </c:pt>
                <c:pt idx="28">
                  <c:v>0.67737094715598156</c:v>
                </c:pt>
                <c:pt idx="29">
                  <c:v>0.72109787609423626</c:v>
                </c:pt>
                <c:pt idx="30">
                  <c:v>0.76458360499190881</c:v>
                </c:pt>
                <c:pt idx="31">
                  <c:v>0.80783590326200827</c:v>
                </c:pt>
                <c:pt idx="32">
                  <c:v>0.85086209344776587</c:v>
                </c:pt>
                <c:pt idx="33">
                  <c:v>0.89366908765900166</c:v>
                </c:pt>
                <c:pt idx="34">
                  <c:v>0.93626342020571185</c:v>
                </c:pt>
                <c:pt idx="35">
                  <c:v>0.97865127690838516</c:v>
                </c:pt>
                <c:pt idx="36">
                  <c:v>1.0208385214941733</c:v>
                </c:pt>
                <c:pt idx="37">
                  <c:v>1.0628307194293654</c:v>
                </c:pt>
                <c:pt idx="38">
                  <c:v>1.1046331594895054</c:v>
                </c:pt>
                <c:pt idx="39">
                  <c:v>1.1462508733271863</c:v>
                </c:pt>
                <c:pt idx="40">
                  <c:v>1.1876886532626889</c:v>
                </c:pt>
                <c:pt idx="41">
                  <c:v>1.2289510684930798</c:v>
                </c:pt>
                <c:pt idx="42">
                  <c:v>1.2700424798902403</c:v>
                </c:pt>
                <c:pt idx="43">
                  <c:v>1.3109670535368383</c:v>
                </c:pt>
                <c:pt idx="44">
                  <c:v>1.3517287731308536</c:v>
                </c:pt>
              </c:numCache>
            </c:numRef>
          </c:yVal>
          <c:smooth val="0"/>
          <c:extLst>
            <c:ext xmlns:c16="http://schemas.microsoft.com/office/drawing/2014/chart" uri="{C3380CC4-5D6E-409C-BE32-E72D297353CC}">
              <c16:uniqueId val="{00000002-9083-4D32-A7F6-8CA65CE48FDF}"/>
            </c:ext>
          </c:extLst>
        </c:ser>
        <c:ser>
          <c:idx val="3"/>
          <c:order val="3"/>
          <c:tx>
            <c:strRef>
              <c:f>Sheet1!$B$142</c:f>
              <c:strCache>
                <c:ptCount val="1"/>
                <c:pt idx="0">
                  <c:v>Ayushi</c:v>
                </c:pt>
              </c:strCache>
            </c:strRef>
          </c:tx>
          <c:spPr>
            <a:ln w="28575">
              <a:solidFill>
                <a:srgbClr val="CA54FB"/>
              </a:solidFill>
            </a:ln>
          </c:spPr>
          <c:marker>
            <c:symbol val="none"/>
          </c:marker>
          <c:xVal>
            <c:numRef>
              <c:f>Sheet1!$A$143:$A$187</c:f>
              <c:numCache>
                <c:formatCode>General</c:formatCode>
                <c:ptCount val="45"/>
                <c:pt idx="0">
                  <c:v>0.35</c:v>
                </c:pt>
                <c:pt idx="1">
                  <c:v>0.39886363636363631</c:v>
                </c:pt>
                <c:pt idx="2">
                  <c:v>0.4477272727272727</c:v>
                </c:pt>
                <c:pt idx="3">
                  <c:v>0.49659090909090908</c:v>
                </c:pt>
                <c:pt idx="4">
                  <c:v>0.54545454545454541</c:v>
                </c:pt>
                <c:pt idx="5">
                  <c:v>0.59431818181818175</c:v>
                </c:pt>
                <c:pt idx="6">
                  <c:v>0.64318181818181808</c:v>
                </c:pt>
                <c:pt idx="7">
                  <c:v>0.69204545454545452</c:v>
                </c:pt>
                <c:pt idx="8">
                  <c:v>0.74090909090909085</c:v>
                </c:pt>
                <c:pt idx="9">
                  <c:v>0.78977272727272718</c:v>
                </c:pt>
                <c:pt idx="10">
                  <c:v>0.83863636363636362</c:v>
                </c:pt>
                <c:pt idx="11">
                  <c:v>0.88749999999999996</c:v>
                </c:pt>
                <c:pt idx="12">
                  <c:v>0.93636363636363629</c:v>
                </c:pt>
                <c:pt idx="13">
                  <c:v>0.98522727272727262</c:v>
                </c:pt>
                <c:pt idx="14">
                  <c:v>1.0340909090909092</c:v>
                </c:pt>
                <c:pt idx="15">
                  <c:v>1.0829545454545455</c:v>
                </c:pt>
                <c:pt idx="16">
                  <c:v>1.1318181818181818</c:v>
                </c:pt>
                <c:pt idx="17">
                  <c:v>1.1806818181818182</c:v>
                </c:pt>
                <c:pt idx="18">
                  <c:v>1.2295454545454545</c:v>
                </c:pt>
                <c:pt idx="19">
                  <c:v>1.2784090909090908</c:v>
                </c:pt>
                <c:pt idx="20">
                  <c:v>1.3272727272727272</c:v>
                </c:pt>
                <c:pt idx="21">
                  <c:v>1.3761363636363635</c:v>
                </c:pt>
                <c:pt idx="22">
                  <c:v>1.4249999999999998</c:v>
                </c:pt>
                <c:pt idx="23">
                  <c:v>1.4738636363636362</c:v>
                </c:pt>
                <c:pt idx="24">
                  <c:v>1.5227272727272725</c:v>
                </c:pt>
                <c:pt idx="25">
                  <c:v>1.5715909090909088</c:v>
                </c:pt>
                <c:pt idx="26">
                  <c:v>1.6204545454545451</c:v>
                </c:pt>
                <c:pt idx="27">
                  <c:v>1.6693181818181815</c:v>
                </c:pt>
                <c:pt idx="28">
                  <c:v>1.7181818181818183</c:v>
                </c:pt>
                <c:pt idx="29">
                  <c:v>1.7670454545454546</c:v>
                </c:pt>
                <c:pt idx="30">
                  <c:v>1.8159090909090909</c:v>
                </c:pt>
                <c:pt idx="31">
                  <c:v>1.8647727272727272</c:v>
                </c:pt>
                <c:pt idx="32">
                  <c:v>1.9136363636363636</c:v>
                </c:pt>
                <c:pt idx="33">
                  <c:v>1.9624999999999999</c:v>
                </c:pt>
                <c:pt idx="34">
                  <c:v>2.0113636363636362</c:v>
                </c:pt>
                <c:pt idx="35">
                  <c:v>2.0602272727272726</c:v>
                </c:pt>
                <c:pt idx="36">
                  <c:v>2.1090909090909089</c:v>
                </c:pt>
                <c:pt idx="37">
                  <c:v>2.1579545454545452</c:v>
                </c:pt>
                <c:pt idx="38">
                  <c:v>2.2068181818181816</c:v>
                </c:pt>
                <c:pt idx="39">
                  <c:v>2.2556818181818179</c:v>
                </c:pt>
                <c:pt idx="40">
                  <c:v>2.3045454545454542</c:v>
                </c:pt>
                <c:pt idx="41">
                  <c:v>2.353409090909091</c:v>
                </c:pt>
                <c:pt idx="42">
                  <c:v>2.4022727272727273</c:v>
                </c:pt>
                <c:pt idx="43">
                  <c:v>2.4511363636363637</c:v>
                </c:pt>
                <c:pt idx="44">
                  <c:v>2.5</c:v>
                </c:pt>
              </c:numCache>
            </c:numRef>
          </c:xVal>
          <c:yVal>
            <c:numRef>
              <c:f>Sheet1!$B$143:$B$187</c:f>
              <c:numCache>
                <c:formatCode>General</c:formatCode>
                <c:ptCount val="45"/>
                <c:pt idx="0">
                  <c:v>-2.1118912007724617</c:v>
                </c:pt>
                <c:pt idx="1">
                  <c:v>-1.6830369051198901</c:v>
                </c:pt>
                <c:pt idx="2">
                  <c:v>-1.3562096475444765</c:v>
                </c:pt>
                <c:pt idx="3">
                  <c:v>-1.0995725639822176</c:v>
                </c:pt>
                <c:pt idx="4">
                  <c:v>-0.89316440077629544</c:v>
                </c:pt>
                <c:pt idx="5">
                  <c:v>-0.72386374831783629</c:v>
                </c:pt>
                <c:pt idx="6">
                  <c:v>-0.5827068837144832</c:v>
                </c:pt>
                <c:pt idx="7">
                  <c:v>-0.46337149626358914</c:v>
                </c:pt>
                <c:pt idx="8">
                  <c:v>-0.36127640523458049</c:v>
                </c:pt>
                <c:pt idx="9">
                  <c:v>-0.27302456686914844</c:v>
                </c:pt>
                <c:pt idx="10">
                  <c:v>-0.19604618373304936</c:v>
                </c:pt>
                <c:pt idx="11">
                  <c:v>-0.12836301670633013</c:v>
                </c:pt>
                <c:pt idx="12">
                  <c:v>-6.8428587577822733E-2</c:v>
                </c:pt>
                <c:pt idx="13">
                  <c:v>-1.5017298884877853E-2</c:v>
                </c:pt>
                <c:pt idx="14">
                  <c:v>3.285409851811303E-2</c:v>
                </c:pt>
                <c:pt idx="15">
                  <c:v>7.5983155448004699E-2</c:v>
                </c:pt>
                <c:pt idx="16">
                  <c:v>0.11502326737321734</c:v>
                </c:pt>
                <c:pt idx="17">
                  <c:v>0.15051459531086489</c:v>
                </c:pt>
                <c:pt idx="18">
                  <c:v>0.18290739335548664</c:v>
                </c:pt>
                <c:pt idx="19">
                  <c:v>0.21257982557772284</c:v>
                </c:pt>
                <c:pt idx="20">
                  <c:v>0.23985172836191829</c:v>
                </c:pt>
                <c:pt idx="21">
                  <c:v>0.26499535163072513</c:v>
                </c:pt>
                <c:pt idx="22">
                  <c:v>0.28824382269310644</c:v>
                </c:pt>
                <c:pt idx="23">
                  <c:v>0.30979787484253285</c:v>
                </c:pt>
                <c:pt idx="24">
                  <c:v>0.32983124057255403</c:v>
                </c:pt>
                <c:pt idx="25">
                  <c:v>0.34849500759846525</c:v>
                </c:pt>
                <c:pt idx="26">
                  <c:v>0.36592116232869282</c:v>
                </c:pt>
                <c:pt idx="27">
                  <c:v>0.38222549163995151</c:v>
                </c:pt>
                <c:pt idx="28">
                  <c:v>0.39750997405992622</c:v>
                </c:pt>
                <c:pt idx="29">
                  <c:v>0.41186476179991721</c:v>
                </c:pt>
                <c:pt idx="30">
                  <c:v>0.4253698327449365</c:v>
                </c:pt>
                <c:pt idx="31">
                  <c:v>0.43809637454640221</c:v>
                </c:pt>
                <c:pt idx="32">
                  <c:v>0.45010794997660675</c:v>
                </c:pt>
                <c:pt idx="33">
                  <c:v>0.46146148268679271</c:v>
                </c:pt>
                <c:pt idx="34">
                  <c:v>0.47220809472783681</c:v>
                </c:pt>
                <c:pt idx="35">
                  <c:v>0.48239382110472123</c:v>
                </c:pt>
                <c:pt idx="36">
                  <c:v>0.49206022184336246</c:v>
                </c:pt>
                <c:pt idx="37">
                  <c:v>0.50124490825239087</c:v>
                </c:pt>
                <c:pt idx="38">
                  <c:v>0.50998199703842351</c:v>
                </c:pt>
                <c:pt idx="39">
                  <c:v>0.51830250351100915</c:v>
                </c:pt>
                <c:pt idx="40">
                  <c:v>0.52623468316281252</c:v>
                </c:pt>
                <c:pt idx="41">
                  <c:v>0.53380432933202371</c:v>
                </c:pt>
                <c:pt idx="42">
                  <c:v>0.54103503337034642</c:v>
                </c:pt>
                <c:pt idx="43">
                  <c:v>0.54794841269136463</c:v>
                </c:pt>
                <c:pt idx="44">
                  <c:v>0.55456431121381122</c:v>
                </c:pt>
              </c:numCache>
            </c:numRef>
          </c:yVal>
          <c:smooth val="0"/>
          <c:extLst>
            <c:ext xmlns:c16="http://schemas.microsoft.com/office/drawing/2014/chart" uri="{C3380CC4-5D6E-409C-BE32-E72D297353CC}">
              <c16:uniqueId val="{00000003-9083-4D32-A7F6-8CA65CE48FDF}"/>
            </c:ext>
          </c:extLst>
        </c:ser>
        <c:ser>
          <c:idx val="4"/>
          <c:order val="4"/>
          <c:tx>
            <c:strRef>
              <c:f>Sheet1!$B$189</c:f>
              <c:strCache>
                <c:ptCount val="1"/>
                <c:pt idx="0">
                  <c:v>Adwaaiit Pande</c:v>
                </c:pt>
              </c:strCache>
            </c:strRef>
          </c:tx>
          <c:spPr>
            <a:ln w="28575">
              <a:solidFill>
                <a:srgbClr val="D69E00"/>
              </a:solidFill>
            </a:ln>
          </c:spPr>
          <c:marker>
            <c:symbol val="none"/>
          </c:marker>
          <c:xVal>
            <c:numRef>
              <c:f>Sheet1!$A$190:$A$234</c:f>
              <c:numCache>
                <c:formatCode>General</c:formatCode>
                <c:ptCount val="45"/>
                <c:pt idx="0">
                  <c:v>0.35</c:v>
                </c:pt>
                <c:pt idx="1">
                  <c:v>0.39886363636363631</c:v>
                </c:pt>
                <c:pt idx="2">
                  <c:v>0.4477272727272727</c:v>
                </c:pt>
                <c:pt idx="3">
                  <c:v>0.49659090909090908</c:v>
                </c:pt>
                <c:pt idx="4">
                  <c:v>0.54545454545454541</c:v>
                </c:pt>
                <c:pt idx="5">
                  <c:v>0.59431818181818175</c:v>
                </c:pt>
                <c:pt idx="6">
                  <c:v>0.64318181818181808</c:v>
                </c:pt>
                <c:pt idx="7">
                  <c:v>0.69204545454545452</c:v>
                </c:pt>
                <c:pt idx="8">
                  <c:v>0.74090909090909085</c:v>
                </c:pt>
                <c:pt idx="9">
                  <c:v>0.78977272727272718</c:v>
                </c:pt>
                <c:pt idx="10">
                  <c:v>0.83863636363636362</c:v>
                </c:pt>
                <c:pt idx="11">
                  <c:v>0.88749999999999996</c:v>
                </c:pt>
                <c:pt idx="12">
                  <c:v>0.93636363636363629</c:v>
                </c:pt>
                <c:pt idx="13">
                  <c:v>0.98522727272727262</c:v>
                </c:pt>
                <c:pt idx="14">
                  <c:v>1.0340909090909092</c:v>
                </c:pt>
                <c:pt idx="15">
                  <c:v>1.0829545454545455</c:v>
                </c:pt>
                <c:pt idx="16">
                  <c:v>1.1318181818181818</c:v>
                </c:pt>
                <c:pt idx="17">
                  <c:v>1.1806818181818182</c:v>
                </c:pt>
                <c:pt idx="18">
                  <c:v>1.2295454545454545</c:v>
                </c:pt>
                <c:pt idx="19">
                  <c:v>1.2784090909090908</c:v>
                </c:pt>
                <c:pt idx="20">
                  <c:v>1.3272727272727272</c:v>
                </c:pt>
                <c:pt idx="21">
                  <c:v>1.3761363636363635</c:v>
                </c:pt>
                <c:pt idx="22">
                  <c:v>1.4249999999999998</c:v>
                </c:pt>
                <c:pt idx="23">
                  <c:v>1.4738636363636362</c:v>
                </c:pt>
                <c:pt idx="24">
                  <c:v>1.5227272727272725</c:v>
                </c:pt>
                <c:pt idx="25">
                  <c:v>1.5715909090909088</c:v>
                </c:pt>
                <c:pt idx="26">
                  <c:v>1.6204545454545451</c:v>
                </c:pt>
                <c:pt idx="27">
                  <c:v>1.6693181818181815</c:v>
                </c:pt>
                <c:pt idx="28">
                  <c:v>1.7181818181818183</c:v>
                </c:pt>
                <c:pt idx="29">
                  <c:v>1.7670454545454546</c:v>
                </c:pt>
                <c:pt idx="30">
                  <c:v>1.8159090909090909</c:v>
                </c:pt>
                <c:pt idx="31">
                  <c:v>1.8647727272727272</c:v>
                </c:pt>
                <c:pt idx="32">
                  <c:v>1.9136363636363636</c:v>
                </c:pt>
                <c:pt idx="33">
                  <c:v>1.9624999999999999</c:v>
                </c:pt>
                <c:pt idx="34">
                  <c:v>2.0113636363636362</c:v>
                </c:pt>
                <c:pt idx="35">
                  <c:v>2.0602272727272726</c:v>
                </c:pt>
                <c:pt idx="36">
                  <c:v>2.1090909090909089</c:v>
                </c:pt>
                <c:pt idx="37">
                  <c:v>2.1579545454545452</c:v>
                </c:pt>
                <c:pt idx="38">
                  <c:v>2.2068181818181816</c:v>
                </c:pt>
                <c:pt idx="39">
                  <c:v>2.2556818181818179</c:v>
                </c:pt>
                <c:pt idx="40">
                  <c:v>2.3045454545454542</c:v>
                </c:pt>
                <c:pt idx="41">
                  <c:v>2.353409090909091</c:v>
                </c:pt>
                <c:pt idx="42">
                  <c:v>2.4022727272727273</c:v>
                </c:pt>
                <c:pt idx="43">
                  <c:v>2.4511363636363637</c:v>
                </c:pt>
                <c:pt idx="44">
                  <c:v>2.5</c:v>
                </c:pt>
              </c:numCache>
            </c:numRef>
          </c:xVal>
          <c:yVal>
            <c:numRef>
              <c:f>Sheet1!$B$190:$B$234</c:f>
              <c:numCache>
                <c:formatCode>General</c:formatCode>
                <c:ptCount val="45"/>
                <c:pt idx="0">
                  <c:v>-2.0866825990801283</c:v>
                </c:pt>
                <c:pt idx="1">
                  <c:v>-1.6657891200608532</c:v>
                </c:pt>
                <c:pt idx="2">
                  <c:v>-1.3442752254763419</c:v>
                </c:pt>
                <c:pt idx="3">
                  <c:v>-1.0912829839262239</c:v>
                </c:pt>
                <c:pt idx="4">
                  <c:v>-0.88742354800218426</c:v>
                </c:pt>
                <c:pt idx="5">
                  <c:v>-0.71992734601881259</c:v>
                </c:pt>
                <c:pt idx="6">
                  <c:v>-0.58005585035309748</c:v>
                </c:pt>
                <c:pt idx="7">
                  <c:v>-0.46163578777668973</c:v>
                </c:pt>
                <c:pt idx="8">
                  <c:v>-0.36018741695359291</c:v>
                </c:pt>
                <c:pt idx="9">
                  <c:v>-0.27238439929293701</c:v>
                </c:pt>
                <c:pt idx="10">
                  <c:v>-0.19570723550644545</c:v>
                </c:pt>
                <c:pt idx="11">
                  <c:v>-0.12821410333575109</c:v>
                </c:pt>
                <c:pt idx="12">
                  <c:v>-6.8385297788370006E-2</c:v>
                </c:pt>
                <c:pt idx="13">
                  <c:v>-1.5015169470779448E-2</c:v>
                </c:pt>
                <c:pt idx="14">
                  <c:v>3.2864493119043957E-2</c:v>
                </c:pt>
                <c:pt idx="15">
                  <c:v>7.603978806847185E-2</c:v>
                </c:pt>
                <c:pt idx="16">
                  <c:v>0.11515530978908277</c:v>
                </c:pt>
                <c:pt idx="17">
                  <c:v>0.15074440279054563</c:v>
                </c:pt>
                <c:pt idx="18">
                  <c:v>0.1832520057189253</c:v>
                </c:pt>
                <c:pt idx="19">
                  <c:v>0.21305211345035049</c:v>
                </c:pt>
                <c:pt idx="20">
                  <c:v>0.24046127608071202</c:v>
                </c:pt>
                <c:pt idx="21">
                  <c:v>0.26574914264295835</c:v>
                </c:pt>
                <c:pt idx="22">
                  <c:v>0.28914677541000561</c:v>
                </c:pt>
                <c:pt idx="23">
                  <c:v>0.31085326426832438</c:v>
                </c:pt>
                <c:pt idx="24">
                  <c:v>0.33104103198210644</c:v>
                </c:pt>
                <c:pt idx="25">
                  <c:v>0.34986012198927108</c:v>
                </c:pt>
                <c:pt idx="26">
                  <c:v>0.36744168858527854</c:v>
                </c:pt>
                <c:pt idx="27">
                  <c:v>0.38390085681408476</c:v>
                </c:pt>
                <c:pt idx="28">
                  <c:v>0.39933908053679196</c:v>
                </c:pt>
                <c:pt idx="29">
                  <c:v>0.41384609814230483</c:v>
                </c:pt>
                <c:pt idx="30">
                  <c:v>0.4275015635097546</c:v>
                </c:pt>
                <c:pt idx="31">
                  <c:v>0.44037641322547438</c:v>
                </c:pt>
                <c:pt idx="32">
                  <c:v>0.45253401833634987</c:v>
                </c:pt>
                <c:pt idx="33">
                  <c:v>0.46403115910317144</c:v>
                </c:pt>
                <c:pt idx="34">
                  <c:v>0.47491885358550706</c:v>
                </c:pt>
                <c:pt idx="35">
                  <c:v>0.4852430649166618</c:v>
                </c:pt>
                <c:pt idx="36">
                  <c:v>0.49504530742276925</c:v>
                </c:pt>
                <c:pt idx="37">
                  <c:v>0.50436316801205483</c:v>
                </c:pt>
                <c:pt idx="38">
                  <c:v>0.51323075628902004</c:v>
                </c:pt>
                <c:pt idx="39">
                  <c:v>0.52167909446708405</c:v>
                </c:pt>
                <c:pt idx="40">
                  <c:v>0.5297364562349034</c:v>
                </c:pt>
                <c:pt idx="41">
                  <c:v>0.53742866217844754</c:v>
                </c:pt>
                <c:pt idx="42">
                  <c:v>0.54477933809743395</c:v>
                </c:pt>
                <c:pt idx="43">
                  <c:v>0.55181014152219832</c:v>
                </c:pt>
                <c:pt idx="44">
                  <c:v>0.55854096088960437</c:v>
                </c:pt>
              </c:numCache>
            </c:numRef>
          </c:yVal>
          <c:smooth val="0"/>
          <c:extLst>
            <c:ext xmlns:c16="http://schemas.microsoft.com/office/drawing/2014/chart" uri="{C3380CC4-5D6E-409C-BE32-E72D297353CC}">
              <c16:uniqueId val="{00000004-9083-4D32-A7F6-8CA65CE48FDF}"/>
            </c:ext>
          </c:extLst>
        </c:ser>
        <c:dLbls>
          <c:showLegendKey val="0"/>
          <c:showVal val="0"/>
          <c:showCatName val="0"/>
          <c:showSerName val="0"/>
          <c:showPercent val="0"/>
          <c:showBubbleSize val="0"/>
        </c:dLbls>
        <c:axId val="-2128940872"/>
        <c:axId val="-2129643912"/>
      </c:scatterChart>
      <c:valAx>
        <c:axId val="-2128940872"/>
        <c:scaling>
          <c:orientation val="minMax"/>
          <c:max val="2.5"/>
          <c:min val="0.25"/>
        </c:scaling>
        <c:delete val="0"/>
        <c:axPos val="b"/>
        <c:title>
          <c:tx>
            <c:rich>
              <a:bodyPr/>
              <a:lstStyle/>
              <a:p>
                <a:r>
                  <a:rPr lang="en-US" sz="1050" b="0">
                    <a:solidFill>
                      <a:srgbClr val="5F6266"/>
                    </a:solidFill>
                  </a:rPr>
                  <a:t>Wealth relative to today (W/W₀)</a:t>
                </a:r>
              </a:p>
            </c:rich>
          </c:tx>
          <c:overlay val="0"/>
        </c:title>
        <c:numFmt formatCode="0.0#" sourceLinked="0"/>
        <c:majorTickMark val="out"/>
        <c:minorTickMark val="none"/>
        <c:tickLblPos val="low"/>
        <c:spPr>
          <a:ln>
            <a:solidFill>
              <a:srgbClr val="B9B6B8"/>
            </a:solidFill>
          </a:ln>
        </c:spPr>
        <c:txPr>
          <a:bodyPr/>
          <a:lstStyle/>
          <a:p>
            <a:pPr>
              <a:defRPr sz="1000">
                <a:solidFill>
                  <a:srgbClr val="5F6266"/>
                </a:solidFill>
              </a:defRPr>
            </a:pPr>
            <a:endParaRPr lang="en-US"/>
          </a:p>
        </c:txPr>
        <c:crossAx val="-2129643912"/>
        <c:crosses val="autoZero"/>
        <c:crossBetween val="midCat"/>
        <c:majorUnit val="0.25"/>
      </c:valAx>
      <c:valAx>
        <c:axId val="-2129643912"/>
        <c:scaling>
          <c:orientation val="minMax"/>
          <c:max val="2.2000000000000002"/>
          <c:min val="-2.2000000000000002"/>
        </c:scaling>
        <c:delete val="0"/>
        <c:axPos val="l"/>
        <c:majorGridlines>
          <c:spPr>
            <a:ln w="9525">
              <a:solidFill>
                <a:srgbClr val="E7E4E6"/>
              </a:solidFill>
            </a:ln>
          </c:spPr>
        </c:majorGridlines>
        <c:title>
          <c:tx>
            <c:rich>
              <a:bodyPr/>
              <a:lstStyle/>
              <a:p>
                <a:r>
                  <a:rPr lang="en-IN" sz="1050" b="0">
                    <a:solidFill>
                      <a:srgbClr val="5F6266"/>
                    </a:solidFill>
                  </a:rPr>
                  <a:t>u(W)</a:t>
                </a:r>
              </a:p>
            </c:rich>
          </c:tx>
          <c:overlay val="0"/>
        </c:title>
        <c:numFmt formatCode="0" sourceLinked="0"/>
        <c:majorTickMark val="out"/>
        <c:minorTickMark val="none"/>
        <c:tickLblPos val="low"/>
        <c:spPr>
          <a:ln>
            <a:solidFill>
              <a:srgbClr val="B9B6B8"/>
            </a:solidFill>
          </a:ln>
        </c:spPr>
        <c:txPr>
          <a:bodyPr/>
          <a:lstStyle/>
          <a:p>
            <a:pPr>
              <a:defRPr sz="1000">
                <a:solidFill>
                  <a:srgbClr val="5F6266"/>
                </a:solidFill>
              </a:defRPr>
            </a:pPr>
            <a:endParaRPr lang="en-US"/>
          </a:p>
        </c:txPr>
        <c:crossAx val="-2128940872"/>
        <c:crosses val="autoZero"/>
        <c:crossBetween val="midCat"/>
        <c:majorUnit val="1"/>
      </c:valAx>
    </c:plotArea>
    <c:plotVisOnly val="1"/>
    <c:dispBlanksAs val="gap"/>
    <c:showDLblsOverMax val="0"/>
  </c:chart>
  <c:txPr>
    <a:bodyPr/>
    <a:lstStyle/>
    <a:p>
      <a:pPr>
        <a:defRPr sz="1000">
          <a:solidFill>
            <a:srgbClr val="36393B"/>
          </a:solidFill>
          <a:latin typeface="+mn-l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300" b="1">
                <a:solidFill>
                  <a:srgbClr val="36393B"/>
                </a:solidFill>
              </a:rPr>
              <a:t>Value function (prospect theory)</a:t>
            </a:r>
          </a:p>
          <a:p>
            <a:r>
              <a:rPr lang="en-US" sz="1050" b="0" i="1">
                <a:solidFill>
                  <a:srgbClr val="5F6266"/>
                </a:solidFill>
              </a:rPr>
              <a:t>v = x^e (gains), −λ|x|^e (losses)</a:t>
            </a:r>
          </a:p>
        </c:rich>
      </c:tx>
      <c:overlay val="0"/>
    </c:title>
    <c:autoTitleDeleted val="0"/>
    <c:plotArea>
      <c:layout/>
      <c:scatterChart>
        <c:scatterStyle val="lineMarker"/>
        <c:varyColors val="0"/>
        <c:ser>
          <c:idx val="0"/>
          <c:order val="0"/>
          <c:tx>
            <c:strRef>
              <c:f>Sheet1!$B$1</c:f>
              <c:strCache>
                <c:ptCount val="1"/>
                <c:pt idx="0">
                  <c:v>Shree Charan</c:v>
                </c:pt>
              </c:strCache>
            </c:strRef>
          </c:tx>
          <c:spPr>
            <a:ln w="28575">
              <a:solidFill>
                <a:srgbClr val="4D62EF"/>
              </a:solidFill>
            </a:ln>
          </c:spPr>
          <c:marker>
            <c:symbol val="none"/>
          </c:marker>
          <c:xVal>
            <c:numRef>
              <c:f>Sheet1!$A$2:$A$54</c:f>
              <c:numCache>
                <c:formatCode>General</c:formatCode>
                <c:ptCount val="53"/>
                <c:pt idx="0">
                  <c:v>-1</c:v>
                </c:pt>
                <c:pt idx="1">
                  <c:v>-0.75857757502918377</c:v>
                </c:pt>
                <c:pt idx="2">
                  <c:v>-0.57543993733715693</c:v>
                </c:pt>
                <c:pt idx="3">
                  <c:v>-0.43651583224016599</c:v>
                </c:pt>
                <c:pt idx="4">
                  <c:v>-0.33113112148259111</c:v>
                </c:pt>
                <c:pt idx="5">
                  <c:v>-0.25118864315095801</c:v>
                </c:pt>
                <c:pt idx="6">
                  <c:v>-0.19054607179632474</c:v>
                </c:pt>
                <c:pt idx="7">
                  <c:v>-0.14454397707459277</c:v>
                </c:pt>
                <c:pt idx="8">
                  <c:v>-0.10964781961431851</c:v>
                </c:pt>
                <c:pt idx="9">
                  <c:v>-8.3176377110267083E-2</c:v>
                </c:pt>
                <c:pt idx="10">
                  <c:v>-6.3095734448019331E-2</c:v>
                </c:pt>
                <c:pt idx="11">
                  <c:v>-4.7863009232263852E-2</c:v>
                </c:pt>
                <c:pt idx="12">
                  <c:v>-3.6307805477010138E-2</c:v>
                </c:pt>
                <c:pt idx="13">
                  <c:v>-2.7542287033381661E-2</c:v>
                </c:pt>
                <c:pt idx="14">
                  <c:v>-2.0892961308540396E-2</c:v>
                </c:pt>
                <c:pt idx="15">
                  <c:v>-1.5848931924611141E-2</c:v>
                </c:pt>
                <c:pt idx="16">
                  <c:v>-1.2022644346174132E-2</c:v>
                </c:pt>
                <c:pt idx="17">
                  <c:v>-9.1201083935590968E-3</c:v>
                </c:pt>
                <c:pt idx="18">
                  <c:v>-6.9183097091893627E-3</c:v>
                </c:pt>
                <c:pt idx="19">
                  <c:v>-5.2480746024977281E-3</c:v>
                </c:pt>
                <c:pt idx="20">
                  <c:v>-3.9810717055349734E-3</c:v>
                </c:pt>
                <c:pt idx="21">
                  <c:v>-3.0199517204020161E-3</c:v>
                </c:pt>
                <c:pt idx="22">
                  <c:v>-2.2908676527677745E-3</c:v>
                </c:pt>
                <c:pt idx="23">
                  <c:v>-1.7378008287493763E-3</c:v>
                </c:pt>
                <c:pt idx="24">
                  <c:v>-1.3182567385564075E-3</c:v>
                </c:pt>
                <c:pt idx="25">
                  <c:v>-1E-3</c:v>
                </c:pt>
                <c:pt idx="26">
                  <c:v>0</c:v>
                </c:pt>
                <c:pt idx="27">
                  <c:v>1E-3</c:v>
                </c:pt>
                <c:pt idx="28">
                  <c:v>1.3182567385564075E-3</c:v>
                </c:pt>
                <c:pt idx="29">
                  <c:v>1.7378008287493763E-3</c:v>
                </c:pt>
                <c:pt idx="30">
                  <c:v>2.2908676527677724E-3</c:v>
                </c:pt>
                <c:pt idx="31">
                  <c:v>3.0199517204020161E-3</c:v>
                </c:pt>
                <c:pt idx="32">
                  <c:v>3.9810717055349734E-3</c:v>
                </c:pt>
                <c:pt idx="33">
                  <c:v>5.2480746024977229E-3</c:v>
                </c:pt>
                <c:pt idx="34">
                  <c:v>6.9183097091893627E-3</c:v>
                </c:pt>
                <c:pt idx="35">
                  <c:v>9.1201083935590968E-3</c:v>
                </c:pt>
                <c:pt idx="36">
                  <c:v>1.2022644346174132E-2</c:v>
                </c:pt>
                <c:pt idx="37">
                  <c:v>1.5848931924611134E-2</c:v>
                </c:pt>
                <c:pt idx="38">
                  <c:v>2.0892961308540386E-2</c:v>
                </c:pt>
                <c:pt idx="39">
                  <c:v>2.7542287033381661E-2</c:v>
                </c:pt>
                <c:pt idx="40">
                  <c:v>3.6307805477010138E-2</c:v>
                </c:pt>
                <c:pt idx="41">
                  <c:v>4.7863009232263824E-2</c:v>
                </c:pt>
                <c:pt idx="42">
                  <c:v>6.3095734448019303E-2</c:v>
                </c:pt>
                <c:pt idx="43">
                  <c:v>8.3176377110267083E-2</c:v>
                </c:pt>
                <c:pt idx="44">
                  <c:v>0.10964781961431851</c:v>
                </c:pt>
                <c:pt idx="45">
                  <c:v>0.14454397707459279</c:v>
                </c:pt>
                <c:pt idx="46">
                  <c:v>0.19054607179632463</c:v>
                </c:pt>
                <c:pt idx="47">
                  <c:v>0.25118864315095796</c:v>
                </c:pt>
                <c:pt idx="48">
                  <c:v>0.33113112148259111</c:v>
                </c:pt>
                <c:pt idx="49">
                  <c:v>0.43651583224016566</c:v>
                </c:pt>
                <c:pt idx="50">
                  <c:v>0.57543993733715659</c:v>
                </c:pt>
                <c:pt idx="51">
                  <c:v>0.75857757502918355</c:v>
                </c:pt>
                <c:pt idx="52">
                  <c:v>1</c:v>
                </c:pt>
              </c:numCache>
            </c:numRef>
          </c:xVal>
          <c:yVal>
            <c:numRef>
              <c:f>Sheet1!$B$2:$B$54</c:f>
              <c:numCache>
                <c:formatCode>General</c:formatCode>
                <c:ptCount val="53"/>
                <c:pt idx="0">
                  <c:v>-1</c:v>
                </c:pt>
                <c:pt idx="1">
                  <c:v>-0.98627948563121048</c:v>
                </c:pt>
                <c:pt idx="2">
                  <c:v>-0.9727472237769651</c:v>
                </c:pt>
                <c:pt idx="3">
                  <c:v>-0.95940063151593313</c:v>
                </c:pt>
                <c:pt idx="4">
                  <c:v>-0.94623716136579306</c:v>
                </c:pt>
                <c:pt idx="5">
                  <c:v>-0.93325430079699101</c:v>
                </c:pt>
                <c:pt idx="6">
                  <c:v>-0.92044957175317133</c:v>
                </c:pt>
                <c:pt idx="7">
                  <c:v>-0.90782053017818576</c:v>
                </c:pt>
                <c:pt idx="8">
                  <c:v>-0.89536476554959377</c:v>
                </c:pt>
                <c:pt idx="9">
                  <c:v>-0.88307990041856277</c:v>
                </c:pt>
                <c:pt idx="10">
                  <c:v>-0.87096358995608059</c:v>
                </c:pt>
                <c:pt idx="11">
                  <c:v>-0.85901352150539578</c:v>
                </c:pt>
                <c:pt idx="12">
                  <c:v>-0.84722741414059644</c:v>
                </c:pt>
                <c:pt idx="13">
                  <c:v>-0.83560301823124794</c:v>
                </c:pt>
                <c:pt idx="14">
                  <c:v>-0.82413811501300227</c:v>
                </c:pt>
                <c:pt idx="15">
                  <c:v>-0.81283051616409929</c:v>
                </c:pt>
                <c:pt idx="16">
                  <c:v>-0.80167806338767911</c:v>
                </c:pt>
                <c:pt idx="17">
                  <c:v>-0.79067862799982513</c:v>
                </c:pt>
                <c:pt idx="18">
                  <c:v>-0.77983011052325868</c:v>
                </c:pt>
                <c:pt idx="19">
                  <c:v>-0.7691304402866096</c:v>
                </c:pt>
                <c:pt idx="20">
                  <c:v>-0.75857757502918377</c:v>
                </c:pt>
                <c:pt idx="21">
                  <c:v>-0.74816950051115427</c:v>
                </c:pt>
                <c:pt idx="22">
                  <c:v>-0.737904230129101</c:v>
                </c:pt>
                <c:pt idx="23">
                  <c:v>-0.727779804536824</c:v>
                </c:pt>
                <c:pt idx="24">
                  <c:v>-0.71779429127136174</c:v>
                </c:pt>
                <c:pt idx="25">
                  <c:v>-0.70794578438413791</c:v>
                </c:pt>
                <c:pt idx="26">
                  <c:v>0</c:v>
                </c:pt>
                <c:pt idx="27">
                  <c:v>0.70794578438413791</c:v>
                </c:pt>
                <c:pt idx="28">
                  <c:v>0.71779429127136174</c:v>
                </c:pt>
                <c:pt idx="29">
                  <c:v>0.727779804536824</c:v>
                </c:pt>
                <c:pt idx="30">
                  <c:v>0.73790423012910089</c:v>
                </c:pt>
                <c:pt idx="31">
                  <c:v>0.74816950051115427</c:v>
                </c:pt>
                <c:pt idx="32">
                  <c:v>0.75857757502918377</c:v>
                </c:pt>
                <c:pt idx="33">
                  <c:v>0.7691304402866096</c:v>
                </c:pt>
                <c:pt idx="34">
                  <c:v>0.77983011052325868</c:v>
                </c:pt>
                <c:pt idx="35">
                  <c:v>0.79067862799982513</c:v>
                </c:pt>
                <c:pt idx="36">
                  <c:v>0.80167806338767911</c:v>
                </c:pt>
                <c:pt idx="37">
                  <c:v>0.81283051616409918</c:v>
                </c:pt>
                <c:pt idx="38">
                  <c:v>0.82413811501300227</c:v>
                </c:pt>
                <c:pt idx="39">
                  <c:v>0.83560301823124794</c:v>
                </c:pt>
                <c:pt idx="40">
                  <c:v>0.84722741414059644</c:v>
                </c:pt>
                <c:pt idx="41">
                  <c:v>0.85901352150539567</c:v>
                </c:pt>
                <c:pt idx="42">
                  <c:v>0.87096358995608059</c:v>
                </c:pt>
                <c:pt idx="43">
                  <c:v>0.88307990041856277</c:v>
                </c:pt>
                <c:pt idx="44">
                  <c:v>0.89536476554959377</c:v>
                </c:pt>
                <c:pt idx="45">
                  <c:v>0.90782053017818576</c:v>
                </c:pt>
                <c:pt idx="46">
                  <c:v>0.92044957175317133</c:v>
                </c:pt>
                <c:pt idx="47">
                  <c:v>0.93325430079699101</c:v>
                </c:pt>
                <c:pt idx="48">
                  <c:v>0.94623716136579306</c:v>
                </c:pt>
                <c:pt idx="49">
                  <c:v>0.95940063151593313</c:v>
                </c:pt>
                <c:pt idx="50">
                  <c:v>0.9727472237769651</c:v>
                </c:pt>
                <c:pt idx="51">
                  <c:v>0.98627948563121048</c:v>
                </c:pt>
                <c:pt idx="52">
                  <c:v>1</c:v>
                </c:pt>
              </c:numCache>
            </c:numRef>
          </c:yVal>
          <c:smooth val="0"/>
          <c:extLst>
            <c:ext xmlns:c16="http://schemas.microsoft.com/office/drawing/2014/chart" uri="{C3380CC4-5D6E-409C-BE32-E72D297353CC}">
              <c16:uniqueId val="{00000000-30C8-4731-AD39-A23F428FF191}"/>
            </c:ext>
          </c:extLst>
        </c:ser>
        <c:ser>
          <c:idx val="1"/>
          <c:order val="1"/>
          <c:tx>
            <c:strRef>
              <c:f>Sheet1!$B$56</c:f>
              <c:strCache>
                <c:ptCount val="1"/>
                <c:pt idx="0">
                  <c:v>Kshitij</c:v>
                </c:pt>
              </c:strCache>
            </c:strRef>
          </c:tx>
          <c:spPr>
            <a:ln w="28575">
              <a:solidFill>
                <a:srgbClr val="FD4C00"/>
              </a:solidFill>
            </a:ln>
          </c:spPr>
          <c:marker>
            <c:symbol val="none"/>
          </c:marker>
          <c:xVal>
            <c:numRef>
              <c:f>Sheet1!$A$57:$A$109</c:f>
              <c:numCache>
                <c:formatCode>General</c:formatCode>
                <c:ptCount val="53"/>
                <c:pt idx="0">
                  <c:v>-1</c:v>
                </c:pt>
                <c:pt idx="1">
                  <c:v>-0.75857757502918377</c:v>
                </c:pt>
                <c:pt idx="2">
                  <c:v>-0.57543993733715693</c:v>
                </c:pt>
                <c:pt idx="3">
                  <c:v>-0.43651583224016599</c:v>
                </c:pt>
                <c:pt idx="4">
                  <c:v>-0.33113112148259111</c:v>
                </c:pt>
                <c:pt idx="5">
                  <c:v>-0.25118864315095801</c:v>
                </c:pt>
                <c:pt idx="6">
                  <c:v>-0.19054607179632474</c:v>
                </c:pt>
                <c:pt idx="7">
                  <c:v>-0.14454397707459277</c:v>
                </c:pt>
                <c:pt idx="8">
                  <c:v>-0.10964781961431851</c:v>
                </c:pt>
                <c:pt idx="9">
                  <c:v>-8.3176377110267083E-2</c:v>
                </c:pt>
                <c:pt idx="10">
                  <c:v>-6.3095734448019331E-2</c:v>
                </c:pt>
                <c:pt idx="11">
                  <c:v>-4.7863009232263852E-2</c:v>
                </c:pt>
                <c:pt idx="12">
                  <c:v>-3.6307805477010138E-2</c:v>
                </c:pt>
                <c:pt idx="13">
                  <c:v>-2.7542287033381661E-2</c:v>
                </c:pt>
                <c:pt idx="14">
                  <c:v>-2.0892961308540396E-2</c:v>
                </c:pt>
                <c:pt idx="15">
                  <c:v>-1.5848931924611141E-2</c:v>
                </c:pt>
                <c:pt idx="16">
                  <c:v>-1.2022644346174132E-2</c:v>
                </c:pt>
                <c:pt idx="17">
                  <c:v>-9.1201083935590968E-3</c:v>
                </c:pt>
                <c:pt idx="18">
                  <c:v>-6.9183097091893627E-3</c:v>
                </c:pt>
                <c:pt idx="19">
                  <c:v>-5.2480746024977281E-3</c:v>
                </c:pt>
                <c:pt idx="20">
                  <c:v>-3.9810717055349734E-3</c:v>
                </c:pt>
                <c:pt idx="21">
                  <c:v>-3.0199517204020161E-3</c:v>
                </c:pt>
                <c:pt idx="22">
                  <c:v>-2.2908676527677745E-3</c:v>
                </c:pt>
                <c:pt idx="23">
                  <c:v>-1.7378008287493763E-3</c:v>
                </c:pt>
                <c:pt idx="24">
                  <c:v>-1.3182567385564075E-3</c:v>
                </c:pt>
                <c:pt idx="25">
                  <c:v>-1E-3</c:v>
                </c:pt>
                <c:pt idx="26">
                  <c:v>0</c:v>
                </c:pt>
                <c:pt idx="27">
                  <c:v>1E-3</c:v>
                </c:pt>
                <c:pt idx="28">
                  <c:v>1.3182567385564075E-3</c:v>
                </c:pt>
                <c:pt idx="29">
                  <c:v>1.7378008287493763E-3</c:v>
                </c:pt>
                <c:pt idx="30">
                  <c:v>2.2908676527677724E-3</c:v>
                </c:pt>
                <c:pt idx="31">
                  <c:v>3.0199517204020161E-3</c:v>
                </c:pt>
                <c:pt idx="32">
                  <c:v>3.9810717055349734E-3</c:v>
                </c:pt>
                <c:pt idx="33">
                  <c:v>5.2480746024977229E-3</c:v>
                </c:pt>
                <c:pt idx="34">
                  <c:v>6.9183097091893627E-3</c:v>
                </c:pt>
                <c:pt idx="35">
                  <c:v>9.1201083935590968E-3</c:v>
                </c:pt>
                <c:pt idx="36">
                  <c:v>1.2022644346174132E-2</c:v>
                </c:pt>
                <c:pt idx="37">
                  <c:v>1.5848931924611134E-2</c:v>
                </c:pt>
                <c:pt idx="38">
                  <c:v>2.0892961308540386E-2</c:v>
                </c:pt>
                <c:pt idx="39">
                  <c:v>2.7542287033381661E-2</c:v>
                </c:pt>
                <c:pt idx="40">
                  <c:v>3.6307805477010138E-2</c:v>
                </c:pt>
                <c:pt idx="41">
                  <c:v>4.7863009232263824E-2</c:v>
                </c:pt>
                <c:pt idx="42">
                  <c:v>6.3095734448019303E-2</c:v>
                </c:pt>
                <c:pt idx="43">
                  <c:v>8.3176377110267083E-2</c:v>
                </c:pt>
                <c:pt idx="44">
                  <c:v>0.10964781961431851</c:v>
                </c:pt>
                <c:pt idx="45">
                  <c:v>0.14454397707459279</c:v>
                </c:pt>
                <c:pt idx="46">
                  <c:v>0.19054607179632463</c:v>
                </c:pt>
                <c:pt idx="47">
                  <c:v>0.25118864315095796</c:v>
                </c:pt>
                <c:pt idx="48">
                  <c:v>0.33113112148259111</c:v>
                </c:pt>
                <c:pt idx="49">
                  <c:v>0.43651583224016566</c:v>
                </c:pt>
                <c:pt idx="50">
                  <c:v>0.57543993733715659</c:v>
                </c:pt>
                <c:pt idx="51">
                  <c:v>0.75857757502918355</c:v>
                </c:pt>
                <c:pt idx="52">
                  <c:v>1</c:v>
                </c:pt>
              </c:numCache>
            </c:numRef>
          </c:xVal>
          <c:yVal>
            <c:numRef>
              <c:f>Sheet1!$B$57:$B$109</c:f>
              <c:numCache>
                <c:formatCode>General</c:formatCode>
                <c:ptCount val="53"/>
                <c:pt idx="0">
                  <c:v>-1.6</c:v>
                </c:pt>
                <c:pt idx="1">
                  <c:v>-1.0571095168121536</c:v>
                </c:pt>
                <c:pt idx="2">
                  <c:v>-0.69842533158426556</c:v>
                </c:pt>
                <c:pt idx="3">
                  <c:v>-0.46144504050025703</c:v>
                </c:pt>
                <c:pt idx="4">
                  <c:v>-0.30487371487411963</c:v>
                </c:pt>
                <c:pt idx="5">
                  <c:v>-0.20142806588706677</c:v>
                </c:pt>
                <c:pt idx="6">
                  <c:v>-0.13308220337642737</c:v>
                </c:pt>
                <c:pt idx="7">
                  <c:v>-8.7926539817219942E-2</c:v>
                </c:pt>
                <c:pt idx="8">
                  <c:v>-5.8092488763216224E-2</c:v>
                </c:pt>
                <c:pt idx="9">
                  <c:v>-3.8381326704311838E-2</c:v>
                </c:pt>
                <c:pt idx="10">
                  <c:v>-2.5358291079377822E-2</c:v>
                </c:pt>
                <c:pt idx="11">
                  <c:v>-1.6754056768814401E-2</c:v>
                </c:pt>
                <c:pt idx="12">
                  <c:v>-1.1069295534702987E-2</c:v>
                </c:pt>
                <c:pt idx="13">
                  <c:v>-7.3134110338379998E-3</c:v>
                </c:pt>
                <c:pt idx="14">
                  <c:v>-4.831922752643227E-3</c:v>
                </c:pt>
                <c:pt idx="15">
                  <c:v>-3.192419703950209E-3</c:v>
                </c:pt>
                <c:pt idx="16">
                  <c:v>-2.1092107816902523E-3</c:v>
                </c:pt>
                <c:pt idx="17">
                  <c:v>-1.3935417439297289E-3</c:v>
                </c:pt>
                <c:pt idx="18">
                  <c:v>-9.2070389973945062E-4</c:v>
                </c:pt>
                <c:pt idx="19">
                  <c:v>-6.083030341128983E-4</c:v>
                </c:pt>
                <c:pt idx="20">
                  <c:v>-4.0190182904153299E-4</c:v>
                </c:pt>
                <c:pt idx="21">
                  <c:v>-2.6553390519000973E-4</c:v>
                </c:pt>
                <c:pt idx="22">
                  <c:v>-1.7543651138290979E-4</c:v>
                </c:pt>
                <c:pt idx="23">
                  <c:v>-1.1590975361199851E-4</c:v>
                </c:pt>
                <c:pt idx="24">
                  <c:v>-7.6580814771622175E-5</c:v>
                </c:pt>
                <c:pt idx="25">
                  <c:v>-5.0596442562694074E-5</c:v>
                </c:pt>
                <c:pt idx="26">
                  <c:v>0</c:v>
                </c:pt>
                <c:pt idx="27">
                  <c:v>3.1622776601683795E-5</c:v>
                </c:pt>
                <c:pt idx="28">
                  <c:v>4.7863009232263858E-5</c:v>
                </c:pt>
                <c:pt idx="29">
                  <c:v>7.2443596007499062E-5</c:v>
                </c:pt>
                <c:pt idx="30">
                  <c:v>1.0964781961431845E-4</c:v>
                </c:pt>
                <c:pt idx="31">
                  <c:v>1.6595869074375607E-4</c:v>
                </c:pt>
                <c:pt idx="32">
                  <c:v>2.5118864315095812E-4</c:v>
                </c:pt>
                <c:pt idx="33">
                  <c:v>3.8018939632056086E-4</c:v>
                </c:pt>
                <c:pt idx="34">
                  <c:v>5.7543993733715664E-4</c:v>
                </c:pt>
                <c:pt idx="35">
                  <c:v>8.709635899560805E-4</c:v>
                </c:pt>
                <c:pt idx="36">
                  <c:v>1.3182567385564075E-3</c:v>
                </c:pt>
                <c:pt idx="37">
                  <c:v>1.9952623149688794E-3</c:v>
                </c:pt>
                <c:pt idx="38">
                  <c:v>3.0199517204020144E-3</c:v>
                </c:pt>
                <c:pt idx="39">
                  <c:v>4.5708818961487496E-3</c:v>
                </c:pt>
                <c:pt idx="40">
                  <c:v>6.9183097091893662E-3</c:v>
                </c:pt>
                <c:pt idx="41">
                  <c:v>1.0471285480508992E-2</c:v>
                </c:pt>
                <c:pt idx="42">
                  <c:v>1.5848931924611127E-2</c:v>
                </c:pt>
                <c:pt idx="43">
                  <c:v>2.3988329190194897E-2</c:v>
                </c:pt>
                <c:pt idx="44">
                  <c:v>3.6307805477010138E-2</c:v>
                </c:pt>
                <c:pt idx="45">
                  <c:v>5.4954087385762483E-2</c:v>
                </c:pt>
                <c:pt idx="46">
                  <c:v>8.3176377110267041E-2</c:v>
                </c:pt>
                <c:pt idx="47">
                  <c:v>0.12589254117941667</c:v>
                </c:pt>
                <c:pt idx="48">
                  <c:v>0.19054607179632474</c:v>
                </c:pt>
                <c:pt idx="49">
                  <c:v>0.28840315031266028</c:v>
                </c:pt>
                <c:pt idx="50">
                  <c:v>0.4365158322401656</c:v>
                </c:pt>
                <c:pt idx="51">
                  <c:v>0.66069344800759577</c:v>
                </c:pt>
                <c:pt idx="52">
                  <c:v>1</c:v>
                </c:pt>
              </c:numCache>
            </c:numRef>
          </c:yVal>
          <c:smooth val="0"/>
          <c:extLst>
            <c:ext xmlns:c16="http://schemas.microsoft.com/office/drawing/2014/chart" uri="{C3380CC4-5D6E-409C-BE32-E72D297353CC}">
              <c16:uniqueId val="{00000001-30C8-4731-AD39-A23F428FF191}"/>
            </c:ext>
          </c:extLst>
        </c:ser>
        <c:ser>
          <c:idx val="2"/>
          <c:order val="2"/>
          <c:tx>
            <c:strRef>
              <c:f>Sheet1!$B$111</c:f>
              <c:strCache>
                <c:ptCount val="1"/>
                <c:pt idx="0">
                  <c:v>Kartika</c:v>
                </c:pt>
              </c:strCache>
            </c:strRef>
          </c:tx>
          <c:spPr>
            <a:ln w="28575">
              <a:solidFill>
                <a:srgbClr val="12A385"/>
              </a:solidFill>
            </a:ln>
          </c:spPr>
          <c:marker>
            <c:symbol val="none"/>
          </c:marker>
          <c:xVal>
            <c:numRef>
              <c:f>Sheet1!$A$112:$A$164</c:f>
              <c:numCache>
                <c:formatCode>General</c:formatCode>
                <c:ptCount val="53"/>
                <c:pt idx="0">
                  <c:v>-1</c:v>
                </c:pt>
                <c:pt idx="1">
                  <c:v>-0.75857757502918377</c:v>
                </c:pt>
                <c:pt idx="2">
                  <c:v>-0.57543993733715693</c:v>
                </c:pt>
                <c:pt idx="3">
                  <c:v>-0.43651583224016599</c:v>
                </c:pt>
                <c:pt idx="4">
                  <c:v>-0.33113112148259111</c:v>
                </c:pt>
                <c:pt idx="5">
                  <c:v>-0.25118864315095801</c:v>
                </c:pt>
                <c:pt idx="6">
                  <c:v>-0.19054607179632474</c:v>
                </c:pt>
                <c:pt idx="7">
                  <c:v>-0.14454397707459277</c:v>
                </c:pt>
                <c:pt idx="8">
                  <c:v>-0.10964781961431851</c:v>
                </c:pt>
                <c:pt idx="9">
                  <c:v>-8.3176377110267083E-2</c:v>
                </c:pt>
                <c:pt idx="10">
                  <c:v>-6.3095734448019331E-2</c:v>
                </c:pt>
                <c:pt idx="11">
                  <c:v>-4.7863009232263852E-2</c:v>
                </c:pt>
                <c:pt idx="12">
                  <c:v>-3.6307805477010138E-2</c:v>
                </c:pt>
                <c:pt idx="13">
                  <c:v>-2.7542287033381661E-2</c:v>
                </c:pt>
                <c:pt idx="14">
                  <c:v>-2.0892961308540396E-2</c:v>
                </c:pt>
                <c:pt idx="15">
                  <c:v>-1.5848931924611141E-2</c:v>
                </c:pt>
                <c:pt idx="16">
                  <c:v>-1.2022644346174132E-2</c:v>
                </c:pt>
                <c:pt idx="17">
                  <c:v>-9.1201083935590968E-3</c:v>
                </c:pt>
                <c:pt idx="18">
                  <c:v>-6.9183097091893627E-3</c:v>
                </c:pt>
                <c:pt idx="19">
                  <c:v>-5.2480746024977281E-3</c:v>
                </c:pt>
                <c:pt idx="20">
                  <c:v>-3.9810717055349734E-3</c:v>
                </c:pt>
                <c:pt idx="21">
                  <c:v>-3.0199517204020161E-3</c:v>
                </c:pt>
                <c:pt idx="22">
                  <c:v>-2.2908676527677745E-3</c:v>
                </c:pt>
                <c:pt idx="23">
                  <c:v>-1.7378008287493763E-3</c:v>
                </c:pt>
                <c:pt idx="24">
                  <c:v>-1.3182567385564075E-3</c:v>
                </c:pt>
                <c:pt idx="25">
                  <c:v>-1E-3</c:v>
                </c:pt>
                <c:pt idx="26">
                  <c:v>0</c:v>
                </c:pt>
                <c:pt idx="27">
                  <c:v>1E-3</c:v>
                </c:pt>
                <c:pt idx="28">
                  <c:v>1.3182567385564075E-3</c:v>
                </c:pt>
                <c:pt idx="29">
                  <c:v>1.7378008287493763E-3</c:v>
                </c:pt>
                <c:pt idx="30">
                  <c:v>2.2908676527677724E-3</c:v>
                </c:pt>
                <c:pt idx="31">
                  <c:v>3.0199517204020161E-3</c:v>
                </c:pt>
                <c:pt idx="32">
                  <c:v>3.9810717055349734E-3</c:v>
                </c:pt>
                <c:pt idx="33">
                  <c:v>5.2480746024977229E-3</c:v>
                </c:pt>
                <c:pt idx="34">
                  <c:v>6.9183097091893627E-3</c:v>
                </c:pt>
                <c:pt idx="35">
                  <c:v>9.1201083935590968E-3</c:v>
                </c:pt>
                <c:pt idx="36">
                  <c:v>1.2022644346174132E-2</c:v>
                </c:pt>
                <c:pt idx="37">
                  <c:v>1.5848931924611134E-2</c:v>
                </c:pt>
                <c:pt idx="38">
                  <c:v>2.0892961308540386E-2</c:v>
                </c:pt>
                <c:pt idx="39">
                  <c:v>2.7542287033381661E-2</c:v>
                </c:pt>
                <c:pt idx="40">
                  <c:v>3.6307805477010138E-2</c:v>
                </c:pt>
                <c:pt idx="41">
                  <c:v>4.7863009232263824E-2</c:v>
                </c:pt>
                <c:pt idx="42">
                  <c:v>6.3095734448019303E-2</c:v>
                </c:pt>
                <c:pt idx="43">
                  <c:v>8.3176377110267083E-2</c:v>
                </c:pt>
                <c:pt idx="44">
                  <c:v>0.10964781961431851</c:v>
                </c:pt>
                <c:pt idx="45">
                  <c:v>0.14454397707459279</c:v>
                </c:pt>
                <c:pt idx="46">
                  <c:v>0.19054607179632463</c:v>
                </c:pt>
                <c:pt idx="47">
                  <c:v>0.25118864315095796</c:v>
                </c:pt>
                <c:pt idx="48">
                  <c:v>0.33113112148259111</c:v>
                </c:pt>
                <c:pt idx="49">
                  <c:v>0.43651583224016566</c:v>
                </c:pt>
                <c:pt idx="50">
                  <c:v>0.57543993733715659</c:v>
                </c:pt>
                <c:pt idx="51">
                  <c:v>0.75857757502918355</c:v>
                </c:pt>
                <c:pt idx="52">
                  <c:v>1</c:v>
                </c:pt>
              </c:numCache>
            </c:numRef>
          </c:xVal>
          <c:yVal>
            <c:numRef>
              <c:f>Sheet1!$B$112:$B$164</c:f>
              <c:numCache>
                <c:formatCode>General</c:formatCode>
                <c:ptCount val="53"/>
                <c:pt idx="0">
                  <c:v>-1</c:v>
                </c:pt>
                <c:pt idx="1">
                  <c:v>-0.80167806338767911</c:v>
                </c:pt>
                <c:pt idx="2">
                  <c:v>-0.64268771731701968</c:v>
                </c:pt>
                <c:pt idx="3">
                  <c:v>-0.51522864458175643</c:v>
                </c:pt>
                <c:pt idx="4">
                  <c:v>-0.41304750199016133</c:v>
                </c:pt>
                <c:pt idx="5">
                  <c:v>-0.33113112148259105</c:v>
                </c:pt>
                <c:pt idx="6">
                  <c:v>-0.26546055619755393</c:v>
                </c:pt>
                <c:pt idx="7">
                  <c:v>-0.21281390459827121</c:v>
                </c:pt>
                <c:pt idx="8">
                  <c:v>-0.17060823890031235</c:v>
                </c:pt>
                <c:pt idx="9">
                  <c:v>-0.13677288255958486</c:v>
                </c:pt>
                <c:pt idx="10">
                  <c:v>-0.10964781961431849</c:v>
                </c:pt>
                <c:pt idx="11">
                  <c:v>-8.7902251683088448E-2</c:v>
                </c:pt>
                <c:pt idx="12">
                  <c:v>-7.0469306896714684E-2</c:v>
                </c:pt>
                <c:pt idx="13">
                  <c:v>-5.6493697481230239E-2</c:v>
                </c:pt>
                <c:pt idx="14">
                  <c:v>-4.528975799036207E-2</c:v>
                </c:pt>
                <c:pt idx="15">
                  <c:v>-3.6307805477010138E-2</c:v>
                </c:pt>
                <c:pt idx="16">
                  <c:v>-2.9107171180666053E-2</c:v>
                </c:pt>
                <c:pt idx="17">
                  <c:v>-2.3334580622810019E-2</c:v>
                </c:pt>
                <c:pt idx="18">
                  <c:v>-1.8706821403657998E-2</c:v>
                </c:pt>
                <c:pt idx="19">
                  <c:v>-1.4996848355023736E-2</c:v>
                </c:pt>
                <c:pt idx="20">
                  <c:v>-1.2022644346174128E-2</c:v>
                </c:pt>
                <c:pt idx="21">
                  <c:v>-9.6382902362397022E-3</c:v>
                </c:pt>
                <c:pt idx="22">
                  <c:v>-7.7268058509570251E-3</c:v>
                </c:pt>
                <c:pt idx="23">
                  <c:v>-6.1944107507678151E-3</c:v>
                </c:pt>
                <c:pt idx="24">
                  <c:v>-4.9659232145033609E-3</c:v>
                </c:pt>
                <c:pt idx="25">
                  <c:v>-3.9810717055349717E-3</c:v>
                </c:pt>
                <c:pt idx="26">
                  <c:v>0</c:v>
                </c:pt>
                <c:pt idx="27">
                  <c:v>3.9810717055349717E-3</c:v>
                </c:pt>
                <c:pt idx="28">
                  <c:v>4.9659232145033609E-3</c:v>
                </c:pt>
                <c:pt idx="29">
                  <c:v>6.1944107507678151E-3</c:v>
                </c:pt>
                <c:pt idx="30">
                  <c:v>7.726805850957019E-3</c:v>
                </c:pt>
                <c:pt idx="31">
                  <c:v>9.6382902362397022E-3</c:v>
                </c:pt>
                <c:pt idx="32">
                  <c:v>1.2022644346174128E-2</c:v>
                </c:pt>
                <c:pt idx="33">
                  <c:v>1.4996848355023724E-2</c:v>
                </c:pt>
                <c:pt idx="34">
                  <c:v>1.8706821403657998E-2</c:v>
                </c:pt>
                <c:pt idx="35">
                  <c:v>2.3334580622810019E-2</c:v>
                </c:pt>
                <c:pt idx="36">
                  <c:v>2.9107171180666053E-2</c:v>
                </c:pt>
                <c:pt idx="37">
                  <c:v>3.6307805477010124E-2</c:v>
                </c:pt>
                <c:pt idx="38">
                  <c:v>4.5289757990362049E-2</c:v>
                </c:pt>
                <c:pt idx="39">
                  <c:v>5.6493697481230239E-2</c:v>
                </c:pt>
                <c:pt idx="40">
                  <c:v>7.0469306896714684E-2</c:v>
                </c:pt>
                <c:pt idx="41">
                  <c:v>8.7902251683088406E-2</c:v>
                </c:pt>
                <c:pt idx="42">
                  <c:v>0.10964781961431845</c:v>
                </c:pt>
                <c:pt idx="43">
                  <c:v>0.13677288255958486</c:v>
                </c:pt>
                <c:pt idx="44">
                  <c:v>0.17060823890031235</c:v>
                </c:pt>
                <c:pt idx="45">
                  <c:v>0.21281390459827124</c:v>
                </c:pt>
                <c:pt idx="46">
                  <c:v>0.26546055619755382</c:v>
                </c:pt>
                <c:pt idx="47">
                  <c:v>0.331131121482591</c:v>
                </c:pt>
                <c:pt idx="48">
                  <c:v>0.41304750199016133</c:v>
                </c:pt>
                <c:pt idx="49">
                  <c:v>0.51522864458175621</c:v>
                </c:pt>
                <c:pt idx="50">
                  <c:v>0.64268771731701935</c:v>
                </c:pt>
                <c:pt idx="51">
                  <c:v>0.80167806338767889</c:v>
                </c:pt>
                <c:pt idx="52">
                  <c:v>1</c:v>
                </c:pt>
              </c:numCache>
            </c:numRef>
          </c:yVal>
          <c:smooth val="0"/>
          <c:extLst>
            <c:ext xmlns:c16="http://schemas.microsoft.com/office/drawing/2014/chart" uri="{C3380CC4-5D6E-409C-BE32-E72D297353CC}">
              <c16:uniqueId val="{00000002-30C8-4731-AD39-A23F428FF191}"/>
            </c:ext>
          </c:extLst>
        </c:ser>
        <c:ser>
          <c:idx val="3"/>
          <c:order val="3"/>
          <c:tx>
            <c:strRef>
              <c:f>Sheet1!$B$166</c:f>
              <c:strCache>
                <c:ptCount val="1"/>
                <c:pt idx="0">
                  <c:v>Ayushi</c:v>
                </c:pt>
              </c:strCache>
            </c:strRef>
          </c:tx>
          <c:spPr>
            <a:ln w="28575">
              <a:solidFill>
                <a:srgbClr val="CA54FB"/>
              </a:solidFill>
            </a:ln>
          </c:spPr>
          <c:marker>
            <c:symbol val="none"/>
          </c:marker>
          <c:xVal>
            <c:numRef>
              <c:f>Sheet1!$A$167:$A$219</c:f>
              <c:numCache>
                <c:formatCode>General</c:formatCode>
                <c:ptCount val="53"/>
                <c:pt idx="0">
                  <c:v>-1</c:v>
                </c:pt>
                <c:pt idx="1">
                  <c:v>-0.75857757502918377</c:v>
                </c:pt>
                <c:pt idx="2">
                  <c:v>-0.57543993733715693</c:v>
                </c:pt>
                <c:pt idx="3">
                  <c:v>-0.43651583224016599</c:v>
                </c:pt>
                <c:pt idx="4">
                  <c:v>-0.33113112148259111</c:v>
                </c:pt>
                <c:pt idx="5">
                  <c:v>-0.25118864315095801</c:v>
                </c:pt>
                <c:pt idx="6">
                  <c:v>-0.19054607179632474</c:v>
                </c:pt>
                <c:pt idx="7">
                  <c:v>-0.14454397707459277</c:v>
                </c:pt>
                <c:pt idx="8">
                  <c:v>-0.10964781961431851</c:v>
                </c:pt>
                <c:pt idx="9">
                  <c:v>-8.3176377110267083E-2</c:v>
                </c:pt>
                <c:pt idx="10">
                  <c:v>-6.3095734448019331E-2</c:v>
                </c:pt>
                <c:pt idx="11">
                  <c:v>-4.7863009232263852E-2</c:v>
                </c:pt>
                <c:pt idx="12">
                  <c:v>-3.6307805477010138E-2</c:v>
                </c:pt>
                <c:pt idx="13">
                  <c:v>-2.7542287033381661E-2</c:v>
                </c:pt>
                <c:pt idx="14">
                  <c:v>-2.0892961308540396E-2</c:v>
                </c:pt>
                <c:pt idx="15">
                  <c:v>-1.5848931924611141E-2</c:v>
                </c:pt>
                <c:pt idx="16">
                  <c:v>-1.2022644346174132E-2</c:v>
                </c:pt>
                <c:pt idx="17">
                  <c:v>-9.1201083935590968E-3</c:v>
                </c:pt>
                <c:pt idx="18">
                  <c:v>-6.9183097091893627E-3</c:v>
                </c:pt>
                <c:pt idx="19">
                  <c:v>-5.2480746024977281E-3</c:v>
                </c:pt>
                <c:pt idx="20">
                  <c:v>-3.9810717055349734E-3</c:v>
                </c:pt>
                <c:pt idx="21">
                  <c:v>-3.0199517204020161E-3</c:v>
                </c:pt>
                <c:pt idx="22">
                  <c:v>-2.2908676527677745E-3</c:v>
                </c:pt>
                <c:pt idx="23">
                  <c:v>-1.7378008287493763E-3</c:v>
                </c:pt>
                <c:pt idx="24">
                  <c:v>-1.3182567385564075E-3</c:v>
                </c:pt>
                <c:pt idx="25">
                  <c:v>-1E-3</c:v>
                </c:pt>
                <c:pt idx="26">
                  <c:v>0</c:v>
                </c:pt>
                <c:pt idx="27">
                  <c:v>1E-3</c:v>
                </c:pt>
                <c:pt idx="28">
                  <c:v>1.3182567385564075E-3</c:v>
                </c:pt>
                <c:pt idx="29">
                  <c:v>1.7378008287493763E-3</c:v>
                </c:pt>
                <c:pt idx="30">
                  <c:v>2.2908676527677724E-3</c:v>
                </c:pt>
                <c:pt idx="31">
                  <c:v>3.0199517204020161E-3</c:v>
                </c:pt>
                <c:pt idx="32">
                  <c:v>3.9810717055349734E-3</c:v>
                </c:pt>
                <c:pt idx="33">
                  <c:v>5.2480746024977229E-3</c:v>
                </c:pt>
                <c:pt idx="34">
                  <c:v>6.9183097091893627E-3</c:v>
                </c:pt>
                <c:pt idx="35">
                  <c:v>9.1201083935590968E-3</c:v>
                </c:pt>
                <c:pt idx="36">
                  <c:v>1.2022644346174132E-2</c:v>
                </c:pt>
                <c:pt idx="37">
                  <c:v>1.5848931924611134E-2</c:v>
                </c:pt>
                <c:pt idx="38">
                  <c:v>2.0892961308540386E-2</c:v>
                </c:pt>
                <c:pt idx="39">
                  <c:v>2.7542287033381661E-2</c:v>
                </c:pt>
                <c:pt idx="40">
                  <c:v>3.6307805477010138E-2</c:v>
                </c:pt>
                <c:pt idx="41">
                  <c:v>4.7863009232263824E-2</c:v>
                </c:pt>
                <c:pt idx="42">
                  <c:v>6.3095734448019303E-2</c:v>
                </c:pt>
                <c:pt idx="43">
                  <c:v>8.3176377110267083E-2</c:v>
                </c:pt>
                <c:pt idx="44">
                  <c:v>0.10964781961431851</c:v>
                </c:pt>
                <c:pt idx="45">
                  <c:v>0.14454397707459279</c:v>
                </c:pt>
                <c:pt idx="46">
                  <c:v>0.19054607179632463</c:v>
                </c:pt>
                <c:pt idx="47">
                  <c:v>0.25118864315095796</c:v>
                </c:pt>
                <c:pt idx="48">
                  <c:v>0.33113112148259111</c:v>
                </c:pt>
                <c:pt idx="49">
                  <c:v>0.43651583224016566</c:v>
                </c:pt>
                <c:pt idx="50">
                  <c:v>0.57543993733715659</c:v>
                </c:pt>
                <c:pt idx="51">
                  <c:v>0.75857757502918355</c:v>
                </c:pt>
                <c:pt idx="52">
                  <c:v>1</c:v>
                </c:pt>
              </c:numCache>
            </c:numRef>
          </c:xVal>
          <c:yVal>
            <c:numRef>
              <c:f>Sheet1!$B$167:$B$219</c:f>
              <c:numCache>
                <c:formatCode>General</c:formatCode>
                <c:ptCount val="53"/>
                <c:pt idx="0">
                  <c:v>-1.0089999999999999</c:v>
                </c:pt>
                <c:pt idx="1">
                  <c:v>-0.99515600100189128</c:v>
                </c:pt>
                <c:pt idx="2">
                  <c:v>-0.98150194879095765</c:v>
                </c:pt>
                <c:pt idx="3">
                  <c:v>-0.9680352371995764</c:v>
                </c:pt>
                <c:pt idx="4">
                  <c:v>-0.9547532958180851</c:v>
                </c:pt>
                <c:pt idx="5">
                  <c:v>-0.94165358950416378</c:v>
                </c:pt>
                <c:pt idx="6">
                  <c:v>-0.92873361789894981</c:v>
                </c:pt>
                <c:pt idx="7">
                  <c:v>-0.91599091494978935</c:v>
                </c:pt>
                <c:pt idx="8">
                  <c:v>-0.90342304843954002</c:v>
                </c:pt>
                <c:pt idx="9">
                  <c:v>-0.89102761952232978</c:v>
                </c:pt>
                <c:pt idx="10">
                  <c:v>-0.87880226226568525</c:v>
                </c:pt>
                <c:pt idx="11">
                  <c:v>-0.86674464319894429</c:v>
                </c:pt>
                <c:pt idx="12">
                  <c:v>-0.85485246086786171</c:v>
                </c:pt>
                <c:pt idx="13">
                  <c:v>-0.84312344539532913</c:v>
                </c:pt>
                <c:pt idx="14">
                  <c:v>-0.8315553580481192</c:v>
                </c:pt>
                <c:pt idx="15">
                  <c:v>-0.82014599080957606</c:v>
                </c:pt>
                <c:pt idx="16">
                  <c:v>-0.80889316595816818</c:v>
                </c:pt>
                <c:pt idx="17">
                  <c:v>-0.79779473565182346</c:v>
                </c:pt>
                <c:pt idx="18">
                  <c:v>-0.78684858151796788</c:v>
                </c:pt>
                <c:pt idx="19">
                  <c:v>-0.77605261424918903</c:v>
                </c:pt>
                <c:pt idx="20">
                  <c:v>-0.76540477320444633</c:v>
                </c:pt>
                <c:pt idx="21">
                  <c:v>-0.75490302601575454</c:v>
                </c:pt>
                <c:pt idx="22">
                  <c:v>-0.74454536820026285</c:v>
                </c:pt>
                <c:pt idx="23">
                  <c:v>-0.73432982277765535</c:v>
                </c:pt>
                <c:pt idx="24">
                  <c:v>-0.72425443989280391</c:v>
                </c:pt>
                <c:pt idx="25">
                  <c:v>-0.7143172964435951</c:v>
                </c:pt>
                <c:pt idx="26">
                  <c:v>0</c:v>
                </c:pt>
                <c:pt idx="27">
                  <c:v>0.70794578438413791</c:v>
                </c:pt>
                <c:pt idx="28">
                  <c:v>0.71779429127136174</c:v>
                </c:pt>
                <c:pt idx="29">
                  <c:v>0.727779804536824</c:v>
                </c:pt>
                <c:pt idx="30">
                  <c:v>0.73790423012910089</c:v>
                </c:pt>
                <c:pt idx="31">
                  <c:v>0.74816950051115427</c:v>
                </c:pt>
                <c:pt idx="32">
                  <c:v>0.75857757502918377</c:v>
                </c:pt>
                <c:pt idx="33">
                  <c:v>0.7691304402866096</c:v>
                </c:pt>
                <c:pt idx="34">
                  <c:v>0.77983011052325868</c:v>
                </c:pt>
                <c:pt idx="35">
                  <c:v>0.79067862799982513</c:v>
                </c:pt>
                <c:pt idx="36">
                  <c:v>0.80167806338767911</c:v>
                </c:pt>
                <c:pt idx="37">
                  <c:v>0.81283051616409918</c:v>
                </c:pt>
                <c:pt idx="38">
                  <c:v>0.82413811501300227</c:v>
                </c:pt>
                <c:pt idx="39">
                  <c:v>0.83560301823124794</c:v>
                </c:pt>
                <c:pt idx="40">
                  <c:v>0.84722741414059644</c:v>
                </c:pt>
                <c:pt idx="41">
                  <c:v>0.85901352150539567</c:v>
                </c:pt>
                <c:pt idx="42">
                  <c:v>0.87096358995608059</c:v>
                </c:pt>
                <c:pt idx="43">
                  <c:v>0.88307990041856277</c:v>
                </c:pt>
                <c:pt idx="44">
                  <c:v>0.89536476554959377</c:v>
                </c:pt>
                <c:pt idx="45">
                  <c:v>0.90782053017818576</c:v>
                </c:pt>
                <c:pt idx="46">
                  <c:v>0.92044957175317133</c:v>
                </c:pt>
                <c:pt idx="47">
                  <c:v>0.93325430079699101</c:v>
                </c:pt>
                <c:pt idx="48">
                  <c:v>0.94623716136579306</c:v>
                </c:pt>
                <c:pt idx="49">
                  <c:v>0.95940063151593313</c:v>
                </c:pt>
                <c:pt idx="50">
                  <c:v>0.9727472237769651</c:v>
                </c:pt>
                <c:pt idx="51">
                  <c:v>0.98627948563121048</c:v>
                </c:pt>
                <c:pt idx="52">
                  <c:v>1</c:v>
                </c:pt>
              </c:numCache>
            </c:numRef>
          </c:yVal>
          <c:smooth val="0"/>
          <c:extLst>
            <c:ext xmlns:c16="http://schemas.microsoft.com/office/drawing/2014/chart" uri="{C3380CC4-5D6E-409C-BE32-E72D297353CC}">
              <c16:uniqueId val="{00000003-30C8-4731-AD39-A23F428FF191}"/>
            </c:ext>
          </c:extLst>
        </c:ser>
        <c:ser>
          <c:idx val="4"/>
          <c:order val="4"/>
          <c:tx>
            <c:strRef>
              <c:f>Sheet1!$B$221</c:f>
              <c:strCache>
                <c:ptCount val="1"/>
                <c:pt idx="0">
                  <c:v>Adwaaiit Pande</c:v>
                </c:pt>
              </c:strCache>
            </c:strRef>
          </c:tx>
          <c:spPr>
            <a:ln w="28575">
              <a:solidFill>
                <a:srgbClr val="D69E00"/>
              </a:solidFill>
            </a:ln>
          </c:spPr>
          <c:marker>
            <c:symbol val="none"/>
          </c:marker>
          <c:xVal>
            <c:numRef>
              <c:f>Sheet1!$A$222:$A$274</c:f>
              <c:numCache>
                <c:formatCode>General</c:formatCode>
                <c:ptCount val="53"/>
                <c:pt idx="0">
                  <c:v>-1</c:v>
                </c:pt>
                <c:pt idx="1">
                  <c:v>-0.75857757502918377</c:v>
                </c:pt>
                <c:pt idx="2">
                  <c:v>-0.57543993733715693</c:v>
                </c:pt>
                <c:pt idx="3">
                  <c:v>-0.43651583224016599</c:v>
                </c:pt>
                <c:pt idx="4">
                  <c:v>-0.33113112148259111</c:v>
                </c:pt>
                <c:pt idx="5">
                  <c:v>-0.25118864315095801</c:v>
                </c:pt>
                <c:pt idx="6">
                  <c:v>-0.19054607179632474</c:v>
                </c:pt>
                <c:pt idx="7">
                  <c:v>-0.14454397707459277</c:v>
                </c:pt>
                <c:pt idx="8">
                  <c:v>-0.10964781961431851</c:v>
                </c:pt>
                <c:pt idx="9">
                  <c:v>-8.3176377110267083E-2</c:v>
                </c:pt>
                <c:pt idx="10">
                  <c:v>-6.3095734448019331E-2</c:v>
                </c:pt>
                <c:pt idx="11">
                  <c:v>-4.7863009232263852E-2</c:v>
                </c:pt>
                <c:pt idx="12">
                  <c:v>-3.6307805477010138E-2</c:v>
                </c:pt>
                <c:pt idx="13">
                  <c:v>-2.7542287033381661E-2</c:v>
                </c:pt>
                <c:pt idx="14">
                  <c:v>-2.0892961308540396E-2</c:v>
                </c:pt>
                <c:pt idx="15">
                  <c:v>-1.5848931924611141E-2</c:v>
                </c:pt>
                <c:pt idx="16">
                  <c:v>-1.2022644346174132E-2</c:v>
                </c:pt>
                <c:pt idx="17">
                  <c:v>-9.1201083935590968E-3</c:v>
                </c:pt>
                <c:pt idx="18">
                  <c:v>-6.9183097091893627E-3</c:v>
                </c:pt>
                <c:pt idx="19">
                  <c:v>-5.2480746024977281E-3</c:v>
                </c:pt>
                <c:pt idx="20">
                  <c:v>-3.9810717055349734E-3</c:v>
                </c:pt>
                <c:pt idx="21">
                  <c:v>-3.0199517204020161E-3</c:v>
                </c:pt>
                <c:pt idx="22">
                  <c:v>-2.2908676527677745E-3</c:v>
                </c:pt>
                <c:pt idx="23">
                  <c:v>-1.7378008287493763E-3</c:v>
                </c:pt>
                <c:pt idx="24">
                  <c:v>-1.3182567385564075E-3</c:v>
                </c:pt>
                <c:pt idx="25">
                  <c:v>-1E-3</c:v>
                </c:pt>
                <c:pt idx="26">
                  <c:v>0</c:v>
                </c:pt>
                <c:pt idx="27">
                  <c:v>1E-3</c:v>
                </c:pt>
                <c:pt idx="28">
                  <c:v>1.3182567385564075E-3</c:v>
                </c:pt>
                <c:pt idx="29">
                  <c:v>1.7378008287493763E-3</c:v>
                </c:pt>
                <c:pt idx="30">
                  <c:v>2.2908676527677724E-3</c:v>
                </c:pt>
                <c:pt idx="31">
                  <c:v>3.0199517204020161E-3</c:v>
                </c:pt>
                <c:pt idx="32">
                  <c:v>3.9810717055349734E-3</c:v>
                </c:pt>
                <c:pt idx="33">
                  <c:v>5.2480746024977229E-3</c:v>
                </c:pt>
                <c:pt idx="34">
                  <c:v>6.9183097091893627E-3</c:v>
                </c:pt>
                <c:pt idx="35">
                  <c:v>9.1201083935590968E-3</c:v>
                </c:pt>
                <c:pt idx="36">
                  <c:v>1.2022644346174132E-2</c:v>
                </c:pt>
                <c:pt idx="37">
                  <c:v>1.5848931924611134E-2</c:v>
                </c:pt>
                <c:pt idx="38">
                  <c:v>2.0892961308540386E-2</c:v>
                </c:pt>
                <c:pt idx="39">
                  <c:v>2.7542287033381661E-2</c:v>
                </c:pt>
                <c:pt idx="40">
                  <c:v>3.6307805477010138E-2</c:v>
                </c:pt>
                <c:pt idx="41">
                  <c:v>4.7863009232263824E-2</c:v>
                </c:pt>
                <c:pt idx="42">
                  <c:v>6.3095734448019303E-2</c:v>
                </c:pt>
                <c:pt idx="43">
                  <c:v>8.3176377110267083E-2</c:v>
                </c:pt>
                <c:pt idx="44">
                  <c:v>0.10964781961431851</c:v>
                </c:pt>
                <c:pt idx="45">
                  <c:v>0.14454397707459279</c:v>
                </c:pt>
                <c:pt idx="46">
                  <c:v>0.19054607179632463</c:v>
                </c:pt>
                <c:pt idx="47">
                  <c:v>0.25118864315095796</c:v>
                </c:pt>
                <c:pt idx="48">
                  <c:v>0.33113112148259111</c:v>
                </c:pt>
                <c:pt idx="49">
                  <c:v>0.43651583224016566</c:v>
                </c:pt>
                <c:pt idx="50">
                  <c:v>0.57543993733715659</c:v>
                </c:pt>
                <c:pt idx="51">
                  <c:v>0.75857757502918355</c:v>
                </c:pt>
                <c:pt idx="52">
                  <c:v>1</c:v>
                </c:pt>
              </c:numCache>
            </c:numRef>
          </c:xVal>
          <c:yVal>
            <c:numRef>
              <c:f>Sheet1!$B$222:$B$274</c:f>
              <c:numCache>
                <c:formatCode>General</c:formatCode>
                <c:ptCount val="53"/>
                <c:pt idx="0">
                  <c:v>-1.0149999999999999</c:v>
                </c:pt>
                <c:pt idx="1">
                  <c:v>-1.0010736779156786</c:v>
                </c:pt>
                <c:pt idx="2">
                  <c:v>-0.98733843213361949</c:v>
                </c:pt>
                <c:pt idx="3">
                  <c:v>-0.97379164098867199</c:v>
                </c:pt>
                <c:pt idx="4">
                  <c:v>-0.96043071878627984</c:v>
                </c:pt>
                <c:pt idx="5">
                  <c:v>-0.94725311530894574</c:v>
                </c:pt>
                <c:pt idx="6">
                  <c:v>-0.93425631532946884</c:v>
                </c:pt>
                <c:pt idx="7">
                  <c:v>-0.92143783813085844</c:v>
                </c:pt>
                <c:pt idx="8">
                  <c:v>-0.9087952370328376</c:v>
                </c:pt>
                <c:pt idx="9">
                  <c:v>-0.89632609892484116</c:v>
                </c:pt>
                <c:pt idx="10">
                  <c:v>-0.88402804380542166</c:v>
                </c:pt>
                <c:pt idx="11">
                  <c:v>-0.87189872432797666</c:v>
                </c:pt>
                <c:pt idx="12">
                  <c:v>-0.8599358253527053</c:v>
                </c:pt>
                <c:pt idx="13">
                  <c:v>-0.84813706350471663</c:v>
                </c:pt>
                <c:pt idx="14">
                  <c:v>-0.83650018673819726</c:v>
                </c:pt>
                <c:pt idx="15">
                  <c:v>-0.82502297390656065</c:v>
                </c:pt>
                <c:pt idx="16">
                  <c:v>-0.81370323433849423</c:v>
                </c:pt>
                <c:pt idx="17">
                  <c:v>-0.80253880741982242</c:v>
                </c:pt>
                <c:pt idx="18">
                  <c:v>-0.79152756218110754</c:v>
                </c:pt>
                <c:pt idx="19">
                  <c:v>-0.78066739689090869</c:v>
                </c:pt>
                <c:pt idx="20">
                  <c:v>-0.76995623865462148</c:v>
                </c:pt>
                <c:pt idx="21">
                  <c:v>-0.75939204301882146</c:v>
                </c:pt>
                <c:pt idx="22">
                  <c:v>-0.74897279358103741</c:v>
                </c:pt>
                <c:pt idx="23">
                  <c:v>-0.73869650160487632</c:v>
                </c:pt>
                <c:pt idx="24">
                  <c:v>-0.72856120564043214</c:v>
                </c:pt>
                <c:pt idx="25">
                  <c:v>-0.71856497114989992</c:v>
                </c:pt>
                <c:pt idx="26">
                  <c:v>0</c:v>
                </c:pt>
                <c:pt idx="27">
                  <c:v>0.70794578438413791</c:v>
                </c:pt>
                <c:pt idx="28">
                  <c:v>0.71779429127136174</c:v>
                </c:pt>
                <c:pt idx="29">
                  <c:v>0.727779804536824</c:v>
                </c:pt>
                <c:pt idx="30">
                  <c:v>0.73790423012910089</c:v>
                </c:pt>
                <c:pt idx="31">
                  <c:v>0.74816950051115427</c:v>
                </c:pt>
                <c:pt idx="32">
                  <c:v>0.75857757502918377</c:v>
                </c:pt>
                <c:pt idx="33">
                  <c:v>0.7691304402866096</c:v>
                </c:pt>
                <c:pt idx="34">
                  <c:v>0.77983011052325868</c:v>
                </c:pt>
                <c:pt idx="35">
                  <c:v>0.79067862799982513</c:v>
                </c:pt>
                <c:pt idx="36">
                  <c:v>0.80167806338767911</c:v>
                </c:pt>
                <c:pt idx="37">
                  <c:v>0.81283051616409918</c:v>
                </c:pt>
                <c:pt idx="38">
                  <c:v>0.82413811501300227</c:v>
                </c:pt>
                <c:pt idx="39">
                  <c:v>0.83560301823124794</c:v>
                </c:pt>
                <c:pt idx="40">
                  <c:v>0.84722741414059644</c:v>
                </c:pt>
                <c:pt idx="41">
                  <c:v>0.85901352150539567</c:v>
                </c:pt>
                <c:pt idx="42">
                  <c:v>0.87096358995608059</c:v>
                </c:pt>
                <c:pt idx="43">
                  <c:v>0.88307990041856277</c:v>
                </c:pt>
                <c:pt idx="44">
                  <c:v>0.89536476554959377</c:v>
                </c:pt>
                <c:pt idx="45">
                  <c:v>0.90782053017818576</c:v>
                </c:pt>
                <c:pt idx="46">
                  <c:v>0.92044957175317133</c:v>
                </c:pt>
                <c:pt idx="47">
                  <c:v>0.93325430079699101</c:v>
                </c:pt>
                <c:pt idx="48">
                  <c:v>0.94623716136579306</c:v>
                </c:pt>
                <c:pt idx="49">
                  <c:v>0.95940063151593313</c:v>
                </c:pt>
                <c:pt idx="50">
                  <c:v>0.9727472237769651</c:v>
                </c:pt>
                <c:pt idx="51">
                  <c:v>0.98627948563121048</c:v>
                </c:pt>
                <c:pt idx="52">
                  <c:v>1</c:v>
                </c:pt>
              </c:numCache>
            </c:numRef>
          </c:yVal>
          <c:smooth val="0"/>
          <c:extLst>
            <c:ext xmlns:c16="http://schemas.microsoft.com/office/drawing/2014/chart" uri="{C3380CC4-5D6E-409C-BE32-E72D297353CC}">
              <c16:uniqueId val="{00000004-30C8-4731-AD39-A23F428FF191}"/>
            </c:ext>
          </c:extLst>
        </c:ser>
        <c:dLbls>
          <c:showLegendKey val="0"/>
          <c:showVal val="0"/>
          <c:showCatName val="0"/>
          <c:showSerName val="0"/>
          <c:showPercent val="0"/>
          <c:showBubbleSize val="0"/>
        </c:dLbls>
        <c:axId val="-2128940872"/>
        <c:axId val="-2129643912"/>
      </c:scatterChart>
      <c:valAx>
        <c:axId val="-2128940872"/>
        <c:scaling>
          <c:orientation val="minMax"/>
          <c:max val="1"/>
          <c:min val="-1"/>
        </c:scaling>
        <c:delete val="0"/>
        <c:axPos val="b"/>
        <c:title>
          <c:tx>
            <c:rich>
              <a:bodyPr/>
              <a:lstStyle/>
              <a:p>
                <a:r>
                  <a:rPr lang="en-US" sz="1050" b="0">
                    <a:solidFill>
                      <a:srgbClr val="5F6266"/>
                    </a:solidFill>
                  </a:rPr>
                  <a:t>Gain / loss vs. reference point (stakes)</a:t>
                </a:r>
              </a:p>
            </c:rich>
          </c:tx>
          <c:overlay val="0"/>
        </c:title>
        <c:numFmt formatCode="0.0" sourceLinked="0"/>
        <c:majorTickMark val="out"/>
        <c:minorTickMark val="none"/>
        <c:tickLblPos val="low"/>
        <c:spPr>
          <a:ln>
            <a:solidFill>
              <a:srgbClr val="B9B6B8"/>
            </a:solidFill>
          </a:ln>
        </c:spPr>
        <c:txPr>
          <a:bodyPr/>
          <a:lstStyle/>
          <a:p>
            <a:pPr>
              <a:defRPr sz="1000">
                <a:solidFill>
                  <a:srgbClr val="5F6266"/>
                </a:solidFill>
              </a:defRPr>
            </a:pPr>
            <a:endParaRPr lang="en-US"/>
          </a:p>
        </c:txPr>
        <c:crossAx val="-2129643912"/>
        <c:crosses val="autoZero"/>
        <c:crossBetween val="midCat"/>
        <c:majorUnit val="0.5"/>
      </c:valAx>
      <c:valAx>
        <c:axId val="-2129643912"/>
        <c:scaling>
          <c:orientation val="minMax"/>
          <c:max val="1.5"/>
          <c:min val="-2"/>
        </c:scaling>
        <c:delete val="0"/>
        <c:axPos val="l"/>
        <c:majorGridlines>
          <c:spPr>
            <a:ln w="9525">
              <a:solidFill>
                <a:srgbClr val="E7E4E6"/>
              </a:solidFill>
            </a:ln>
          </c:spPr>
        </c:majorGridlines>
        <c:title>
          <c:tx>
            <c:rich>
              <a:bodyPr/>
              <a:lstStyle/>
              <a:p>
                <a:r>
                  <a:rPr lang="en-IN" sz="1050" b="0">
                    <a:solidFill>
                      <a:srgbClr val="5F6266"/>
                    </a:solidFill>
                  </a:rPr>
                  <a:t>v(x)</a:t>
                </a:r>
              </a:p>
            </c:rich>
          </c:tx>
          <c:overlay val="0"/>
        </c:title>
        <c:numFmt formatCode="0.0" sourceLinked="0"/>
        <c:majorTickMark val="out"/>
        <c:minorTickMark val="none"/>
        <c:tickLblPos val="low"/>
        <c:spPr>
          <a:ln>
            <a:solidFill>
              <a:srgbClr val="B9B6B8"/>
            </a:solidFill>
          </a:ln>
        </c:spPr>
        <c:txPr>
          <a:bodyPr/>
          <a:lstStyle/>
          <a:p>
            <a:pPr>
              <a:defRPr sz="1000">
                <a:solidFill>
                  <a:srgbClr val="5F6266"/>
                </a:solidFill>
              </a:defRPr>
            </a:pPr>
            <a:endParaRPr lang="en-US"/>
          </a:p>
        </c:txPr>
        <c:crossAx val="-2128940872"/>
        <c:crosses val="autoZero"/>
        <c:crossBetween val="midCat"/>
        <c:majorUnit val="0.5"/>
      </c:valAx>
    </c:plotArea>
    <c:plotVisOnly val="1"/>
    <c:dispBlanksAs val="gap"/>
    <c:showDLblsOverMax val="0"/>
  </c:chart>
  <c:txPr>
    <a:bodyPr/>
    <a:lstStyle/>
    <a:p>
      <a:pPr>
        <a:defRPr sz="1000">
          <a:solidFill>
            <a:srgbClr val="36393B"/>
          </a:solidFill>
          <a:latin typeface="+mn-l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300" b="1">
                <a:solidFill>
                  <a:srgbClr val="36393B"/>
                </a:solidFill>
              </a:rPr>
              <a:t>Probability weighting (Prelec 1998)</a:t>
            </a:r>
          </a:p>
          <a:p>
            <a:r>
              <a:rPr lang="en-US" sz="1050" b="0" i="1">
                <a:solidFill>
                  <a:srgbClr val="5F6266"/>
                </a:solidFill>
              </a:rPr>
              <a:t>w(p) = exp(−(−ln p)^α)</a:t>
            </a:r>
          </a:p>
        </c:rich>
      </c:tx>
      <c:overlay val="0"/>
    </c:title>
    <c:autoTitleDeleted val="0"/>
    <c:plotArea>
      <c:layout/>
      <c:scatterChart>
        <c:scatterStyle val="lineMarker"/>
        <c:varyColors val="0"/>
        <c:ser>
          <c:idx val="0"/>
          <c:order val="0"/>
          <c:tx>
            <c:strRef>
              <c:f>Sheet1!$B$1</c:f>
              <c:strCache>
                <c:ptCount val="1"/>
                <c:pt idx="0">
                  <c:v>Objective  w = p</c:v>
                </c:pt>
              </c:strCache>
            </c:strRef>
          </c:tx>
          <c:spPr>
            <a:ln w="15875">
              <a:solidFill>
                <a:srgbClr val="9A9C9E"/>
              </a:solidFill>
              <a:prstDash val="dash"/>
            </a:ln>
          </c:spPr>
          <c:marker>
            <c:symbol val="none"/>
          </c:marker>
          <c:xVal>
            <c:numRef>
              <c:f>Sheet1!$A$2:$A$3</c:f>
              <c:numCache>
                <c:formatCode>General</c:formatCode>
                <c:ptCount val="2"/>
                <c:pt idx="0">
                  <c:v>0</c:v>
                </c:pt>
                <c:pt idx="1">
                  <c:v>1</c:v>
                </c:pt>
              </c:numCache>
            </c:numRef>
          </c:xVal>
          <c:yVal>
            <c:numRef>
              <c:f>Sheet1!$B$2:$B$3</c:f>
              <c:numCache>
                <c:formatCode>General</c:formatCode>
                <c:ptCount val="2"/>
                <c:pt idx="0">
                  <c:v>0</c:v>
                </c:pt>
                <c:pt idx="1">
                  <c:v>1</c:v>
                </c:pt>
              </c:numCache>
            </c:numRef>
          </c:yVal>
          <c:smooth val="0"/>
          <c:extLst>
            <c:ext xmlns:c16="http://schemas.microsoft.com/office/drawing/2014/chart" uri="{C3380CC4-5D6E-409C-BE32-E72D297353CC}">
              <c16:uniqueId val="{00000000-FAE5-4251-9268-BE5598715454}"/>
            </c:ext>
          </c:extLst>
        </c:ser>
        <c:ser>
          <c:idx val="1"/>
          <c:order val="1"/>
          <c:tx>
            <c:strRef>
              <c:f>Sheet1!$B$5</c:f>
              <c:strCache>
                <c:ptCount val="1"/>
                <c:pt idx="0">
                  <c:v>Shree Charan</c:v>
                </c:pt>
              </c:strCache>
            </c:strRef>
          </c:tx>
          <c:spPr>
            <a:ln w="28575">
              <a:solidFill>
                <a:srgbClr val="4D62EF"/>
              </a:solidFill>
            </a:ln>
          </c:spPr>
          <c:marker>
            <c:symbol val="none"/>
          </c:marker>
          <c:xVal>
            <c:numRef>
              <c:f>Sheet1!$A$6:$A$49</c:f>
              <c:numCache>
                <c:formatCode>General</c:formatCode>
                <c:ptCount val="44"/>
                <c:pt idx="0">
                  <c:v>1E-3</c:v>
                </c:pt>
                <c:pt idx="1">
                  <c:v>5.0000000000000001E-3</c:v>
                </c:pt>
                <c:pt idx="2">
                  <c:v>0.01</c:v>
                </c:pt>
                <c:pt idx="3">
                  <c:v>0.02</c:v>
                </c:pt>
                <c:pt idx="4">
                  <c:v>0.03</c:v>
                </c:pt>
                <c:pt idx="5">
                  <c:v>0.05</c:v>
                </c:pt>
                <c:pt idx="6">
                  <c:v>7.4999999999999997E-2</c:v>
                </c:pt>
                <c:pt idx="7">
                  <c:v>0.1</c:v>
                </c:pt>
                <c:pt idx="8">
                  <c:v>0.125</c:v>
                </c:pt>
                <c:pt idx="9">
                  <c:v>0.15</c:v>
                </c:pt>
                <c:pt idx="10">
                  <c:v>0.17499999999999999</c:v>
                </c:pt>
                <c:pt idx="11">
                  <c:v>0.2</c:v>
                </c:pt>
                <c:pt idx="12">
                  <c:v>0.22499999999999998</c:v>
                </c:pt>
                <c:pt idx="13">
                  <c:v>0.25</c:v>
                </c:pt>
                <c:pt idx="14">
                  <c:v>0.27499999999999997</c:v>
                </c:pt>
                <c:pt idx="15">
                  <c:v>0.3</c:v>
                </c:pt>
                <c:pt idx="16">
                  <c:v>0.32499999999999996</c:v>
                </c:pt>
                <c:pt idx="17">
                  <c:v>0.35</c:v>
                </c:pt>
                <c:pt idx="18">
                  <c:v>0.37499999999999994</c:v>
                </c:pt>
                <c:pt idx="19">
                  <c:v>0.39999999999999997</c:v>
                </c:pt>
                <c:pt idx="20">
                  <c:v>0.42499999999999993</c:v>
                </c:pt>
                <c:pt idx="21">
                  <c:v>0.44999999999999996</c:v>
                </c:pt>
                <c:pt idx="22">
                  <c:v>0.47499999999999998</c:v>
                </c:pt>
                <c:pt idx="23">
                  <c:v>0.49999999999999994</c:v>
                </c:pt>
                <c:pt idx="24">
                  <c:v>0.52500000000000002</c:v>
                </c:pt>
                <c:pt idx="25">
                  <c:v>0.54999999999999993</c:v>
                </c:pt>
                <c:pt idx="26">
                  <c:v>0.57499999999999996</c:v>
                </c:pt>
                <c:pt idx="27">
                  <c:v>0.6</c:v>
                </c:pt>
                <c:pt idx="28">
                  <c:v>0.625</c:v>
                </c:pt>
                <c:pt idx="29">
                  <c:v>0.65</c:v>
                </c:pt>
                <c:pt idx="30">
                  <c:v>0.67500000000000004</c:v>
                </c:pt>
                <c:pt idx="31">
                  <c:v>0.7</c:v>
                </c:pt>
                <c:pt idx="32">
                  <c:v>0.72499999999999998</c:v>
                </c:pt>
                <c:pt idx="33">
                  <c:v>0.75</c:v>
                </c:pt>
                <c:pt idx="34">
                  <c:v>0.77500000000000002</c:v>
                </c:pt>
                <c:pt idx="35">
                  <c:v>0.79999999999999993</c:v>
                </c:pt>
                <c:pt idx="36">
                  <c:v>0.82499999999999996</c:v>
                </c:pt>
                <c:pt idx="37">
                  <c:v>0.85</c:v>
                </c:pt>
                <c:pt idx="38">
                  <c:v>0.875</c:v>
                </c:pt>
                <c:pt idx="39">
                  <c:v>0.9</c:v>
                </c:pt>
                <c:pt idx="40">
                  <c:v>0.92499999999999993</c:v>
                </c:pt>
                <c:pt idx="41">
                  <c:v>0.95</c:v>
                </c:pt>
                <c:pt idx="42">
                  <c:v>0.97499999999999998</c:v>
                </c:pt>
                <c:pt idx="43">
                  <c:v>1</c:v>
                </c:pt>
              </c:numCache>
            </c:numRef>
          </c:xVal>
          <c:yVal>
            <c:numRef>
              <c:f>Sheet1!$B$6:$B$49</c:f>
              <c:numCache>
                <c:formatCode>General</c:formatCode>
                <c:ptCount val="44"/>
                <c:pt idx="0">
                  <c:v>4.9628530994885747E-2</c:v>
                </c:pt>
                <c:pt idx="1">
                  <c:v>7.5587424172771839E-2</c:v>
                </c:pt>
                <c:pt idx="2">
                  <c:v>9.2140363666583791E-2</c:v>
                </c:pt>
                <c:pt idx="3">
                  <c:v>0.11382610250345014</c:v>
                </c:pt>
                <c:pt idx="4">
                  <c:v>0.12978016537747356</c:v>
                </c:pt>
                <c:pt idx="5">
                  <c:v>0.15459610540267107</c:v>
                </c:pt>
                <c:pt idx="6">
                  <c:v>0.17930406796118342</c:v>
                </c:pt>
                <c:pt idx="7">
                  <c:v>0.20042523437979118</c:v>
                </c:pt>
                <c:pt idx="8">
                  <c:v>0.2194256365857247</c:v>
                </c:pt>
                <c:pt idx="9">
                  <c:v>0.23702718217395238</c:v>
                </c:pt>
                <c:pt idx="10">
                  <c:v>0.25364752441024985</c:v>
                </c:pt>
                <c:pt idx="11">
                  <c:v>0.26955448541266913</c:v>
                </c:pt>
                <c:pt idx="12">
                  <c:v>0.28493287194441136</c:v>
                </c:pt>
                <c:pt idx="13">
                  <c:v>0.29991760139372531</c:v>
                </c:pt>
                <c:pt idx="14">
                  <c:v>0.31461180480395157</c:v>
                </c:pt>
                <c:pt idx="15">
                  <c:v>0.32909748294403263</c:v>
                </c:pt>
                <c:pt idx="16">
                  <c:v>0.34344216539015454</c:v>
                </c:pt>
                <c:pt idx="17">
                  <c:v>0.35770328862730649</c:v>
                </c:pt>
                <c:pt idx="18">
                  <c:v>0.37193120924684908</c:v>
                </c:pt>
                <c:pt idx="19">
                  <c:v>0.38617137111077604</c:v>
                </c:pt>
                <c:pt idx="20">
                  <c:v>0.40046593620493143</c:v>
                </c:pt>
                <c:pt idx="21">
                  <c:v>0.41485507362403351</c:v>
                </c:pt>
                <c:pt idx="22">
                  <c:v>0.42937803554884535</c:v>
                </c:pt>
                <c:pt idx="23">
                  <c:v>0.4440741113570254</c:v>
                </c:pt>
                <c:pt idx="24">
                  <c:v>0.45898352997258574</c:v>
                </c:pt>
                <c:pt idx="25">
                  <c:v>0.47414837045418451</c:v>
                </c:pt>
                <c:pt idx="26">
                  <c:v>0.48961353892457865</c:v>
                </c:pt>
                <c:pt idx="27">
                  <c:v>0.5054278754819721</c:v>
                </c:pt>
                <c:pt idx="28">
                  <c:v>0.52164546855755511</c:v>
                </c:pt>
                <c:pt idx="29">
                  <c:v>0.53832727897060484</c:v>
                </c:pt>
                <c:pt idx="30">
                  <c:v>0.55554321702441223</c:v>
                </c:pt>
                <c:pt idx="31">
                  <c:v>0.57337488323009533</c:v>
                </c:pt>
                <c:pt idx="32">
                  <c:v>0.59191929479437699</c:v>
                </c:pt>
                <c:pt idx="33">
                  <c:v>0.61129411028569303</c:v>
                </c:pt>
                <c:pt idx="34">
                  <c:v>0.63164520203289398</c:v>
                </c:pt>
                <c:pt idx="35">
                  <c:v>0.65315805213337286</c:v>
                </c:pt>
                <c:pt idx="36">
                  <c:v>0.67607568090806636</c:v>
                </c:pt>
                <c:pt idx="37">
                  <c:v>0.70072842344908948</c:v>
                </c:pt>
                <c:pt idx="38">
                  <c:v>0.72758689970765211</c:v>
                </c:pt>
                <c:pt idx="39">
                  <c:v>0.75736520240944905</c:v>
                </c:pt>
                <c:pt idx="40">
                  <c:v>0.79124918010548995</c:v>
                </c:pt>
                <c:pt idx="41">
                  <c:v>0.83151001077545361</c:v>
                </c:pt>
                <c:pt idx="42">
                  <c:v>0.88385117064913221</c:v>
                </c:pt>
                <c:pt idx="43">
                  <c:v>1</c:v>
                </c:pt>
              </c:numCache>
            </c:numRef>
          </c:yVal>
          <c:smooth val="0"/>
          <c:extLst>
            <c:ext xmlns:c16="http://schemas.microsoft.com/office/drawing/2014/chart" uri="{C3380CC4-5D6E-409C-BE32-E72D297353CC}">
              <c16:uniqueId val="{00000001-FAE5-4251-9268-BE5598715454}"/>
            </c:ext>
          </c:extLst>
        </c:ser>
        <c:ser>
          <c:idx val="2"/>
          <c:order val="2"/>
          <c:tx>
            <c:strRef>
              <c:f>Sheet1!$B$51</c:f>
              <c:strCache>
                <c:ptCount val="1"/>
                <c:pt idx="0">
                  <c:v>Kshitij</c:v>
                </c:pt>
              </c:strCache>
            </c:strRef>
          </c:tx>
          <c:spPr>
            <a:ln w="28575">
              <a:solidFill>
                <a:srgbClr val="FD4C00"/>
              </a:solidFill>
            </a:ln>
          </c:spPr>
          <c:marker>
            <c:symbol val="none"/>
          </c:marker>
          <c:xVal>
            <c:numRef>
              <c:f>Sheet1!$A$52:$A$95</c:f>
              <c:numCache>
                <c:formatCode>General</c:formatCode>
                <c:ptCount val="44"/>
                <c:pt idx="0">
                  <c:v>1E-3</c:v>
                </c:pt>
                <c:pt idx="1">
                  <c:v>5.0000000000000001E-3</c:v>
                </c:pt>
                <c:pt idx="2">
                  <c:v>0.01</c:v>
                </c:pt>
                <c:pt idx="3">
                  <c:v>0.02</c:v>
                </c:pt>
                <c:pt idx="4">
                  <c:v>0.03</c:v>
                </c:pt>
                <c:pt idx="5">
                  <c:v>0.05</c:v>
                </c:pt>
                <c:pt idx="6">
                  <c:v>7.4999999999999997E-2</c:v>
                </c:pt>
                <c:pt idx="7">
                  <c:v>0.1</c:v>
                </c:pt>
                <c:pt idx="8">
                  <c:v>0.125</c:v>
                </c:pt>
                <c:pt idx="9">
                  <c:v>0.15</c:v>
                </c:pt>
                <c:pt idx="10">
                  <c:v>0.17499999999999999</c:v>
                </c:pt>
                <c:pt idx="11">
                  <c:v>0.2</c:v>
                </c:pt>
                <c:pt idx="12">
                  <c:v>0.22499999999999998</c:v>
                </c:pt>
                <c:pt idx="13">
                  <c:v>0.25</c:v>
                </c:pt>
                <c:pt idx="14">
                  <c:v>0.27499999999999997</c:v>
                </c:pt>
                <c:pt idx="15">
                  <c:v>0.3</c:v>
                </c:pt>
                <c:pt idx="16">
                  <c:v>0.32499999999999996</c:v>
                </c:pt>
                <c:pt idx="17">
                  <c:v>0.35</c:v>
                </c:pt>
                <c:pt idx="18">
                  <c:v>0.37499999999999994</c:v>
                </c:pt>
                <c:pt idx="19">
                  <c:v>0.39999999999999997</c:v>
                </c:pt>
                <c:pt idx="20">
                  <c:v>0.42499999999999993</c:v>
                </c:pt>
                <c:pt idx="21">
                  <c:v>0.44999999999999996</c:v>
                </c:pt>
                <c:pt idx="22">
                  <c:v>0.47499999999999998</c:v>
                </c:pt>
                <c:pt idx="23">
                  <c:v>0.49999999999999994</c:v>
                </c:pt>
                <c:pt idx="24">
                  <c:v>0.52500000000000002</c:v>
                </c:pt>
                <c:pt idx="25">
                  <c:v>0.54999999999999993</c:v>
                </c:pt>
                <c:pt idx="26">
                  <c:v>0.57499999999999996</c:v>
                </c:pt>
                <c:pt idx="27">
                  <c:v>0.6</c:v>
                </c:pt>
                <c:pt idx="28">
                  <c:v>0.625</c:v>
                </c:pt>
                <c:pt idx="29">
                  <c:v>0.65</c:v>
                </c:pt>
                <c:pt idx="30">
                  <c:v>0.67500000000000004</c:v>
                </c:pt>
                <c:pt idx="31">
                  <c:v>0.7</c:v>
                </c:pt>
                <c:pt idx="32">
                  <c:v>0.72499999999999998</c:v>
                </c:pt>
                <c:pt idx="33">
                  <c:v>0.75</c:v>
                </c:pt>
                <c:pt idx="34">
                  <c:v>0.77500000000000002</c:v>
                </c:pt>
                <c:pt idx="35">
                  <c:v>0.79999999999999993</c:v>
                </c:pt>
                <c:pt idx="36">
                  <c:v>0.82499999999999996</c:v>
                </c:pt>
                <c:pt idx="37">
                  <c:v>0.85</c:v>
                </c:pt>
                <c:pt idx="38">
                  <c:v>0.875</c:v>
                </c:pt>
                <c:pt idx="39">
                  <c:v>0.9</c:v>
                </c:pt>
                <c:pt idx="40">
                  <c:v>0.92499999999999993</c:v>
                </c:pt>
                <c:pt idx="41">
                  <c:v>0.95</c:v>
                </c:pt>
                <c:pt idx="42">
                  <c:v>0.97499999999999998</c:v>
                </c:pt>
                <c:pt idx="43">
                  <c:v>1</c:v>
                </c:pt>
              </c:numCache>
            </c:numRef>
          </c:xVal>
          <c:yVal>
            <c:numRef>
              <c:f>Sheet1!$B$52:$B$95</c:f>
              <c:numCache>
                <c:formatCode>General</c:formatCode>
                <c:ptCount val="44"/>
                <c:pt idx="0">
                  <c:v>0.11459160902090942</c:v>
                </c:pt>
                <c:pt idx="1">
                  <c:v>0.14251655432434135</c:v>
                </c:pt>
                <c:pt idx="2">
                  <c:v>0.15849429513180269</c:v>
                </c:pt>
                <c:pt idx="3">
                  <c:v>0.17805172712795753</c:v>
                </c:pt>
                <c:pt idx="4">
                  <c:v>0.19170821634930113</c:v>
                </c:pt>
                <c:pt idx="5">
                  <c:v>0.21204385769572889</c:v>
                </c:pt>
                <c:pt idx="6">
                  <c:v>0.23146768633437559</c:v>
                </c:pt>
                <c:pt idx="7">
                  <c:v>0.24758464501777067</c:v>
                </c:pt>
                <c:pt idx="8">
                  <c:v>0.26178597510243218</c:v>
                </c:pt>
                <c:pt idx="9">
                  <c:v>0.27474089202385377</c:v>
                </c:pt>
                <c:pt idx="10">
                  <c:v>0.28682983358634839</c:v>
                </c:pt>
                <c:pt idx="11">
                  <c:v>0.29829339032082447</c:v>
                </c:pt>
                <c:pt idx="12">
                  <c:v>0.30929572069500177</c:v>
                </c:pt>
                <c:pt idx="13">
                  <c:v>0.31995558702600568</c:v>
                </c:pt>
                <c:pt idx="14">
                  <c:v>0.3303631352100046</c:v>
                </c:pt>
                <c:pt idx="15">
                  <c:v>0.34058968410813328</c:v>
                </c:pt>
                <c:pt idx="16">
                  <c:v>0.35069379926686445</c:v>
                </c:pt>
                <c:pt idx="17">
                  <c:v>0.36072526543234329</c:v>
                </c:pt>
                <c:pt idx="18">
                  <c:v>0.37072781330783167</c:v>
                </c:pt>
                <c:pt idx="19">
                  <c:v>0.38074108225130082</c:v>
                </c:pt>
                <c:pt idx="20">
                  <c:v>0.39080210543327892</c:v>
                </c:pt>
                <c:pt idx="21">
                  <c:v>0.40094649740242733</c:v>
                </c:pt>
                <c:pt idx="22">
                  <c:v>0.41120946417203863</c:v>
                </c:pt>
                <c:pt idx="23">
                  <c:v>0.42162672234077764</c:v>
                </c:pt>
                <c:pt idx="24">
                  <c:v>0.43223539604764843</c:v>
                </c:pt>
                <c:pt idx="25">
                  <c:v>0.44307495358788607</c:v>
                </c:pt>
                <c:pt idx="26">
                  <c:v>0.45418824710260336</c:v>
                </c:pt>
                <c:pt idx="27">
                  <c:v>0.46562272875944277</c:v>
                </c:pt>
                <c:pt idx="28">
                  <c:v>0.47743193700000458</c:v>
                </c:pt>
                <c:pt idx="29">
                  <c:v>0.48967738083443235</c:v>
                </c:pt>
                <c:pt idx="30">
                  <c:v>0.50243100657959039</c:v>
                </c:pt>
                <c:pt idx="31">
                  <c:v>0.51577852408534974</c:v>
                </c:pt>
                <c:pt idx="32">
                  <c:v>0.52982402477523849</c:v>
                </c:pt>
                <c:pt idx="33">
                  <c:v>0.54469659244545388</c:v>
                </c:pt>
                <c:pt idx="34">
                  <c:v>0.56056009164022336</c:v>
                </c:pt>
                <c:pt idx="35">
                  <c:v>0.57762823422019438</c:v>
                </c:pt>
                <c:pt idx="36">
                  <c:v>0.59618886524739778</c:v>
                </c:pt>
                <c:pt idx="37">
                  <c:v>0.61664539147278608</c:v>
                </c:pt>
                <c:pt idx="38">
                  <c:v>0.63959272985165871</c:v>
                </c:pt>
                <c:pt idx="39">
                  <c:v>0.66597048484530763</c:v>
                </c:pt>
                <c:pt idx="40">
                  <c:v>0.69741618656147841</c:v>
                </c:pt>
                <c:pt idx="41">
                  <c:v>0.73726601475143527</c:v>
                </c:pt>
                <c:pt idx="42">
                  <c:v>0.79468393990739661</c:v>
                </c:pt>
                <c:pt idx="43">
                  <c:v>1</c:v>
                </c:pt>
              </c:numCache>
            </c:numRef>
          </c:yVal>
          <c:smooth val="0"/>
          <c:extLst>
            <c:ext xmlns:c16="http://schemas.microsoft.com/office/drawing/2014/chart" uri="{C3380CC4-5D6E-409C-BE32-E72D297353CC}">
              <c16:uniqueId val="{00000002-FAE5-4251-9268-BE5598715454}"/>
            </c:ext>
          </c:extLst>
        </c:ser>
        <c:ser>
          <c:idx val="3"/>
          <c:order val="3"/>
          <c:tx>
            <c:strRef>
              <c:f>Sheet1!$B$97</c:f>
              <c:strCache>
                <c:ptCount val="1"/>
                <c:pt idx="0">
                  <c:v>Kartika</c:v>
                </c:pt>
              </c:strCache>
            </c:strRef>
          </c:tx>
          <c:spPr>
            <a:ln w="28575">
              <a:solidFill>
                <a:srgbClr val="12A385"/>
              </a:solidFill>
            </a:ln>
          </c:spPr>
          <c:marker>
            <c:symbol val="none"/>
          </c:marker>
          <c:xVal>
            <c:numRef>
              <c:f>Sheet1!$A$98:$A$141</c:f>
              <c:numCache>
                <c:formatCode>General</c:formatCode>
                <c:ptCount val="44"/>
                <c:pt idx="0">
                  <c:v>1E-3</c:v>
                </c:pt>
                <c:pt idx="1">
                  <c:v>5.0000000000000001E-3</c:v>
                </c:pt>
                <c:pt idx="2">
                  <c:v>0.01</c:v>
                </c:pt>
                <c:pt idx="3">
                  <c:v>0.02</c:v>
                </c:pt>
                <c:pt idx="4">
                  <c:v>0.03</c:v>
                </c:pt>
                <c:pt idx="5">
                  <c:v>0.05</c:v>
                </c:pt>
                <c:pt idx="6">
                  <c:v>7.4999999999999997E-2</c:v>
                </c:pt>
                <c:pt idx="7">
                  <c:v>0.1</c:v>
                </c:pt>
                <c:pt idx="8">
                  <c:v>0.125</c:v>
                </c:pt>
                <c:pt idx="9">
                  <c:v>0.15</c:v>
                </c:pt>
                <c:pt idx="10">
                  <c:v>0.17499999999999999</c:v>
                </c:pt>
                <c:pt idx="11">
                  <c:v>0.2</c:v>
                </c:pt>
                <c:pt idx="12">
                  <c:v>0.22499999999999998</c:v>
                </c:pt>
                <c:pt idx="13">
                  <c:v>0.25</c:v>
                </c:pt>
                <c:pt idx="14">
                  <c:v>0.27499999999999997</c:v>
                </c:pt>
                <c:pt idx="15">
                  <c:v>0.3</c:v>
                </c:pt>
                <c:pt idx="16">
                  <c:v>0.32499999999999996</c:v>
                </c:pt>
                <c:pt idx="17">
                  <c:v>0.35</c:v>
                </c:pt>
                <c:pt idx="18">
                  <c:v>0.37499999999999994</c:v>
                </c:pt>
                <c:pt idx="19">
                  <c:v>0.39999999999999997</c:v>
                </c:pt>
                <c:pt idx="20">
                  <c:v>0.42499999999999993</c:v>
                </c:pt>
                <c:pt idx="21">
                  <c:v>0.44999999999999996</c:v>
                </c:pt>
                <c:pt idx="22">
                  <c:v>0.47499999999999998</c:v>
                </c:pt>
                <c:pt idx="23">
                  <c:v>0.49999999999999994</c:v>
                </c:pt>
                <c:pt idx="24">
                  <c:v>0.52500000000000002</c:v>
                </c:pt>
                <c:pt idx="25">
                  <c:v>0.54999999999999993</c:v>
                </c:pt>
                <c:pt idx="26">
                  <c:v>0.57499999999999996</c:v>
                </c:pt>
                <c:pt idx="27">
                  <c:v>0.6</c:v>
                </c:pt>
                <c:pt idx="28">
                  <c:v>0.625</c:v>
                </c:pt>
                <c:pt idx="29">
                  <c:v>0.65</c:v>
                </c:pt>
                <c:pt idx="30">
                  <c:v>0.67500000000000004</c:v>
                </c:pt>
                <c:pt idx="31">
                  <c:v>0.7</c:v>
                </c:pt>
                <c:pt idx="32">
                  <c:v>0.72499999999999998</c:v>
                </c:pt>
                <c:pt idx="33">
                  <c:v>0.75</c:v>
                </c:pt>
                <c:pt idx="34">
                  <c:v>0.77500000000000002</c:v>
                </c:pt>
                <c:pt idx="35">
                  <c:v>0.79999999999999993</c:v>
                </c:pt>
                <c:pt idx="36">
                  <c:v>0.82499999999999996</c:v>
                </c:pt>
                <c:pt idx="37">
                  <c:v>0.85</c:v>
                </c:pt>
                <c:pt idx="38">
                  <c:v>0.875</c:v>
                </c:pt>
                <c:pt idx="39">
                  <c:v>0.9</c:v>
                </c:pt>
                <c:pt idx="40">
                  <c:v>0.92499999999999993</c:v>
                </c:pt>
                <c:pt idx="41">
                  <c:v>0.95</c:v>
                </c:pt>
                <c:pt idx="42">
                  <c:v>0.97499999999999998</c:v>
                </c:pt>
                <c:pt idx="43">
                  <c:v>1</c:v>
                </c:pt>
              </c:numCache>
            </c:numRef>
          </c:xVal>
          <c:yVal>
            <c:numRef>
              <c:f>Sheet1!$B$98:$B$141</c:f>
              <c:numCache>
                <c:formatCode>General</c:formatCode>
                <c:ptCount val="44"/>
                <c:pt idx="0">
                  <c:v>1.0000000000000002E-3</c:v>
                </c:pt>
                <c:pt idx="1">
                  <c:v>5.0000000000000018E-3</c:v>
                </c:pt>
                <c:pt idx="2">
                  <c:v>1.0000000000000004E-2</c:v>
                </c:pt>
                <c:pt idx="3">
                  <c:v>0.02</c:v>
                </c:pt>
                <c:pt idx="4">
                  <c:v>2.9999999999999995E-2</c:v>
                </c:pt>
                <c:pt idx="5">
                  <c:v>5.000000000000001E-2</c:v>
                </c:pt>
                <c:pt idx="6">
                  <c:v>7.4999999999999997E-2</c:v>
                </c:pt>
                <c:pt idx="7">
                  <c:v>0.10000000000000002</c:v>
                </c:pt>
                <c:pt idx="8">
                  <c:v>0.12500000000000003</c:v>
                </c:pt>
                <c:pt idx="9">
                  <c:v>0.15</c:v>
                </c:pt>
                <c:pt idx="10">
                  <c:v>0.17499999999999999</c:v>
                </c:pt>
                <c:pt idx="11">
                  <c:v>0.2</c:v>
                </c:pt>
                <c:pt idx="12">
                  <c:v>0.22500000000000001</c:v>
                </c:pt>
                <c:pt idx="13">
                  <c:v>0.25</c:v>
                </c:pt>
                <c:pt idx="14">
                  <c:v>0.27499999999999997</c:v>
                </c:pt>
                <c:pt idx="15">
                  <c:v>0.3</c:v>
                </c:pt>
                <c:pt idx="16">
                  <c:v>0.32499999999999996</c:v>
                </c:pt>
                <c:pt idx="17">
                  <c:v>0.34999999999999992</c:v>
                </c:pt>
                <c:pt idx="18">
                  <c:v>0.37499999999999994</c:v>
                </c:pt>
                <c:pt idx="19">
                  <c:v>0.39999999999999997</c:v>
                </c:pt>
                <c:pt idx="20">
                  <c:v>0.42499999999999993</c:v>
                </c:pt>
                <c:pt idx="21">
                  <c:v>0.44999999999999996</c:v>
                </c:pt>
                <c:pt idx="22">
                  <c:v>0.47499999999999998</c:v>
                </c:pt>
                <c:pt idx="23">
                  <c:v>0.49999999999999994</c:v>
                </c:pt>
                <c:pt idx="24">
                  <c:v>0.52500000000000002</c:v>
                </c:pt>
                <c:pt idx="25">
                  <c:v>0.54999999999999993</c:v>
                </c:pt>
                <c:pt idx="26">
                  <c:v>0.57499999999999996</c:v>
                </c:pt>
                <c:pt idx="27">
                  <c:v>0.6</c:v>
                </c:pt>
                <c:pt idx="28">
                  <c:v>0.625</c:v>
                </c:pt>
                <c:pt idx="29">
                  <c:v>0.65</c:v>
                </c:pt>
                <c:pt idx="30">
                  <c:v>0.67500000000000004</c:v>
                </c:pt>
                <c:pt idx="31">
                  <c:v>0.7</c:v>
                </c:pt>
                <c:pt idx="32">
                  <c:v>0.72499999999999998</c:v>
                </c:pt>
                <c:pt idx="33">
                  <c:v>0.75</c:v>
                </c:pt>
                <c:pt idx="34">
                  <c:v>0.77500000000000002</c:v>
                </c:pt>
                <c:pt idx="35">
                  <c:v>0.79999999999999993</c:v>
                </c:pt>
                <c:pt idx="36">
                  <c:v>0.82499999999999996</c:v>
                </c:pt>
                <c:pt idx="37">
                  <c:v>0.85</c:v>
                </c:pt>
                <c:pt idx="38">
                  <c:v>0.875</c:v>
                </c:pt>
                <c:pt idx="39">
                  <c:v>0.9</c:v>
                </c:pt>
                <c:pt idx="40">
                  <c:v>0.92499999999999993</c:v>
                </c:pt>
                <c:pt idx="41">
                  <c:v>0.95</c:v>
                </c:pt>
                <c:pt idx="42">
                  <c:v>0.97499999999999998</c:v>
                </c:pt>
                <c:pt idx="43">
                  <c:v>1</c:v>
                </c:pt>
              </c:numCache>
            </c:numRef>
          </c:yVal>
          <c:smooth val="0"/>
          <c:extLst>
            <c:ext xmlns:c16="http://schemas.microsoft.com/office/drawing/2014/chart" uri="{C3380CC4-5D6E-409C-BE32-E72D297353CC}">
              <c16:uniqueId val="{00000003-FAE5-4251-9268-BE5598715454}"/>
            </c:ext>
          </c:extLst>
        </c:ser>
        <c:ser>
          <c:idx val="4"/>
          <c:order val="4"/>
          <c:tx>
            <c:strRef>
              <c:f>Sheet1!$B$143</c:f>
              <c:strCache>
                <c:ptCount val="1"/>
                <c:pt idx="0">
                  <c:v>Ayushi</c:v>
                </c:pt>
              </c:strCache>
            </c:strRef>
          </c:tx>
          <c:spPr>
            <a:ln w="28575">
              <a:solidFill>
                <a:srgbClr val="CA54FB"/>
              </a:solidFill>
            </a:ln>
          </c:spPr>
          <c:marker>
            <c:symbol val="none"/>
          </c:marker>
          <c:xVal>
            <c:numRef>
              <c:f>Sheet1!$A$144:$A$187</c:f>
              <c:numCache>
                <c:formatCode>General</c:formatCode>
                <c:ptCount val="44"/>
                <c:pt idx="0">
                  <c:v>1E-3</c:v>
                </c:pt>
                <c:pt idx="1">
                  <c:v>5.0000000000000001E-3</c:v>
                </c:pt>
                <c:pt idx="2">
                  <c:v>0.01</c:v>
                </c:pt>
                <c:pt idx="3">
                  <c:v>0.02</c:v>
                </c:pt>
                <c:pt idx="4">
                  <c:v>0.03</c:v>
                </c:pt>
                <c:pt idx="5">
                  <c:v>0.05</c:v>
                </c:pt>
                <c:pt idx="6">
                  <c:v>7.4999999999999997E-2</c:v>
                </c:pt>
                <c:pt idx="7">
                  <c:v>0.1</c:v>
                </c:pt>
                <c:pt idx="8">
                  <c:v>0.125</c:v>
                </c:pt>
                <c:pt idx="9">
                  <c:v>0.15</c:v>
                </c:pt>
                <c:pt idx="10">
                  <c:v>0.17499999999999999</c:v>
                </c:pt>
                <c:pt idx="11">
                  <c:v>0.2</c:v>
                </c:pt>
                <c:pt idx="12">
                  <c:v>0.22499999999999998</c:v>
                </c:pt>
                <c:pt idx="13">
                  <c:v>0.25</c:v>
                </c:pt>
                <c:pt idx="14">
                  <c:v>0.27499999999999997</c:v>
                </c:pt>
                <c:pt idx="15">
                  <c:v>0.3</c:v>
                </c:pt>
                <c:pt idx="16">
                  <c:v>0.32499999999999996</c:v>
                </c:pt>
                <c:pt idx="17">
                  <c:v>0.35</c:v>
                </c:pt>
                <c:pt idx="18">
                  <c:v>0.37499999999999994</c:v>
                </c:pt>
                <c:pt idx="19">
                  <c:v>0.39999999999999997</c:v>
                </c:pt>
                <c:pt idx="20">
                  <c:v>0.42499999999999993</c:v>
                </c:pt>
                <c:pt idx="21">
                  <c:v>0.44999999999999996</c:v>
                </c:pt>
                <c:pt idx="22">
                  <c:v>0.47499999999999998</c:v>
                </c:pt>
                <c:pt idx="23">
                  <c:v>0.49999999999999994</c:v>
                </c:pt>
                <c:pt idx="24">
                  <c:v>0.52500000000000002</c:v>
                </c:pt>
                <c:pt idx="25">
                  <c:v>0.54999999999999993</c:v>
                </c:pt>
                <c:pt idx="26">
                  <c:v>0.57499999999999996</c:v>
                </c:pt>
                <c:pt idx="27">
                  <c:v>0.6</c:v>
                </c:pt>
                <c:pt idx="28">
                  <c:v>0.625</c:v>
                </c:pt>
                <c:pt idx="29">
                  <c:v>0.65</c:v>
                </c:pt>
                <c:pt idx="30">
                  <c:v>0.67500000000000004</c:v>
                </c:pt>
                <c:pt idx="31">
                  <c:v>0.7</c:v>
                </c:pt>
                <c:pt idx="32">
                  <c:v>0.72499999999999998</c:v>
                </c:pt>
                <c:pt idx="33">
                  <c:v>0.75</c:v>
                </c:pt>
                <c:pt idx="34">
                  <c:v>0.77500000000000002</c:v>
                </c:pt>
                <c:pt idx="35">
                  <c:v>0.79999999999999993</c:v>
                </c:pt>
                <c:pt idx="36">
                  <c:v>0.82499999999999996</c:v>
                </c:pt>
                <c:pt idx="37">
                  <c:v>0.85</c:v>
                </c:pt>
                <c:pt idx="38">
                  <c:v>0.875</c:v>
                </c:pt>
                <c:pt idx="39">
                  <c:v>0.9</c:v>
                </c:pt>
                <c:pt idx="40">
                  <c:v>0.92499999999999993</c:v>
                </c:pt>
                <c:pt idx="41">
                  <c:v>0.95</c:v>
                </c:pt>
                <c:pt idx="42">
                  <c:v>0.97499999999999998</c:v>
                </c:pt>
                <c:pt idx="43">
                  <c:v>1</c:v>
                </c:pt>
              </c:numCache>
            </c:numRef>
          </c:xVal>
          <c:yVal>
            <c:numRef>
              <c:f>Sheet1!$B$144:$B$187</c:f>
              <c:numCache>
                <c:formatCode>General</c:formatCode>
                <c:ptCount val="44"/>
                <c:pt idx="0">
                  <c:v>2.6918729167615339E-4</c:v>
                </c:pt>
                <c:pt idx="1">
                  <c:v>2.1203652730077739E-3</c:v>
                </c:pt>
                <c:pt idx="2">
                  <c:v>5.0736455353087512E-3</c:v>
                </c:pt>
                <c:pt idx="3">
                  <c:v>1.1998111995149635E-2</c:v>
                </c:pt>
                <c:pt idx="4">
                  <c:v>1.9727752046921471E-2</c:v>
                </c:pt>
                <c:pt idx="5">
                  <c:v>3.6638697028770047E-2</c:v>
                </c:pt>
                <c:pt idx="6">
                  <c:v>5.9491271519030213E-2</c:v>
                </c:pt>
                <c:pt idx="7">
                  <c:v>8.3569542845757711E-2</c:v>
                </c:pt>
                <c:pt idx="8">
                  <c:v>0.10849314008670129</c:v>
                </c:pt>
                <c:pt idx="9">
                  <c:v>0.13403377802955316</c:v>
                </c:pt>
                <c:pt idx="10">
                  <c:v>0.16003880558602582</c:v>
                </c:pt>
                <c:pt idx="11">
                  <c:v>0.18639875875965328</c:v>
                </c:pt>
                <c:pt idx="12">
                  <c:v>0.21303114446412255</c:v>
                </c:pt>
                <c:pt idx="13">
                  <c:v>0.23987140901382356</c:v>
                </c:pt>
                <c:pt idx="14">
                  <c:v>0.26686749976516305</c:v>
                </c:pt>
                <c:pt idx="15">
                  <c:v>0.2939763897009734</c:v>
                </c:pt>
                <c:pt idx="16">
                  <c:v>0.32116174884541548</c:v>
                </c:pt>
                <c:pt idx="17">
                  <c:v>0.34839232194670983</c:v>
                </c:pt>
                <c:pt idx="18">
                  <c:v>0.3756407598188457</c:v>
                </c:pt>
                <c:pt idx="19">
                  <c:v>0.40288275210934826</c:v>
                </c:pt>
                <c:pt idx="20">
                  <c:v>0.43009636577023724</c:v>
                </c:pt>
                <c:pt idx="21">
                  <c:v>0.45726152672752701</c:v>
                </c:pt>
                <c:pt idx="22">
                  <c:v>0.48435960246198623</c:v>
                </c:pt>
                <c:pt idx="23">
                  <c:v>0.51137305584279558</c:v>
                </c:pt>
                <c:pt idx="24">
                  <c:v>0.53828514855979259</c:v>
                </c:pt>
                <c:pt idx="25">
                  <c:v>0.56507967754853428</c:v>
                </c:pt>
                <c:pt idx="26">
                  <c:v>0.59174073084313783</c:v>
                </c:pt>
                <c:pt idx="27">
                  <c:v>0.61825245084113079</c:v>
                </c:pt>
                <c:pt idx="28">
                  <c:v>0.64459879325019942</c:v>
                </c:pt>
                <c:pt idx="29">
                  <c:v>0.67076326900267125</c:v>
                </c:pt>
                <c:pt idx="30">
                  <c:v>0.69672865391604211</c:v>
                </c:pt>
                <c:pt idx="31">
                  <c:v>0.72247664625359731</c:v>
                </c:pt>
                <c:pt idx="32">
                  <c:v>0.74798744444831766</c:v>
                </c:pt>
                <c:pt idx="33">
                  <c:v>0.77323920392960832</c:v>
                </c:pt>
                <c:pt idx="34">
                  <c:v>0.79820730907090454</c:v>
                </c:pt>
                <c:pt idx="35">
                  <c:v>0.82286335539652666</c:v>
                </c:pt>
                <c:pt idx="36">
                  <c:v>0.84717366055442034</c:v>
                </c:pt>
                <c:pt idx="37">
                  <c:v>0.87109696940136272</c:v>
                </c:pt>
                <c:pt idx="38">
                  <c:v>0.89458068631966781</c:v>
                </c:pt>
                <c:pt idx="39">
                  <c:v>0.91755416595445349</c:v>
                </c:pt>
                <c:pt idx="40">
                  <c:v>0.93991535398743042</c:v>
                </c:pt>
                <c:pt idx="41">
                  <c:v>0.96149931735369132</c:v>
                </c:pt>
                <c:pt idx="42">
                  <c:v>0.98197847989225306</c:v>
                </c:pt>
                <c:pt idx="43">
                  <c:v>1</c:v>
                </c:pt>
              </c:numCache>
            </c:numRef>
          </c:yVal>
          <c:smooth val="0"/>
          <c:extLst>
            <c:ext xmlns:c16="http://schemas.microsoft.com/office/drawing/2014/chart" uri="{C3380CC4-5D6E-409C-BE32-E72D297353CC}">
              <c16:uniqueId val="{00000004-FAE5-4251-9268-BE5598715454}"/>
            </c:ext>
          </c:extLst>
        </c:ser>
        <c:ser>
          <c:idx val="5"/>
          <c:order val="5"/>
          <c:tx>
            <c:strRef>
              <c:f>Sheet1!$B$189</c:f>
              <c:strCache>
                <c:ptCount val="1"/>
                <c:pt idx="0">
                  <c:v>Adwaaiit Pande</c:v>
                </c:pt>
              </c:strCache>
            </c:strRef>
          </c:tx>
          <c:spPr>
            <a:ln w="28575">
              <a:solidFill>
                <a:srgbClr val="D69E00"/>
              </a:solidFill>
            </a:ln>
          </c:spPr>
          <c:marker>
            <c:symbol val="none"/>
          </c:marker>
          <c:xVal>
            <c:numRef>
              <c:f>Sheet1!$A$190:$A$233</c:f>
              <c:numCache>
                <c:formatCode>General</c:formatCode>
                <c:ptCount val="44"/>
                <c:pt idx="0">
                  <c:v>1E-3</c:v>
                </c:pt>
                <c:pt idx="1">
                  <c:v>5.0000000000000001E-3</c:v>
                </c:pt>
                <c:pt idx="2">
                  <c:v>0.01</c:v>
                </c:pt>
                <c:pt idx="3">
                  <c:v>0.02</c:v>
                </c:pt>
                <c:pt idx="4">
                  <c:v>0.03</c:v>
                </c:pt>
                <c:pt idx="5">
                  <c:v>0.05</c:v>
                </c:pt>
                <c:pt idx="6">
                  <c:v>7.4999999999999997E-2</c:v>
                </c:pt>
                <c:pt idx="7">
                  <c:v>0.1</c:v>
                </c:pt>
                <c:pt idx="8">
                  <c:v>0.125</c:v>
                </c:pt>
                <c:pt idx="9">
                  <c:v>0.15</c:v>
                </c:pt>
                <c:pt idx="10">
                  <c:v>0.17499999999999999</c:v>
                </c:pt>
                <c:pt idx="11">
                  <c:v>0.2</c:v>
                </c:pt>
                <c:pt idx="12">
                  <c:v>0.22499999999999998</c:v>
                </c:pt>
                <c:pt idx="13">
                  <c:v>0.25</c:v>
                </c:pt>
                <c:pt idx="14">
                  <c:v>0.27499999999999997</c:v>
                </c:pt>
                <c:pt idx="15">
                  <c:v>0.3</c:v>
                </c:pt>
                <c:pt idx="16">
                  <c:v>0.32499999999999996</c:v>
                </c:pt>
                <c:pt idx="17">
                  <c:v>0.35</c:v>
                </c:pt>
                <c:pt idx="18">
                  <c:v>0.37499999999999994</c:v>
                </c:pt>
                <c:pt idx="19">
                  <c:v>0.39999999999999997</c:v>
                </c:pt>
                <c:pt idx="20">
                  <c:v>0.42499999999999993</c:v>
                </c:pt>
                <c:pt idx="21">
                  <c:v>0.44999999999999996</c:v>
                </c:pt>
                <c:pt idx="22">
                  <c:v>0.47499999999999998</c:v>
                </c:pt>
                <c:pt idx="23">
                  <c:v>0.49999999999999994</c:v>
                </c:pt>
                <c:pt idx="24">
                  <c:v>0.52500000000000002</c:v>
                </c:pt>
                <c:pt idx="25">
                  <c:v>0.54999999999999993</c:v>
                </c:pt>
                <c:pt idx="26">
                  <c:v>0.57499999999999996</c:v>
                </c:pt>
                <c:pt idx="27">
                  <c:v>0.6</c:v>
                </c:pt>
                <c:pt idx="28">
                  <c:v>0.625</c:v>
                </c:pt>
                <c:pt idx="29">
                  <c:v>0.65</c:v>
                </c:pt>
                <c:pt idx="30">
                  <c:v>0.67500000000000004</c:v>
                </c:pt>
                <c:pt idx="31">
                  <c:v>0.7</c:v>
                </c:pt>
                <c:pt idx="32">
                  <c:v>0.72499999999999998</c:v>
                </c:pt>
                <c:pt idx="33">
                  <c:v>0.75</c:v>
                </c:pt>
                <c:pt idx="34">
                  <c:v>0.77500000000000002</c:v>
                </c:pt>
                <c:pt idx="35">
                  <c:v>0.79999999999999993</c:v>
                </c:pt>
                <c:pt idx="36">
                  <c:v>0.82499999999999996</c:v>
                </c:pt>
                <c:pt idx="37">
                  <c:v>0.85</c:v>
                </c:pt>
                <c:pt idx="38">
                  <c:v>0.875</c:v>
                </c:pt>
                <c:pt idx="39">
                  <c:v>0.9</c:v>
                </c:pt>
                <c:pt idx="40">
                  <c:v>0.92499999999999993</c:v>
                </c:pt>
                <c:pt idx="41">
                  <c:v>0.95</c:v>
                </c:pt>
                <c:pt idx="42">
                  <c:v>0.97499999999999998</c:v>
                </c:pt>
                <c:pt idx="43">
                  <c:v>1</c:v>
                </c:pt>
              </c:numCache>
            </c:numRef>
          </c:xVal>
          <c:yVal>
            <c:numRef>
              <c:f>Sheet1!$B$190:$B$233</c:f>
              <c:numCache>
                <c:formatCode>General</c:formatCode>
                <c:ptCount val="44"/>
                <c:pt idx="0">
                  <c:v>1.2827612600367878E-5</c:v>
                </c:pt>
                <c:pt idx="1">
                  <c:v>3.1005429468317444E-4</c:v>
                </c:pt>
                <c:pt idx="2">
                  <c:v>1.1395224453555324E-3</c:v>
                </c:pt>
                <c:pt idx="3">
                  <c:v>3.9885735683297683E-3</c:v>
                </c:pt>
                <c:pt idx="4">
                  <c:v>8.0946802024445853E-3</c:v>
                </c:pt>
                <c:pt idx="5">
                  <c:v>1.9174067093363365E-2</c:v>
                </c:pt>
                <c:pt idx="6">
                  <c:v>3.7049679218337253E-2</c:v>
                </c:pt>
                <c:pt idx="7">
                  <c:v>5.8220380317701208E-2</c:v>
                </c:pt>
                <c:pt idx="8">
                  <c:v>8.1873838871480462E-2</c:v>
                </c:pt>
                <c:pt idx="9">
                  <c:v>0.10744677560467403</c:v>
                </c:pt>
                <c:pt idx="10">
                  <c:v>0.13452252489986588</c:v>
                </c:pt>
                <c:pt idx="11">
                  <c:v>0.16277926656480193</c:v>
                </c:pt>
                <c:pt idx="12">
                  <c:v>0.19196053395318383</c:v>
                </c:pt>
                <c:pt idx="13">
                  <c:v>0.22185698492430475</c:v>
                </c:pt>
                <c:pt idx="14">
                  <c:v>0.25229444068843376</c:v>
                </c:pt>
                <c:pt idx="15">
                  <c:v>0.28312566782631388</c:v>
                </c:pt>
                <c:pt idx="16">
                  <c:v>0.31422452037037529</c:v>
                </c:pt>
                <c:pt idx="17">
                  <c:v>0.34548163526866082</c:v>
                </c:pt>
                <c:pt idx="18">
                  <c:v>0.37680118641195404</c:v>
                </c:pt>
                <c:pt idx="19">
                  <c:v>0.40809838073521071</c:v>
                </c:pt>
                <c:pt idx="20">
                  <c:v>0.43929748660593859</c:v>
                </c:pt>
                <c:pt idx="21">
                  <c:v>0.47033025098493397</c:v>
                </c:pt>
                <c:pt idx="22">
                  <c:v>0.50113460427994672</c:v>
                </c:pt>
                <c:pt idx="23">
                  <c:v>0.53165357963298665</c:v>
                </c:pt>
                <c:pt idx="24">
                  <c:v>0.56183439190050444</c:v>
                </c:pt>
                <c:pt idx="25">
                  <c:v>0.59162763394360829</c:v>
                </c:pt>
                <c:pt idx="26">
                  <c:v>0.62098655591719842</c:v>
                </c:pt>
                <c:pt idx="27">
                  <c:v>0.64986639812171698</c:v>
                </c:pt>
                <c:pt idx="28">
                  <c:v>0.67822375021272319</c:v>
                </c:pt>
                <c:pt idx="29">
                  <c:v>0.70601590927476021</c:v>
                </c:pt>
                <c:pt idx="30">
                  <c:v>0.73320020614150172</c:v>
                </c:pt>
                <c:pt idx="31">
                  <c:v>0.7597332624940335</c:v>
                </c:pt>
                <c:pt idx="32">
                  <c:v>0.78557012889358668</c:v>
                </c:pt>
                <c:pt idx="33">
                  <c:v>0.8106632325788341</c:v>
                </c:pt>
                <c:pt idx="34">
                  <c:v>0.83496102700721186</c:v>
                </c:pt>
                <c:pt idx="35">
                  <c:v>0.85840616964604821</c:v>
                </c:pt>
                <c:pt idx="36">
                  <c:v>0.88093293283446061</c:v>
                </c:pt>
                <c:pt idx="37">
                  <c:v>0.9024633122234611</c:v>
                </c:pt>
                <c:pt idx="38">
                  <c:v>0.9229007837488481</c:v>
                </c:pt>
                <c:pt idx="39">
                  <c:v>0.94211944284353</c:v>
                </c:pt>
                <c:pt idx="40">
                  <c:v>0.9599429360054863</c:v>
                </c:pt>
                <c:pt idx="41">
                  <c:v>0.97609642402774333</c:v>
                </c:pt>
                <c:pt idx="42">
                  <c:v>0.99006138717158976</c:v>
                </c:pt>
                <c:pt idx="43">
                  <c:v>1</c:v>
                </c:pt>
              </c:numCache>
            </c:numRef>
          </c:yVal>
          <c:smooth val="0"/>
          <c:extLst>
            <c:ext xmlns:c16="http://schemas.microsoft.com/office/drawing/2014/chart" uri="{C3380CC4-5D6E-409C-BE32-E72D297353CC}">
              <c16:uniqueId val="{00000005-FAE5-4251-9268-BE5598715454}"/>
            </c:ext>
          </c:extLst>
        </c:ser>
        <c:dLbls>
          <c:showLegendKey val="0"/>
          <c:showVal val="0"/>
          <c:showCatName val="0"/>
          <c:showSerName val="0"/>
          <c:showPercent val="0"/>
          <c:showBubbleSize val="0"/>
        </c:dLbls>
        <c:axId val="-2128940872"/>
        <c:axId val="-2129643912"/>
      </c:scatterChart>
      <c:valAx>
        <c:axId val="-2128940872"/>
        <c:scaling>
          <c:orientation val="minMax"/>
          <c:max val="1"/>
          <c:min val="0"/>
        </c:scaling>
        <c:delete val="0"/>
        <c:axPos val="b"/>
        <c:title>
          <c:tx>
            <c:rich>
              <a:bodyPr/>
              <a:lstStyle/>
              <a:p>
                <a:r>
                  <a:rPr lang="en-IN" sz="1050" b="0">
                    <a:solidFill>
                      <a:srgbClr val="5F6266"/>
                    </a:solidFill>
                  </a:rPr>
                  <a:t>Objective probability p</a:t>
                </a:r>
              </a:p>
            </c:rich>
          </c:tx>
          <c:overlay val="0"/>
        </c:title>
        <c:numFmt formatCode="0.00" sourceLinked="0"/>
        <c:majorTickMark val="out"/>
        <c:minorTickMark val="none"/>
        <c:tickLblPos val="low"/>
        <c:spPr>
          <a:ln>
            <a:solidFill>
              <a:srgbClr val="B9B6B8"/>
            </a:solidFill>
          </a:ln>
        </c:spPr>
        <c:txPr>
          <a:bodyPr/>
          <a:lstStyle/>
          <a:p>
            <a:pPr>
              <a:defRPr sz="1000">
                <a:solidFill>
                  <a:srgbClr val="5F6266"/>
                </a:solidFill>
              </a:defRPr>
            </a:pPr>
            <a:endParaRPr lang="en-US"/>
          </a:p>
        </c:txPr>
        <c:crossAx val="-2129643912"/>
        <c:crosses val="autoZero"/>
        <c:crossBetween val="midCat"/>
        <c:majorUnit val="0.25"/>
      </c:valAx>
      <c:valAx>
        <c:axId val="-2129643912"/>
        <c:scaling>
          <c:orientation val="minMax"/>
          <c:max val="1"/>
          <c:min val="0"/>
        </c:scaling>
        <c:delete val="0"/>
        <c:axPos val="l"/>
        <c:majorGridlines>
          <c:spPr>
            <a:ln w="9525">
              <a:solidFill>
                <a:srgbClr val="E7E4E6"/>
              </a:solidFill>
            </a:ln>
          </c:spPr>
        </c:majorGridlines>
        <c:title>
          <c:tx>
            <c:rich>
              <a:bodyPr/>
              <a:lstStyle/>
              <a:p>
                <a:r>
                  <a:rPr lang="en-IN" sz="1050" b="0">
                    <a:solidFill>
                      <a:srgbClr val="5F6266"/>
                    </a:solidFill>
                  </a:rPr>
                  <a:t>Decision weight w(p)</a:t>
                </a:r>
              </a:p>
            </c:rich>
          </c:tx>
          <c:overlay val="0"/>
        </c:title>
        <c:numFmt formatCode="0.00" sourceLinked="0"/>
        <c:majorTickMark val="out"/>
        <c:minorTickMark val="none"/>
        <c:tickLblPos val="low"/>
        <c:spPr>
          <a:ln>
            <a:solidFill>
              <a:srgbClr val="B9B6B8"/>
            </a:solidFill>
          </a:ln>
        </c:spPr>
        <c:txPr>
          <a:bodyPr/>
          <a:lstStyle/>
          <a:p>
            <a:pPr>
              <a:defRPr sz="1000">
                <a:solidFill>
                  <a:srgbClr val="5F6266"/>
                </a:solidFill>
              </a:defRPr>
            </a:pPr>
            <a:endParaRPr lang="en-US"/>
          </a:p>
        </c:txPr>
        <c:crossAx val="-2128940872"/>
        <c:crosses val="autoZero"/>
        <c:crossBetween val="midCat"/>
        <c:majorUnit val="0.25"/>
      </c:valAx>
    </c:plotArea>
    <c:plotVisOnly val="1"/>
    <c:dispBlanksAs val="gap"/>
    <c:showDLblsOverMax val="0"/>
  </c:chart>
  <c:txPr>
    <a:bodyPr/>
    <a:lstStyle/>
    <a:p>
      <a:pPr>
        <a:defRPr sz="1000">
          <a:solidFill>
            <a:srgbClr val="36393B"/>
          </a:solidFill>
          <a:latin typeface="+mn-l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IN" sz="1300" b="1">
                <a:solidFill>
                  <a:srgbClr val="36393B"/>
                </a:solidFill>
              </a:rPr>
              <a:t>Time preference (quasi-hyperbolic)</a:t>
            </a:r>
          </a:p>
          <a:p>
            <a:r>
              <a:rPr lang="en-IN" sz="1050" b="0" i="1">
                <a:solidFill>
                  <a:srgbClr val="5F6266"/>
                </a:solidFill>
              </a:rPr>
              <a:t>D(0) = 1,  D(t) = </a:t>
            </a:r>
            <a:r>
              <a:rPr lang="el-GR" sz="1050" b="0" i="1">
                <a:solidFill>
                  <a:srgbClr val="5F6266"/>
                </a:solidFill>
              </a:rPr>
              <a:t>β·δ^(</a:t>
            </a:r>
            <a:r>
              <a:rPr lang="en-IN" sz="1050" b="0" i="1">
                <a:solidFill>
                  <a:srgbClr val="5F6266"/>
                </a:solidFill>
              </a:rPr>
              <a:t>t/30) for t &gt; 0</a:t>
            </a:r>
          </a:p>
        </c:rich>
      </c:tx>
      <c:overlay val="0"/>
    </c:title>
    <c:autoTitleDeleted val="0"/>
    <c:plotArea>
      <c:layout/>
      <c:scatterChart>
        <c:scatterStyle val="lineMarker"/>
        <c:varyColors val="0"/>
        <c:ser>
          <c:idx val="0"/>
          <c:order val="0"/>
          <c:tx>
            <c:strRef>
              <c:f>Sheet1!$B$1</c:f>
              <c:strCache>
                <c:ptCount val="1"/>
                <c:pt idx="0">
                  <c:v>Shree Charan</c:v>
                </c:pt>
              </c:strCache>
            </c:strRef>
          </c:tx>
          <c:spPr>
            <a:ln w="28575">
              <a:solidFill>
                <a:srgbClr val="4D62EF"/>
              </a:solidFill>
            </a:ln>
          </c:spPr>
          <c:marker>
            <c:symbol val="none"/>
          </c:marker>
          <c:xVal>
            <c:numRef>
              <c:f>Sheet1!$A$2:$A$39</c:f>
              <c:numCache>
                <c:formatCode>General</c:formatCode>
                <c:ptCount val="38"/>
                <c:pt idx="0">
                  <c:v>0</c:v>
                </c:pt>
                <c:pt idx="1">
                  <c:v>1</c:v>
                </c:pt>
                <c:pt idx="2">
                  <c:v>15</c:v>
                </c:pt>
                <c:pt idx="3">
                  <c:v>25</c:v>
                </c:pt>
                <c:pt idx="4">
                  <c:v>35</c:v>
                </c:pt>
                <c:pt idx="5">
                  <c:v>45</c:v>
                </c:pt>
                <c:pt idx="6">
                  <c:v>55</c:v>
                </c:pt>
                <c:pt idx="7">
                  <c:v>65</c:v>
                </c:pt>
                <c:pt idx="8">
                  <c:v>75</c:v>
                </c:pt>
                <c:pt idx="9">
                  <c:v>85</c:v>
                </c:pt>
                <c:pt idx="10">
                  <c:v>95</c:v>
                </c:pt>
                <c:pt idx="11">
                  <c:v>105</c:v>
                </c:pt>
                <c:pt idx="12">
                  <c:v>115</c:v>
                </c:pt>
                <c:pt idx="13">
                  <c:v>125</c:v>
                </c:pt>
                <c:pt idx="14">
                  <c:v>135</c:v>
                </c:pt>
                <c:pt idx="15">
                  <c:v>145</c:v>
                </c:pt>
                <c:pt idx="16">
                  <c:v>155</c:v>
                </c:pt>
                <c:pt idx="17">
                  <c:v>165</c:v>
                </c:pt>
                <c:pt idx="18">
                  <c:v>175</c:v>
                </c:pt>
                <c:pt idx="19">
                  <c:v>185</c:v>
                </c:pt>
                <c:pt idx="20">
                  <c:v>195</c:v>
                </c:pt>
                <c:pt idx="21">
                  <c:v>205</c:v>
                </c:pt>
                <c:pt idx="22">
                  <c:v>215</c:v>
                </c:pt>
                <c:pt idx="23">
                  <c:v>225</c:v>
                </c:pt>
                <c:pt idx="24">
                  <c:v>235</c:v>
                </c:pt>
                <c:pt idx="25">
                  <c:v>245</c:v>
                </c:pt>
                <c:pt idx="26">
                  <c:v>255</c:v>
                </c:pt>
                <c:pt idx="27">
                  <c:v>265</c:v>
                </c:pt>
                <c:pt idx="28">
                  <c:v>275</c:v>
                </c:pt>
                <c:pt idx="29">
                  <c:v>285</c:v>
                </c:pt>
                <c:pt idx="30">
                  <c:v>295</c:v>
                </c:pt>
                <c:pt idx="31">
                  <c:v>305</c:v>
                </c:pt>
                <c:pt idx="32">
                  <c:v>315</c:v>
                </c:pt>
                <c:pt idx="33">
                  <c:v>325</c:v>
                </c:pt>
                <c:pt idx="34">
                  <c:v>335</c:v>
                </c:pt>
                <c:pt idx="35">
                  <c:v>345</c:v>
                </c:pt>
                <c:pt idx="36">
                  <c:v>355</c:v>
                </c:pt>
                <c:pt idx="37">
                  <c:v>365</c:v>
                </c:pt>
              </c:numCache>
            </c:numRef>
          </c:xVal>
          <c:yVal>
            <c:numRef>
              <c:f>Sheet1!$B$2:$B$39</c:f>
              <c:numCache>
                <c:formatCode>General</c:formatCode>
                <c:ptCount val="38"/>
                <c:pt idx="0">
                  <c:v>1</c:v>
                </c:pt>
                <c:pt idx="1">
                  <c:v>0.79646853701703746</c:v>
                </c:pt>
                <c:pt idx="2">
                  <c:v>0.77533410604719311</c:v>
                </c:pt>
                <c:pt idx="3">
                  <c:v>0.76058230960690798</c:v>
                </c:pt>
                <c:pt idx="4">
                  <c:v>0.74611118635837104</c:v>
                </c:pt>
                <c:pt idx="5">
                  <c:v>0.73191539610855028</c:v>
                </c:pt>
                <c:pt idx="6">
                  <c:v>0.71798970026892106</c:v>
                </c:pt>
                <c:pt idx="7">
                  <c:v>0.70432895992230227</c:v>
                </c:pt>
                <c:pt idx="8">
                  <c:v>0.69092813392647134</c:v>
                </c:pt>
                <c:pt idx="9">
                  <c:v>0.6777822770538614</c:v>
                </c:pt>
                <c:pt idx="10">
                  <c:v>0.66488653816665333</c:v>
                </c:pt>
                <c:pt idx="11">
                  <c:v>0.652236158426589</c:v>
                </c:pt>
                <c:pt idx="12">
                  <c:v>0.63982646953884514</c:v>
                </c:pt>
                <c:pt idx="13">
                  <c:v>0.62765289202932073</c:v>
                </c:pt>
                <c:pt idx="14">
                  <c:v>0.61571093355469997</c:v>
                </c:pt>
                <c:pt idx="15">
                  <c:v>0.60399618724466975</c:v>
                </c:pt>
                <c:pt idx="16">
                  <c:v>0.59250433007567871</c:v>
                </c:pt>
                <c:pt idx="17">
                  <c:v>0.5812311212756367</c:v>
                </c:pt>
                <c:pt idx="18">
                  <c:v>0.57017240075896825</c:v>
                </c:pt>
                <c:pt idx="19">
                  <c:v>0.5593240875914407</c:v>
                </c:pt>
                <c:pt idx="20">
                  <c:v>0.54868217848420098</c:v>
                </c:pt>
                <c:pt idx="21">
                  <c:v>0.53824274631646607</c:v>
                </c:pt>
                <c:pt idx="22">
                  <c:v>0.52800193868631995</c:v>
                </c:pt>
                <c:pt idx="23">
                  <c:v>0.51795597648908576</c:v>
                </c:pt>
                <c:pt idx="24">
                  <c:v>0.5081011525227439</c:v>
                </c:pt>
                <c:pt idx="25">
                  <c:v>0.49843383011988601</c:v>
                </c:pt>
                <c:pt idx="26">
                  <c:v>0.48895044180569691</c:v>
                </c:pt>
                <c:pt idx="27">
                  <c:v>0.47964748798147017</c:v>
                </c:pt>
                <c:pt idx="28">
                  <c:v>0.47052153563317239</c:v>
                </c:pt>
                <c:pt idx="29">
                  <c:v>0.46156921706457787</c:v>
                </c:pt>
                <c:pt idx="30">
                  <c:v>0.45278722865450782</c:v>
                </c:pt>
                <c:pt idx="31">
                  <c:v>0.44417232963771469</c:v>
                </c:pt>
                <c:pt idx="32">
                  <c:v>0.43572134090896142</c:v>
                </c:pt>
                <c:pt idx="33">
                  <c:v>0.42743114384985537</c:v>
                </c:pt>
                <c:pt idx="34">
                  <c:v>0.41929867917800268</c:v>
                </c:pt>
                <c:pt idx="35">
                  <c:v>0.41132094581805967</c:v>
                </c:pt>
                <c:pt idx="36">
                  <c:v>0.40349499979426345</c:v>
                </c:pt>
                <c:pt idx="37">
                  <c:v>0.39581795314403451</c:v>
                </c:pt>
              </c:numCache>
            </c:numRef>
          </c:yVal>
          <c:smooth val="0"/>
          <c:extLst>
            <c:ext xmlns:c16="http://schemas.microsoft.com/office/drawing/2014/chart" uri="{C3380CC4-5D6E-409C-BE32-E72D297353CC}">
              <c16:uniqueId val="{00000000-185B-4E8A-B203-B460416550B9}"/>
            </c:ext>
          </c:extLst>
        </c:ser>
        <c:ser>
          <c:idx val="1"/>
          <c:order val="1"/>
          <c:tx>
            <c:strRef>
              <c:f>Sheet1!$B$41</c:f>
              <c:strCache>
                <c:ptCount val="1"/>
                <c:pt idx="0">
                  <c:v>Kshitij</c:v>
                </c:pt>
              </c:strCache>
            </c:strRef>
          </c:tx>
          <c:spPr>
            <a:ln w="28575">
              <a:solidFill>
                <a:srgbClr val="FD4C00"/>
              </a:solidFill>
            </a:ln>
          </c:spPr>
          <c:marker>
            <c:symbol val="none"/>
          </c:marker>
          <c:xVal>
            <c:numRef>
              <c:f>Sheet1!$A$42:$A$79</c:f>
              <c:numCache>
                <c:formatCode>General</c:formatCode>
                <c:ptCount val="38"/>
                <c:pt idx="0">
                  <c:v>0</c:v>
                </c:pt>
                <c:pt idx="1">
                  <c:v>1</c:v>
                </c:pt>
                <c:pt idx="2">
                  <c:v>15</c:v>
                </c:pt>
                <c:pt idx="3">
                  <c:v>25</c:v>
                </c:pt>
                <c:pt idx="4">
                  <c:v>35</c:v>
                </c:pt>
                <c:pt idx="5">
                  <c:v>45</c:v>
                </c:pt>
                <c:pt idx="6">
                  <c:v>55</c:v>
                </c:pt>
                <c:pt idx="7">
                  <c:v>65</c:v>
                </c:pt>
                <c:pt idx="8">
                  <c:v>75</c:v>
                </c:pt>
                <c:pt idx="9">
                  <c:v>85</c:v>
                </c:pt>
                <c:pt idx="10">
                  <c:v>95</c:v>
                </c:pt>
                <c:pt idx="11">
                  <c:v>105</c:v>
                </c:pt>
                <c:pt idx="12">
                  <c:v>115</c:v>
                </c:pt>
                <c:pt idx="13">
                  <c:v>125</c:v>
                </c:pt>
                <c:pt idx="14">
                  <c:v>135</c:v>
                </c:pt>
                <c:pt idx="15">
                  <c:v>145</c:v>
                </c:pt>
                <c:pt idx="16">
                  <c:v>155</c:v>
                </c:pt>
                <c:pt idx="17">
                  <c:v>165</c:v>
                </c:pt>
                <c:pt idx="18">
                  <c:v>175</c:v>
                </c:pt>
                <c:pt idx="19">
                  <c:v>185</c:v>
                </c:pt>
                <c:pt idx="20">
                  <c:v>195</c:v>
                </c:pt>
                <c:pt idx="21">
                  <c:v>205</c:v>
                </c:pt>
                <c:pt idx="22">
                  <c:v>215</c:v>
                </c:pt>
                <c:pt idx="23">
                  <c:v>225</c:v>
                </c:pt>
                <c:pt idx="24">
                  <c:v>235</c:v>
                </c:pt>
                <c:pt idx="25">
                  <c:v>245</c:v>
                </c:pt>
                <c:pt idx="26">
                  <c:v>255</c:v>
                </c:pt>
                <c:pt idx="27">
                  <c:v>265</c:v>
                </c:pt>
                <c:pt idx="28">
                  <c:v>275</c:v>
                </c:pt>
                <c:pt idx="29">
                  <c:v>285</c:v>
                </c:pt>
                <c:pt idx="30">
                  <c:v>295</c:v>
                </c:pt>
                <c:pt idx="31">
                  <c:v>305</c:v>
                </c:pt>
                <c:pt idx="32">
                  <c:v>315</c:v>
                </c:pt>
                <c:pt idx="33">
                  <c:v>325</c:v>
                </c:pt>
                <c:pt idx="34">
                  <c:v>335</c:v>
                </c:pt>
                <c:pt idx="35">
                  <c:v>345</c:v>
                </c:pt>
                <c:pt idx="36">
                  <c:v>355</c:v>
                </c:pt>
                <c:pt idx="37">
                  <c:v>365</c:v>
                </c:pt>
              </c:numCache>
            </c:numRef>
          </c:xVal>
          <c:yVal>
            <c:numRef>
              <c:f>Sheet1!$B$42:$B$79</c:f>
              <c:numCache>
                <c:formatCode>General</c:formatCode>
                <c:ptCount val="38"/>
                <c:pt idx="0">
                  <c:v>1</c:v>
                </c:pt>
                <c:pt idx="1">
                  <c:v>0.62779130992016152</c:v>
                </c:pt>
                <c:pt idx="2">
                  <c:v>0.59767047777182369</c:v>
                </c:pt>
                <c:pt idx="3">
                  <c:v>0.57704450178087086</c:v>
                </c:pt>
                <c:pt idx="4">
                  <c:v>0.55713034091447511</c:v>
                </c:pt>
                <c:pt idx="5">
                  <c:v>0.53790342999464136</c:v>
                </c:pt>
                <c:pt idx="6">
                  <c:v>0.51934005160278374</c:v>
                </c:pt>
                <c:pt idx="7">
                  <c:v>0.50141730682302765</c:v>
                </c:pt>
                <c:pt idx="8">
                  <c:v>0.48411308699517724</c:v>
                </c:pt>
                <c:pt idx="9">
                  <c:v>0.46740604644250533</c:v>
                </c:pt>
                <c:pt idx="10">
                  <c:v>0.45127557614072489</c:v>
                </c:pt>
                <c:pt idx="11">
                  <c:v>0.43570177829565948</c:v>
                </c:pt>
                <c:pt idx="12">
                  <c:v>0.42066544179825482</c:v>
                </c:pt>
                <c:pt idx="13">
                  <c:v>0.40614801852665239</c:v>
                </c:pt>
                <c:pt idx="14">
                  <c:v>0.39213160046609352</c:v>
                </c:pt>
                <c:pt idx="15">
                  <c:v>0.37859889761842935</c:v>
                </c:pt>
                <c:pt idx="16">
                  <c:v>0.36553321667398719</c:v>
                </c:pt>
                <c:pt idx="17">
                  <c:v>0.35291844041948423</c:v>
                </c:pt>
                <c:pt idx="18">
                  <c:v>0.34073900785658645</c:v>
                </c:pt>
                <c:pt idx="19">
                  <c:v>0.32897989500658847</c:v>
                </c:pt>
                <c:pt idx="20">
                  <c:v>0.31762659637753582</c:v>
                </c:pt>
                <c:pt idx="21">
                  <c:v>0.30666510707092781</c:v>
                </c:pt>
                <c:pt idx="22">
                  <c:v>0.29608190550592967</c:v>
                </c:pt>
                <c:pt idx="23">
                  <c:v>0.28586393673978222</c:v>
                </c:pt>
                <c:pt idx="24">
                  <c:v>0.27599859636383506</c:v>
                </c:pt>
                <c:pt idx="25">
                  <c:v>0.26647371495533673</c:v>
                </c:pt>
                <c:pt idx="26">
                  <c:v>0.25727754306580403</c:v>
                </c:pt>
                <c:pt idx="27">
                  <c:v>0.2483987367274515</c:v>
                </c:pt>
                <c:pt idx="28">
                  <c:v>0.23982634345980303</c:v>
                </c:pt>
                <c:pt idx="29">
                  <c:v>0.23154978875922361</c:v>
                </c:pt>
                <c:pt idx="30">
                  <c:v>0.22355886305470637</c:v>
                </c:pt>
                <c:pt idx="31">
                  <c:v>0.21584370911382272</c:v>
                </c:pt>
                <c:pt idx="32">
                  <c:v>0.20839480988330128</c:v>
                </c:pt>
                <c:pt idx="33">
                  <c:v>0.20120297674923573</c:v>
                </c:pt>
                <c:pt idx="34">
                  <c:v>0.19425933820244046</c:v>
                </c:pt>
                <c:pt idx="35">
                  <c:v>0.18755532889497115</c:v>
                </c:pt>
                <c:pt idx="36">
                  <c:v>0.18108267907431219</c:v>
                </c:pt>
                <c:pt idx="37">
                  <c:v>0.17483340438219641</c:v>
                </c:pt>
              </c:numCache>
            </c:numRef>
          </c:yVal>
          <c:smooth val="0"/>
          <c:extLst>
            <c:ext xmlns:c16="http://schemas.microsoft.com/office/drawing/2014/chart" uri="{C3380CC4-5D6E-409C-BE32-E72D297353CC}">
              <c16:uniqueId val="{00000001-185B-4E8A-B203-B460416550B9}"/>
            </c:ext>
          </c:extLst>
        </c:ser>
        <c:ser>
          <c:idx val="2"/>
          <c:order val="2"/>
          <c:tx>
            <c:strRef>
              <c:f>Sheet1!$B$81</c:f>
              <c:strCache>
                <c:ptCount val="1"/>
                <c:pt idx="0">
                  <c:v>Kartika</c:v>
                </c:pt>
              </c:strCache>
            </c:strRef>
          </c:tx>
          <c:spPr>
            <a:ln w="28575">
              <a:solidFill>
                <a:srgbClr val="12A385"/>
              </a:solidFill>
            </a:ln>
          </c:spPr>
          <c:marker>
            <c:symbol val="none"/>
          </c:marker>
          <c:xVal>
            <c:numRef>
              <c:f>Sheet1!$A$82:$A$119</c:f>
              <c:numCache>
                <c:formatCode>General</c:formatCode>
                <c:ptCount val="38"/>
                <c:pt idx="0">
                  <c:v>0</c:v>
                </c:pt>
                <c:pt idx="1">
                  <c:v>1</c:v>
                </c:pt>
                <c:pt idx="2">
                  <c:v>15</c:v>
                </c:pt>
                <c:pt idx="3">
                  <c:v>25</c:v>
                </c:pt>
                <c:pt idx="4">
                  <c:v>35</c:v>
                </c:pt>
                <c:pt idx="5">
                  <c:v>45</c:v>
                </c:pt>
                <c:pt idx="6">
                  <c:v>55</c:v>
                </c:pt>
                <c:pt idx="7">
                  <c:v>65</c:v>
                </c:pt>
                <c:pt idx="8">
                  <c:v>75</c:v>
                </c:pt>
                <c:pt idx="9">
                  <c:v>85</c:v>
                </c:pt>
                <c:pt idx="10">
                  <c:v>95</c:v>
                </c:pt>
                <c:pt idx="11">
                  <c:v>105</c:v>
                </c:pt>
                <c:pt idx="12">
                  <c:v>115</c:v>
                </c:pt>
                <c:pt idx="13">
                  <c:v>125</c:v>
                </c:pt>
                <c:pt idx="14">
                  <c:v>135</c:v>
                </c:pt>
                <c:pt idx="15">
                  <c:v>145</c:v>
                </c:pt>
                <c:pt idx="16">
                  <c:v>155</c:v>
                </c:pt>
                <c:pt idx="17">
                  <c:v>165</c:v>
                </c:pt>
                <c:pt idx="18">
                  <c:v>175</c:v>
                </c:pt>
                <c:pt idx="19">
                  <c:v>185</c:v>
                </c:pt>
                <c:pt idx="20">
                  <c:v>195</c:v>
                </c:pt>
                <c:pt idx="21">
                  <c:v>205</c:v>
                </c:pt>
                <c:pt idx="22">
                  <c:v>215</c:v>
                </c:pt>
                <c:pt idx="23">
                  <c:v>225</c:v>
                </c:pt>
                <c:pt idx="24">
                  <c:v>235</c:v>
                </c:pt>
                <c:pt idx="25">
                  <c:v>245</c:v>
                </c:pt>
                <c:pt idx="26">
                  <c:v>255</c:v>
                </c:pt>
                <c:pt idx="27">
                  <c:v>265</c:v>
                </c:pt>
                <c:pt idx="28">
                  <c:v>275</c:v>
                </c:pt>
                <c:pt idx="29">
                  <c:v>285</c:v>
                </c:pt>
                <c:pt idx="30">
                  <c:v>295</c:v>
                </c:pt>
                <c:pt idx="31">
                  <c:v>305</c:v>
                </c:pt>
                <c:pt idx="32">
                  <c:v>315</c:v>
                </c:pt>
                <c:pt idx="33">
                  <c:v>325</c:v>
                </c:pt>
                <c:pt idx="34">
                  <c:v>335</c:v>
                </c:pt>
                <c:pt idx="35">
                  <c:v>345</c:v>
                </c:pt>
                <c:pt idx="36">
                  <c:v>355</c:v>
                </c:pt>
                <c:pt idx="37">
                  <c:v>365</c:v>
                </c:pt>
              </c:numCache>
            </c:numRef>
          </c:xVal>
          <c:yVal>
            <c:numRef>
              <c:f>Sheet1!$B$82:$B$119</c:f>
              <c:numCache>
                <c:formatCode>General</c:formatCode>
                <c:ptCount val="38"/>
                <c:pt idx="0">
                  <c:v>1</c:v>
                </c:pt>
                <c:pt idx="1">
                  <c:v>0.89782551034566793</c:v>
                </c:pt>
                <c:pt idx="2">
                  <c:v>0.86792856848936606</c:v>
                </c:pt>
                <c:pt idx="3">
                  <c:v>0.84718508235818701</c:v>
                </c:pt>
                <c:pt idx="4">
                  <c:v>0.82693736538647156</c:v>
                </c:pt>
                <c:pt idx="5">
                  <c:v>0.80717356869511037</c:v>
                </c:pt>
                <c:pt idx="6">
                  <c:v>0.78788212659311396</c:v>
                </c:pt>
                <c:pt idx="7">
                  <c:v>0.76905174980941859</c:v>
                </c:pt>
                <c:pt idx="8">
                  <c:v>0.75067141888645272</c:v>
                </c:pt>
                <c:pt idx="9">
                  <c:v>0.73273037773159599</c:v>
                </c:pt>
                <c:pt idx="10">
                  <c:v>0.71521812732275936</c:v>
                </c:pt>
                <c:pt idx="11">
                  <c:v>0.69812441956440108</c:v>
                </c:pt>
                <c:pt idx="12">
                  <c:v>0.6814392512903843</c:v>
                </c:pt>
                <c:pt idx="13">
                  <c:v>0.66515285841016625</c:v>
                </c:pt>
                <c:pt idx="14">
                  <c:v>0.64925571019489303</c:v>
                </c:pt>
                <c:pt idx="15">
                  <c:v>0.63373850370005747</c:v>
                </c:pt>
                <c:pt idx="16">
                  <c:v>0.61859215832145464</c:v>
                </c:pt>
                <c:pt idx="17">
                  <c:v>0.60380781048125054</c:v>
                </c:pt>
                <c:pt idx="18">
                  <c:v>0.58937680844105345</c:v>
                </c:pt>
                <c:pt idx="19">
                  <c:v>0.57529070723895293</c:v>
                </c:pt>
                <c:pt idx="20">
                  <c:v>0.56154126374756297</c:v>
                </c:pt>
                <c:pt idx="21">
                  <c:v>0.54812043185017978</c:v>
                </c:pt>
                <c:pt idx="22">
                  <c:v>0.53502035773222623</c:v>
                </c:pt>
                <c:pt idx="23">
                  <c:v>0.52223337528523373</c:v>
                </c:pt>
                <c:pt idx="24">
                  <c:v>0.50975200162066714</c:v>
                </c:pt>
                <c:pt idx="25">
                  <c:v>0.49756893269097036</c:v>
                </c:pt>
                <c:pt idx="26">
                  <c:v>0.48567703901526732</c:v>
                </c:pt>
                <c:pt idx="27">
                  <c:v>0.47406936150722045</c:v>
                </c:pt>
                <c:pt idx="28">
                  <c:v>0.46273910740260243</c:v>
                </c:pt>
                <c:pt idx="29">
                  <c:v>0.45167964628419865</c:v>
                </c:pt>
                <c:pt idx="30">
                  <c:v>0.4408845062017151</c:v>
                </c:pt>
                <c:pt idx="31">
                  <c:v>0.43034736988442035</c:v>
                </c:pt>
                <c:pt idx="32">
                  <c:v>0.42006207104430476</c:v>
                </c:pt>
                <c:pt idx="33">
                  <c:v>0.41002259076759506</c:v>
                </c:pt>
                <c:pt idx="34">
                  <c:v>0.4002230539925109</c:v>
                </c:pt>
                <c:pt idx="35">
                  <c:v>0.39065772607120341</c:v>
                </c:pt>
                <c:pt idx="36">
                  <c:v>0.38132100941386343</c:v>
                </c:pt>
                <c:pt idx="37">
                  <c:v>0.3722074402130352</c:v>
                </c:pt>
              </c:numCache>
            </c:numRef>
          </c:yVal>
          <c:smooth val="0"/>
          <c:extLst>
            <c:ext xmlns:c16="http://schemas.microsoft.com/office/drawing/2014/chart" uri="{C3380CC4-5D6E-409C-BE32-E72D297353CC}">
              <c16:uniqueId val="{00000002-185B-4E8A-B203-B460416550B9}"/>
            </c:ext>
          </c:extLst>
        </c:ser>
        <c:ser>
          <c:idx val="3"/>
          <c:order val="3"/>
          <c:tx>
            <c:strRef>
              <c:f>Sheet1!$B$121</c:f>
              <c:strCache>
                <c:ptCount val="1"/>
                <c:pt idx="0">
                  <c:v>Ayushi</c:v>
                </c:pt>
              </c:strCache>
            </c:strRef>
          </c:tx>
          <c:spPr>
            <a:ln w="28575">
              <a:solidFill>
                <a:srgbClr val="CA54FB"/>
              </a:solidFill>
            </a:ln>
          </c:spPr>
          <c:marker>
            <c:symbol val="none"/>
          </c:marker>
          <c:xVal>
            <c:numRef>
              <c:f>Sheet1!$A$122:$A$159</c:f>
              <c:numCache>
                <c:formatCode>General</c:formatCode>
                <c:ptCount val="38"/>
                <c:pt idx="0">
                  <c:v>0</c:v>
                </c:pt>
                <c:pt idx="1">
                  <c:v>1</c:v>
                </c:pt>
                <c:pt idx="2">
                  <c:v>15</c:v>
                </c:pt>
                <c:pt idx="3">
                  <c:v>25</c:v>
                </c:pt>
                <c:pt idx="4">
                  <c:v>35</c:v>
                </c:pt>
                <c:pt idx="5">
                  <c:v>45</c:v>
                </c:pt>
                <c:pt idx="6">
                  <c:v>55</c:v>
                </c:pt>
                <c:pt idx="7">
                  <c:v>65</c:v>
                </c:pt>
                <c:pt idx="8">
                  <c:v>75</c:v>
                </c:pt>
                <c:pt idx="9">
                  <c:v>85</c:v>
                </c:pt>
                <c:pt idx="10">
                  <c:v>95</c:v>
                </c:pt>
                <c:pt idx="11">
                  <c:v>105</c:v>
                </c:pt>
                <c:pt idx="12">
                  <c:v>115</c:v>
                </c:pt>
                <c:pt idx="13">
                  <c:v>125</c:v>
                </c:pt>
                <c:pt idx="14">
                  <c:v>135</c:v>
                </c:pt>
                <c:pt idx="15">
                  <c:v>145</c:v>
                </c:pt>
                <c:pt idx="16">
                  <c:v>155</c:v>
                </c:pt>
                <c:pt idx="17">
                  <c:v>165</c:v>
                </c:pt>
                <c:pt idx="18">
                  <c:v>175</c:v>
                </c:pt>
                <c:pt idx="19">
                  <c:v>185</c:v>
                </c:pt>
                <c:pt idx="20">
                  <c:v>195</c:v>
                </c:pt>
                <c:pt idx="21">
                  <c:v>205</c:v>
                </c:pt>
                <c:pt idx="22">
                  <c:v>215</c:v>
                </c:pt>
                <c:pt idx="23">
                  <c:v>225</c:v>
                </c:pt>
                <c:pt idx="24">
                  <c:v>235</c:v>
                </c:pt>
                <c:pt idx="25">
                  <c:v>245</c:v>
                </c:pt>
                <c:pt idx="26">
                  <c:v>255</c:v>
                </c:pt>
                <c:pt idx="27">
                  <c:v>265</c:v>
                </c:pt>
                <c:pt idx="28">
                  <c:v>275</c:v>
                </c:pt>
                <c:pt idx="29">
                  <c:v>285</c:v>
                </c:pt>
                <c:pt idx="30">
                  <c:v>295</c:v>
                </c:pt>
                <c:pt idx="31">
                  <c:v>305</c:v>
                </c:pt>
                <c:pt idx="32">
                  <c:v>315</c:v>
                </c:pt>
                <c:pt idx="33">
                  <c:v>325</c:v>
                </c:pt>
                <c:pt idx="34">
                  <c:v>335</c:v>
                </c:pt>
                <c:pt idx="35">
                  <c:v>345</c:v>
                </c:pt>
                <c:pt idx="36">
                  <c:v>355</c:v>
                </c:pt>
                <c:pt idx="37">
                  <c:v>365</c:v>
                </c:pt>
              </c:numCache>
            </c:numRef>
          </c:xVal>
          <c:yVal>
            <c:numRef>
              <c:f>Sheet1!$B$122:$B$159</c:f>
              <c:numCache>
                <c:formatCode>General</c:formatCode>
                <c:ptCount val="38"/>
                <c:pt idx="0">
                  <c:v>1</c:v>
                </c:pt>
                <c:pt idx="1">
                  <c:v>0.76256069917114544</c:v>
                </c:pt>
                <c:pt idx="2">
                  <c:v>0.74269288403754075</c:v>
                </c:pt>
                <c:pt idx="3">
                  <c:v>0.72881930153760022</c:v>
                </c:pt>
                <c:pt idx="4">
                  <c:v>0.71520487904244689</c:v>
                </c:pt>
                <c:pt idx="5">
                  <c:v>0.70184477541547596</c:v>
                </c:pt>
                <c:pt idx="6">
                  <c:v>0.68873423995303218</c:v>
                </c:pt>
                <c:pt idx="7">
                  <c:v>0.67586861069511228</c:v>
                </c:pt>
                <c:pt idx="8">
                  <c:v>0.66324331276762483</c:v>
                </c:pt>
                <c:pt idx="9">
                  <c:v>0.65085385675561536</c:v>
                </c:pt>
                <c:pt idx="10">
                  <c:v>0.63869583710688105</c:v>
                </c:pt>
                <c:pt idx="11">
                  <c:v>0.62676493056540539</c:v>
                </c:pt>
                <c:pt idx="12">
                  <c:v>0.61505689463405644</c:v>
                </c:pt>
                <c:pt idx="13">
                  <c:v>0.60356756606600248</c:v>
                </c:pt>
                <c:pt idx="14">
                  <c:v>0.59229285938430809</c:v>
                </c:pt>
                <c:pt idx="15">
                  <c:v>0.58122876542918334</c:v>
                </c:pt>
                <c:pt idx="16">
                  <c:v>0.57037134993237237</c:v>
                </c:pt>
                <c:pt idx="17">
                  <c:v>0.55971675211817107</c:v>
                </c:pt>
                <c:pt idx="18">
                  <c:v>0.54926118333057827</c:v>
                </c:pt>
                <c:pt idx="19">
                  <c:v>0.53900092568609181</c:v>
                </c:pt>
                <c:pt idx="20">
                  <c:v>0.52893233075167168</c:v>
                </c:pt>
                <c:pt idx="21">
                  <c:v>0.51905181824739643</c:v>
                </c:pt>
                <c:pt idx="22">
                  <c:v>0.50935587477335686</c:v>
                </c:pt>
                <c:pt idx="23">
                  <c:v>0.49984105256032968</c:v>
                </c:pt>
                <c:pt idx="24">
                  <c:v>0.49050396824378956</c:v>
                </c:pt>
                <c:pt idx="25">
                  <c:v>0.48134130166082212</c:v>
                </c:pt>
                <c:pt idx="26">
                  <c:v>0.47234979466951149</c:v>
                </c:pt>
                <c:pt idx="27">
                  <c:v>0.46352624999038111</c:v>
                </c:pt>
                <c:pt idx="28">
                  <c:v>0.45486753006947689</c:v>
                </c:pt>
                <c:pt idx="29">
                  <c:v>0.44637055596268838</c:v>
                </c:pt>
                <c:pt idx="30">
                  <c:v>0.43803230624091016</c:v>
                </c:pt>
                <c:pt idx="31">
                  <c:v>0.42984981591565563</c:v>
                </c:pt>
                <c:pt idx="32">
                  <c:v>0.42182017538474048</c:v>
                </c:pt>
                <c:pt idx="33">
                  <c:v>0.41394052939766002</c:v>
                </c:pt>
                <c:pt idx="34">
                  <c:v>0.40620807604029457</c:v>
                </c:pt>
                <c:pt idx="35">
                  <c:v>0.39862006573857972</c:v>
                </c:pt>
                <c:pt idx="36">
                  <c:v>0.39117380028078869</c:v>
                </c:pt>
                <c:pt idx="37">
                  <c:v>0.3838666318580784</c:v>
                </c:pt>
              </c:numCache>
            </c:numRef>
          </c:yVal>
          <c:smooth val="0"/>
          <c:extLst>
            <c:ext xmlns:c16="http://schemas.microsoft.com/office/drawing/2014/chart" uri="{C3380CC4-5D6E-409C-BE32-E72D297353CC}">
              <c16:uniqueId val="{00000003-185B-4E8A-B203-B460416550B9}"/>
            </c:ext>
          </c:extLst>
        </c:ser>
        <c:ser>
          <c:idx val="4"/>
          <c:order val="4"/>
          <c:tx>
            <c:strRef>
              <c:f>Sheet1!$B$161</c:f>
              <c:strCache>
                <c:ptCount val="1"/>
                <c:pt idx="0">
                  <c:v>Adwaaiit Pande</c:v>
                </c:pt>
              </c:strCache>
            </c:strRef>
          </c:tx>
          <c:spPr>
            <a:ln w="28575">
              <a:solidFill>
                <a:srgbClr val="D69E00"/>
              </a:solidFill>
            </a:ln>
          </c:spPr>
          <c:marker>
            <c:symbol val="none"/>
          </c:marker>
          <c:xVal>
            <c:numRef>
              <c:f>Sheet1!$A$162:$A$199</c:f>
              <c:numCache>
                <c:formatCode>General</c:formatCode>
                <c:ptCount val="38"/>
                <c:pt idx="0">
                  <c:v>0</c:v>
                </c:pt>
                <c:pt idx="1">
                  <c:v>1</c:v>
                </c:pt>
                <c:pt idx="2">
                  <c:v>15</c:v>
                </c:pt>
                <c:pt idx="3">
                  <c:v>25</c:v>
                </c:pt>
                <c:pt idx="4">
                  <c:v>35</c:v>
                </c:pt>
                <c:pt idx="5">
                  <c:v>45</c:v>
                </c:pt>
                <c:pt idx="6">
                  <c:v>55</c:v>
                </c:pt>
                <c:pt idx="7">
                  <c:v>65</c:v>
                </c:pt>
                <c:pt idx="8">
                  <c:v>75</c:v>
                </c:pt>
                <c:pt idx="9">
                  <c:v>85</c:v>
                </c:pt>
                <c:pt idx="10">
                  <c:v>95</c:v>
                </c:pt>
                <c:pt idx="11">
                  <c:v>105</c:v>
                </c:pt>
                <c:pt idx="12">
                  <c:v>115</c:v>
                </c:pt>
                <c:pt idx="13">
                  <c:v>125</c:v>
                </c:pt>
                <c:pt idx="14">
                  <c:v>135</c:v>
                </c:pt>
                <c:pt idx="15">
                  <c:v>145</c:v>
                </c:pt>
                <c:pt idx="16">
                  <c:v>155</c:v>
                </c:pt>
                <c:pt idx="17">
                  <c:v>165</c:v>
                </c:pt>
                <c:pt idx="18">
                  <c:v>175</c:v>
                </c:pt>
                <c:pt idx="19">
                  <c:v>185</c:v>
                </c:pt>
                <c:pt idx="20">
                  <c:v>195</c:v>
                </c:pt>
                <c:pt idx="21">
                  <c:v>205</c:v>
                </c:pt>
                <c:pt idx="22">
                  <c:v>215</c:v>
                </c:pt>
                <c:pt idx="23">
                  <c:v>225</c:v>
                </c:pt>
                <c:pt idx="24">
                  <c:v>235</c:v>
                </c:pt>
                <c:pt idx="25">
                  <c:v>245</c:v>
                </c:pt>
                <c:pt idx="26">
                  <c:v>255</c:v>
                </c:pt>
                <c:pt idx="27">
                  <c:v>265</c:v>
                </c:pt>
                <c:pt idx="28">
                  <c:v>275</c:v>
                </c:pt>
                <c:pt idx="29">
                  <c:v>285</c:v>
                </c:pt>
                <c:pt idx="30">
                  <c:v>295</c:v>
                </c:pt>
                <c:pt idx="31">
                  <c:v>305</c:v>
                </c:pt>
                <c:pt idx="32">
                  <c:v>315</c:v>
                </c:pt>
                <c:pt idx="33">
                  <c:v>325</c:v>
                </c:pt>
                <c:pt idx="34">
                  <c:v>335</c:v>
                </c:pt>
                <c:pt idx="35">
                  <c:v>345</c:v>
                </c:pt>
                <c:pt idx="36">
                  <c:v>355</c:v>
                </c:pt>
                <c:pt idx="37">
                  <c:v>365</c:v>
                </c:pt>
              </c:numCache>
            </c:numRef>
          </c:xVal>
          <c:yVal>
            <c:numRef>
              <c:f>Sheet1!$B$162:$B$199</c:f>
              <c:numCache>
                <c:formatCode>General</c:formatCode>
                <c:ptCount val="38"/>
                <c:pt idx="0">
                  <c:v>1</c:v>
                </c:pt>
                <c:pt idx="1">
                  <c:v>0.9372407559218775</c:v>
                </c:pt>
                <c:pt idx="2">
                  <c:v>0.92667564120354429</c:v>
                </c:pt>
                <c:pt idx="3">
                  <c:v>0.91920212519053568</c:v>
                </c:pt>
                <c:pt idx="4">
                  <c:v>0.91178888209192466</c:v>
                </c:pt>
                <c:pt idx="5">
                  <c:v>0.90443542581465919</c:v>
                </c:pt>
                <c:pt idx="6">
                  <c:v>0.89714127418596279</c:v>
                </c:pt>
                <c:pt idx="7">
                  <c:v>0.88990594892171848</c:v>
                </c:pt>
                <c:pt idx="8">
                  <c:v>0.88272897559510732</c:v>
                </c:pt>
                <c:pt idx="9">
                  <c:v>0.87560988360549963</c:v>
                </c:pt>
                <c:pt idx="10">
                  <c:v>0.8685482061475972</c:v>
                </c:pt>
                <c:pt idx="11">
                  <c:v>0.86154348018082472</c:v>
                </c:pt>
                <c:pt idx="12">
                  <c:v>0.85459524639896756</c:v>
                </c:pt>
                <c:pt idx="13">
                  <c:v>0.8477030492000549</c:v>
                </c:pt>
                <c:pt idx="14">
                  <c:v>0.84086643665648486</c:v>
                </c:pt>
                <c:pt idx="15">
                  <c:v>0.83408496048539238</c:v>
                </c:pt>
                <c:pt idx="16">
                  <c:v>0.82735817601925354</c:v>
                </c:pt>
                <c:pt idx="17">
                  <c:v>0.82068564217672924</c:v>
                </c:pt>
                <c:pt idx="18">
                  <c:v>0.81406692143374293</c:v>
                </c:pt>
                <c:pt idx="19">
                  <c:v>0.80750157979479142</c:v>
                </c:pt>
                <c:pt idx="20">
                  <c:v>0.80098918676448783</c:v>
                </c:pt>
                <c:pt idx="21">
                  <c:v>0.79452931531933313</c:v>
                </c:pt>
                <c:pt idx="22">
                  <c:v>0.78812154187971639</c:v>
                </c:pt>
                <c:pt idx="23">
                  <c:v>0.78176544628213995</c:v>
                </c:pt>
                <c:pt idx="24">
                  <c:v>0.77546061175166914</c:v>
                </c:pt>
                <c:pt idx="25">
                  <c:v>0.76920662487460323</c:v>
                </c:pt>
                <c:pt idx="26">
                  <c:v>0.76300307557136859</c:v>
                </c:pt>
                <c:pt idx="27">
                  <c:v>0.75684955706962898</c:v>
                </c:pt>
                <c:pt idx="28">
                  <c:v>0.75074566587761271</c:v>
                </c:pt>
                <c:pt idx="29">
                  <c:v>0.74469100175765568</c:v>
                </c:pt>
                <c:pt idx="30">
                  <c:v>0.73868516769995785</c:v>
                </c:pt>
                <c:pt idx="31">
                  <c:v>0.73272776989654997</c:v>
                </c:pt>
                <c:pt idx="32">
                  <c:v>0.72681841771547206</c:v>
                </c:pt>
                <c:pt idx="33">
                  <c:v>0.72095672367515884</c:v>
                </c:pt>
                <c:pt idx="34">
                  <c:v>0.71514230341903273</c:v>
                </c:pt>
                <c:pt idx="35">
                  <c:v>0.70937477569030072</c:v>
                </c:pt>
                <c:pt idx="36">
                  <c:v>0.70365376230695509</c:v>
                </c:pt>
                <c:pt idx="37">
                  <c:v>0.69797888813697606</c:v>
                </c:pt>
              </c:numCache>
            </c:numRef>
          </c:yVal>
          <c:smooth val="0"/>
          <c:extLst>
            <c:ext xmlns:c16="http://schemas.microsoft.com/office/drawing/2014/chart" uri="{C3380CC4-5D6E-409C-BE32-E72D297353CC}">
              <c16:uniqueId val="{00000004-185B-4E8A-B203-B460416550B9}"/>
            </c:ext>
          </c:extLst>
        </c:ser>
        <c:dLbls>
          <c:showLegendKey val="0"/>
          <c:showVal val="0"/>
          <c:showCatName val="0"/>
          <c:showSerName val="0"/>
          <c:showPercent val="0"/>
          <c:showBubbleSize val="0"/>
        </c:dLbls>
        <c:axId val="-2128940872"/>
        <c:axId val="-2129643912"/>
      </c:scatterChart>
      <c:valAx>
        <c:axId val="-2128940872"/>
        <c:scaling>
          <c:orientation val="minMax"/>
          <c:max val="365"/>
          <c:min val="0"/>
        </c:scaling>
        <c:delete val="0"/>
        <c:axPos val="b"/>
        <c:title>
          <c:tx>
            <c:rich>
              <a:bodyPr/>
              <a:lstStyle/>
              <a:p>
                <a:r>
                  <a:rPr lang="en-IN" sz="1050" b="0">
                    <a:solidFill>
                      <a:srgbClr val="5F6266"/>
                    </a:solidFill>
                  </a:rPr>
                  <a:t>Delay t (days)</a:t>
                </a:r>
              </a:p>
            </c:rich>
          </c:tx>
          <c:overlay val="0"/>
        </c:title>
        <c:numFmt formatCode="0" sourceLinked="0"/>
        <c:majorTickMark val="out"/>
        <c:minorTickMark val="none"/>
        <c:tickLblPos val="low"/>
        <c:spPr>
          <a:ln>
            <a:solidFill>
              <a:srgbClr val="B9B6B8"/>
            </a:solidFill>
          </a:ln>
        </c:spPr>
        <c:txPr>
          <a:bodyPr/>
          <a:lstStyle/>
          <a:p>
            <a:pPr>
              <a:defRPr sz="1000">
                <a:solidFill>
                  <a:srgbClr val="5F6266"/>
                </a:solidFill>
              </a:defRPr>
            </a:pPr>
            <a:endParaRPr lang="en-US"/>
          </a:p>
        </c:txPr>
        <c:crossAx val="-2129643912"/>
        <c:crosses val="autoZero"/>
        <c:crossBetween val="midCat"/>
        <c:majorUnit val="60"/>
      </c:valAx>
      <c:valAx>
        <c:axId val="-2129643912"/>
        <c:scaling>
          <c:orientation val="minMax"/>
          <c:max val="1.05"/>
          <c:min val="0"/>
        </c:scaling>
        <c:delete val="0"/>
        <c:axPos val="l"/>
        <c:majorGridlines>
          <c:spPr>
            <a:ln w="9525">
              <a:solidFill>
                <a:srgbClr val="E7E4E6"/>
              </a:solidFill>
            </a:ln>
          </c:spPr>
        </c:majorGridlines>
        <c:title>
          <c:tx>
            <c:rich>
              <a:bodyPr/>
              <a:lstStyle/>
              <a:p>
                <a:r>
                  <a:rPr lang="en-IN" sz="1050" b="0">
                    <a:solidFill>
                      <a:srgbClr val="5F6266"/>
                    </a:solidFill>
                  </a:rPr>
                  <a:t>Discount weight D(t)</a:t>
                </a:r>
              </a:p>
            </c:rich>
          </c:tx>
          <c:overlay val="0"/>
        </c:title>
        <c:numFmt formatCode="0.00" sourceLinked="0"/>
        <c:majorTickMark val="out"/>
        <c:minorTickMark val="none"/>
        <c:tickLblPos val="low"/>
        <c:spPr>
          <a:ln>
            <a:solidFill>
              <a:srgbClr val="B9B6B8"/>
            </a:solidFill>
          </a:ln>
        </c:spPr>
        <c:txPr>
          <a:bodyPr/>
          <a:lstStyle/>
          <a:p>
            <a:pPr>
              <a:defRPr sz="1000">
                <a:solidFill>
                  <a:srgbClr val="5F6266"/>
                </a:solidFill>
              </a:defRPr>
            </a:pPr>
            <a:endParaRPr lang="en-US"/>
          </a:p>
        </c:txPr>
        <c:crossAx val="-2128940872"/>
        <c:crosses val="autoZero"/>
        <c:crossBetween val="midCat"/>
        <c:majorUnit val="0.25"/>
      </c:valAx>
    </c:plotArea>
    <c:plotVisOnly val="1"/>
    <c:dispBlanksAs val="gap"/>
    <c:showDLblsOverMax val="0"/>
  </c:chart>
  <c:txPr>
    <a:bodyPr/>
    <a:lstStyle/>
    <a:p>
      <a:pPr>
        <a:defRPr sz="1000">
          <a:solidFill>
            <a:srgbClr val="36393B"/>
          </a:solidFill>
          <a:latin typeface="+mn-lt"/>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IN" sz="1300" b="1">
                <a:solidFill>
                  <a:srgbClr val="36393B"/>
                </a:solidFill>
              </a:rPr>
              <a:t>EUT risky share vs. risk aversion</a:t>
            </a:r>
          </a:p>
          <a:p>
            <a:r>
              <a:rPr lang="en-IN" sz="1050" b="0" i="1">
                <a:solidFill>
                  <a:srgbClr val="5F6266"/>
                </a:solidFill>
              </a:rPr>
              <a:t>share = min(</a:t>
            </a:r>
            <a:r>
              <a:rPr lang="el-GR" sz="1050" b="0" i="1">
                <a:solidFill>
                  <a:srgbClr val="5F6266"/>
                </a:solidFill>
              </a:rPr>
              <a:t>λ_</a:t>
            </a:r>
            <a:r>
              <a:rPr lang="en-IN" sz="1050" b="0" i="1">
                <a:solidFill>
                  <a:srgbClr val="5F6266"/>
                </a:solidFill>
              </a:rPr>
              <a:t>mkt / </a:t>
            </a:r>
            <a:r>
              <a:rPr lang="el-GR" sz="1050" b="0" i="1">
                <a:solidFill>
                  <a:srgbClr val="5F6266"/>
                </a:solidFill>
              </a:rPr>
              <a:t>γ, 100%),  λ_</a:t>
            </a:r>
            <a:r>
              <a:rPr lang="en-IN" sz="1050" b="0" i="1">
                <a:solidFill>
                  <a:srgbClr val="5F6266"/>
                </a:solidFill>
              </a:rPr>
              <a:t>mkt = 2.5</a:t>
            </a:r>
          </a:p>
        </c:rich>
      </c:tx>
      <c:overlay val="0"/>
    </c:title>
    <c:autoTitleDeleted val="0"/>
    <c:plotArea>
      <c:layout/>
      <c:scatterChart>
        <c:scatterStyle val="lineMarker"/>
        <c:varyColors val="0"/>
        <c:ser>
          <c:idx val="0"/>
          <c:order val="0"/>
          <c:tx>
            <c:strRef>
              <c:f>Sheet1!$B$1</c:f>
              <c:strCache>
                <c:ptCount val="1"/>
                <c:pt idx="0">
                  <c:v>Long-only risky share</c:v>
                </c:pt>
              </c:strCache>
            </c:strRef>
          </c:tx>
          <c:spPr>
            <a:ln w="31750">
              <a:solidFill>
                <a:srgbClr val="36393B"/>
              </a:solidFill>
            </a:ln>
          </c:spPr>
          <c:marker>
            <c:symbol val="none"/>
          </c:marker>
          <c:xVal>
            <c:numRef>
              <c:f>Sheet1!$A$2:$A$65</c:f>
              <c:numCache>
                <c:formatCode>General</c:formatCode>
                <c:ptCount val="64"/>
                <c:pt idx="0">
                  <c:v>0.05</c:v>
                </c:pt>
                <c:pt idx="1">
                  <c:v>0.1</c:v>
                </c:pt>
                <c:pt idx="2">
                  <c:v>0.15000000000000002</c:v>
                </c:pt>
                <c:pt idx="3">
                  <c:v>0.2</c:v>
                </c:pt>
                <c:pt idx="4">
                  <c:v>0.25</c:v>
                </c:pt>
                <c:pt idx="5">
                  <c:v>0.3</c:v>
                </c:pt>
                <c:pt idx="6">
                  <c:v>0.35000000000000003</c:v>
                </c:pt>
                <c:pt idx="7">
                  <c:v>0.4</c:v>
                </c:pt>
                <c:pt idx="8">
                  <c:v>0.45</c:v>
                </c:pt>
                <c:pt idx="9">
                  <c:v>0.5</c:v>
                </c:pt>
                <c:pt idx="10">
                  <c:v>0.55000000000000004</c:v>
                </c:pt>
                <c:pt idx="11">
                  <c:v>0.60000000000000009</c:v>
                </c:pt>
                <c:pt idx="12">
                  <c:v>0.65000000000000013</c:v>
                </c:pt>
                <c:pt idx="13">
                  <c:v>0.70000000000000007</c:v>
                </c:pt>
                <c:pt idx="14">
                  <c:v>0.75000000000000011</c:v>
                </c:pt>
                <c:pt idx="15">
                  <c:v>0.8</c:v>
                </c:pt>
                <c:pt idx="16">
                  <c:v>0.85000000000000009</c:v>
                </c:pt>
                <c:pt idx="17">
                  <c:v>0.90000000000000013</c:v>
                </c:pt>
                <c:pt idx="18">
                  <c:v>0.95000000000000007</c:v>
                </c:pt>
                <c:pt idx="19">
                  <c:v>1</c:v>
                </c:pt>
                <c:pt idx="20">
                  <c:v>1.05</c:v>
                </c:pt>
                <c:pt idx="21">
                  <c:v>1.1000000000000001</c:v>
                </c:pt>
                <c:pt idx="22">
                  <c:v>1.1500000000000001</c:v>
                </c:pt>
                <c:pt idx="23">
                  <c:v>1.2000000000000002</c:v>
                </c:pt>
                <c:pt idx="24">
                  <c:v>1.2500000000000002</c:v>
                </c:pt>
                <c:pt idx="25">
                  <c:v>1.3</c:v>
                </c:pt>
                <c:pt idx="26">
                  <c:v>1.35</c:v>
                </c:pt>
                <c:pt idx="27">
                  <c:v>1.4000000000000001</c:v>
                </c:pt>
                <c:pt idx="28">
                  <c:v>1.4500000000000002</c:v>
                </c:pt>
                <c:pt idx="29">
                  <c:v>1.5000000000000002</c:v>
                </c:pt>
                <c:pt idx="30">
                  <c:v>1.55</c:v>
                </c:pt>
                <c:pt idx="31">
                  <c:v>1.6</c:v>
                </c:pt>
                <c:pt idx="32">
                  <c:v>1.6500000000000001</c:v>
                </c:pt>
                <c:pt idx="33">
                  <c:v>1.7000000000000002</c:v>
                </c:pt>
                <c:pt idx="34">
                  <c:v>1.7500000000000002</c:v>
                </c:pt>
                <c:pt idx="35">
                  <c:v>1.8</c:v>
                </c:pt>
                <c:pt idx="36">
                  <c:v>1.85</c:v>
                </c:pt>
                <c:pt idx="37">
                  <c:v>1.9000000000000001</c:v>
                </c:pt>
                <c:pt idx="38">
                  <c:v>1.9500000000000002</c:v>
                </c:pt>
                <c:pt idx="39">
                  <c:v>2</c:v>
                </c:pt>
                <c:pt idx="40">
                  <c:v>2.0499999999999998</c:v>
                </c:pt>
                <c:pt idx="41">
                  <c:v>2.1</c:v>
                </c:pt>
                <c:pt idx="42">
                  <c:v>2.15</c:v>
                </c:pt>
                <c:pt idx="43">
                  <c:v>2.1999999999999997</c:v>
                </c:pt>
                <c:pt idx="44">
                  <c:v>2.25</c:v>
                </c:pt>
                <c:pt idx="45">
                  <c:v>2.2999999999999998</c:v>
                </c:pt>
                <c:pt idx="46">
                  <c:v>2.35</c:v>
                </c:pt>
                <c:pt idx="47">
                  <c:v>2.4</c:v>
                </c:pt>
                <c:pt idx="48">
                  <c:v>2.4500000000000002</c:v>
                </c:pt>
                <c:pt idx="49">
                  <c:v>2.5</c:v>
                </c:pt>
                <c:pt idx="50">
                  <c:v>2.5499999999999998</c:v>
                </c:pt>
                <c:pt idx="51">
                  <c:v>2.6</c:v>
                </c:pt>
                <c:pt idx="52">
                  <c:v>2.65</c:v>
                </c:pt>
                <c:pt idx="53">
                  <c:v>2.7</c:v>
                </c:pt>
                <c:pt idx="54">
                  <c:v>2.75</c:v>
                </c:pt>
                <c:pt idx="55">
                  <c:v>2.8</c:v>
                </c:pt>
                <c:pt idx="56">
                  <c:v>2.85</c:v>
                </c:pt>
                <c:pt idx="57">
                  <c:v>2.9</c:v>
                </c:pt>
                <c:pt idx="58">
                  <c:v>2.95</c:v>
                </c:pt>
                <c:pt idx="59">
                  <c:v>3</c:v>
                </c:pt>
                <c:pt idx="60">
                  <c:v>3.05</c:v>
                </c:pt>
                <c:pt idx="61">
                  <c:v>3.1</c:v>
                </c:pt>
                <c:pt idx="62">
                  <c:v>3.15</c:v>
                </c:pt>
                <c:pt idx="63">
                  <c:v>3.2</c:v>
                </c:pt>
              </c:numCache>
            </c:numRef>
          </c:xVal>
          <c:yVal>
            <c:numRef>
              <c:f>Sheet1!$B$2:$B$65</c:f>
              <c:numCache>
                <c:formatCode>General</c:formatCode>
                <c:ptCount val="64"/>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0.98039215686274517</c:v>
                </c:pt>
                <c:pt idx="51">
                  <c:v>0.96153846153846145</c:v>
                </c:pt>
                <c:pt idx="52">
                  <c:v>0.94339622641509435</c:v>
                </c:pt>
                <c:pt idx="53">
                  <c:v>0.92592592592592582</c:v>
                </c:pt>
                <c:pt idx="54">
                  <c:v>0.90909090909090906</c:v>
                </c:pt>
                <c:pt idx="55">
                  <c:v>0.8928571428571429</c:v>
                </c:pt>
                <c:pt idx="56">
                  <c:v>0.8771929824561403</c:v>
                </c:pt>
                <c:pt idx="57">
                  <c:v>0.86206896551724144</c:v>
                </c:pt>
                <c:pt idx="58">
                  <c:v>0.84745762711864403</c:v>
                </c:pt>
                <c:pt idx="59">
                  <c:v>0.83333333333333337</c:v>
                </c:pt>
                <c:pt idx="60">
                  <c:v>0.81967213114754101</c:v>
                </c:pt>
                <c:pt idx="61">
                  <c:v>0.80645161290322576</c:v>
                </c:pt>
                <c:pt idx="62">
                  <c:v>0.79365079365079372</c:v>
                </c:pt>
                <c:pt idx="63">
                  <c:v>0.78125</c:v>
                </c:pt>
              </c:numCache>
            </c:numRef>
          </c:yVal>
          <c:smooth val="0"/>
          <c:extLst>
            <c:ext xmlns:c16="http://schemas.microsoft.com/office/drawing/2014/chart" uri="{C3380CC4-5D6E-409C-BE32-E72D297353CC}">
              <c16:uniqueId val="{00000000-2E10-482E-BBCC-E387D9BC56C9}"/>
            </c:ext>
          </c:extLst>
        </c:ser>
        <c:ser>
          <c:idx val="1"/>
          <c:order val="1"/>
          <c:tx>
            <c:strRef>
              <c:f>Sheet1!$B$67</c:f>
              <c:strCache>
                <c:ptCount val="1"/>
                <c:pt idx="0">
                  <c:v>Unclipped 2.5/γ</c:v>
                </c:pt>
              </c:strCache>
            </c:strRef>
          </c:tx>
          <c:spPr>
            <a:ln w="15875">
              <a:solidFill>
                <a:srgbClr val="9A9C9E"/>
              </a:solidFill>
              <a:prstDash val="dash"/>
            </a:ln>
          </c:spPr>
          <c:marker>
            <c:symbol val="none"/>
          </c:marker>
          <c:xVal>
            <c:numRef>
              <c:f>Sheet1!$A$68:$A$87</c:f>
              <c:numCache>
                <c:formatCode>General</c:formatCode>
                <c:ptCount val="20"/>
                <c:pt idx="0">
                  <c:v>1.25</c:v>
                </c:pt>
                <c:pt idx="1">
                  <c:v>1.3526315789473684</c:v>
                </c:pt>
                <c:pt idx="2">
                  <c:v>1.4552631578947368</c:v>
                </c:pt>
                <c:pt idx="3">
                  <c:v>1.5578947368421052</c:v>
                </c:pt>
                <c:pt idx="4">
                  <c:v>1.6605263157894736</c:v>
                </c:pt>
                <c:pt idx="5">
                  <c:v>1.763157894736842</c:v>
                </c:pt>
                <c:pt idx="6">
                  <c:v>1.8657894736842107</c:v>
                </c:pt>
                <c:pt idx="7">
                  <c:v>1.9684210526315791</c:v>
                </c:pt>
                <c:pt idx="8">
                  <c:v>2.0710526315789473</c:v>
                </c:pt>
                <c:pt idx="9">
                  <c:v>2.1736842105263161</c:v>
                </c:pt>
                <c:pt idx="10">
                  <c:v>2.2763157894736841</c:v>
                </c:pt>
                <c:pt idx="11">
                  <c:v>2.3789473684210529</c:v>
                </c:pt>
                <c:pt idx="12">
                  <c:v>2.4815789473684213</c:v>
                </c:pt>
                <c:pt idx="13">
                  <c:v>2.5842105263157897</c:v>
                </c:pt>
                <c:pt idx="14">
                  <c:v>2.6868421052631581</c:v>
                </c:pt>
                <c:pt idx="15">
                  <c:v>2.7894736842105265</c:v>
                </c:pt>
                <c:pt idx="16">
                  <c:v>2.892105263157895</c:v>
                </c:pt>
                <c:pt idx="17">
                  <c:v>2.9947368421052634</c:v>
                </c:pt>
                <c:pt idx="18">
                  <c:v>3.0973684210526318</c:v>
                </c:pt>
                <c:pt idx="19">
                  <c:v>3.2</c:v>
                </c:pt>
              </c:numCache>
            </c:numRef>
          </c:xVal>
          <c:yVal>
            <c:numRef>
              <c:f>Sheet1!$B$68:$B$87</c:f>
              <c:numCache>
                <c:formatCode>General</c:formatCode>
                <c:ptCount val="20"/>
                <c:pt idx="0">
                  <c:v>2</c:v>
                </c:pt>
                <c:pt idx="1">
                  <c:v>1.8482490272373542</c:v>
                </c:pt>
                <c:pt idx="2">
                  <c:v>1.7179023508137432</c:v>
                </c:pt>
                <c:pt idx="3">
                  <c:v>1.6047297297297298</c:v>
                </c:pt>
                <c:pt idx="4">
                  <c:v>1.5055467511885896</c:v>
                </c:pt>
                <c:pt idx="5">
                  <c:v>1.4179104477611941</c:v>
                </c:pt>
                <c:pt idx="6">
                  <c:v>1.3399153737658673</c:v>
                </c:pt>
                <c:pt idx="7">
                  <c:v>1.2700534759358288</c:v>
                </c:pt>
                <c:pt idx="8">
                  <c:v>1.2071156289707752</c:v>
                </c:pt>
                <c:pt idx="9">
                  <c:v>1.1501210653753025</c:v>
                </c:pt>
                <c:pt idx="10">
                  <c:v>1.0982658959537572</c:v>
                </c:pt>
                <c:pt idx="11">
                  <c:v>1.0508849557522122</c:v>
                </c:pt>
                <c:pt idx="12">
                  <c:v>1.0074231177094379</c:v>
                </c:pt>
                <c:pt idx="13">
                  <c:v>0.96741344195519341</c:v>
                </c:pt>
                <c:pt idx="14">
                  <c:v>0.93046033300685593</c:v>
                </c:pt>
                <c:pt idx="15">
                  <c:v>0.89622641509433953</c:v>
                </c:pt>
                <c:pt idx="16">
                  <c:v>0.86442220200181974</c:v>
                </c:pt>
                <c:pt idx="17">
                  <c:v>0.83479789103690683</c:v>
                </c:pt>
                <c:pt idx="18">
                  <c:v>0.80713678844519965</c:v>
                </c:pt>
                <c:pt idx="19">
                  <c:v>0.78125</c:v>
                </c:pt>
              </c:numCache>
            </c:numRef>
          </c:yVal>
          <c:smooth val="0"/>
          <c:extLst>
            <c:ext xmlns:c16="http://schemas.microsoft.com/office/drawing/2014/chart" uri="{C3380CC4-5D6E-409C-BE32-E72D297353CC}">
              <c16:uniqueId val="{00000001-2E10-482E-BBCC-E387D9BC56C9}"/>
            </c:ext>
          </c:extLst>
        </c:ser>
        <c:ser>
          <c:idx val="2"/>
          <c:order val="2"/>
          <c:tx>
            <c:strRef>
              <c:f>Sheet1!$B$89</c:f>
              <c:strCache>
                <c:ptCount val="1"/>
                <c:pt idx="0">
                  <c:v>Shree Charan</c:v>
                </c:pt>
              </c:strCache>
            </c:strRef>
          </c:tx>
          <c:spPr>
            <a:ln>
              <a:noFill/>
            </a:ln>
          </c:spPr>
          <c:marker>
            <c:symbol val="circle"/>
            <c:size val="11"/>
            <c:spPr>
              <a:solidFill>
                <a:srgbClr val="4D62EF"/>
              </a:solidFill>
              <a:ln w="19050">
                <a:solidFill>
                  <a:srgbClr val="FFFFFF"/>
                </a:solidFill>
              </a:ln>
            </c:spPr>
          </c:marker>
          <c:xVal>
            <c:numRef>
              <c:f>Sheet1!$A$90:$A$90</c:f>
              <c:numCache>
                <c:formatCode>General</c:formatCode>
                <c:ptCount val="1"/>
                <c:pt idx="0">
                  <c:v>2.2120000000000002</c:v>
                </c:pt>
              </c:numCache>
            </c:numRef>
          </c:xVal>
          <c:yVal>
            <c:numRef>
              <c:f>Sheet1!$B$90:$B$90</c:f>
              <c:numCache>
                <c:formatCode>General</c:formatCode>
                <c:ptCount val="1"/>
                <c:pt idx="0">
                  <c:v>1</c:v>
                </c:pt>
              </c:numCache>
            </c:numRef>
          </c:yVal>
          <c:smooth val="0"/>
          <c:extLst>
            <c:ext xmlns:c16="http://schemas.microsoft.com/office/drawing/2014/chart" uri="{C3380CC4-5D6E-409C-BE32-E72D297353CC}">
              <c16:uniqueId val="{00000002-2E10-482E-BBCC-E387D9BC56C9}"/>
            </c:ext>
          </c:extLst>
        </c:ser>
        <c:ser>
          <c:idx val="3"/>
          <c:order val="3"/>
          <c:tx>
            <c:strRef>
              <c:f>Sheet1!$B$92</c:f>
              <c:strCache>
                <c:ptCount val="1"/>
                <c:pt idx="0">
                  <c:v>Kshitij (γ floored to 0.05)</c:v>
                </c:pt>
              </c:strCache>
            </c:strRef>
          </c:tx>
          <c:spPr>
            <a:ln>
              <a:noFill/>
            </a:ln>
          </c:spPr>
          <c:marker>
            <c:symbol val="circle"/>
            <c:size val="11"/>
            <c:spPr>
              <a:solidFill>
                <a:srgbClr val="FD4C00"/>
              </a:solidFill>
              <a:ln w="19050">
                <a:solidFill>
                  <a:srgbClr val="FFFFFF"/>
                </a:solidFill>
              </a:ln>
            </c:spPr>
          </c:marker>
          <c:xVal>
            <c:numRef>
              <c:f>Sheet1!$A$93:$A$93</c:f>
              <c:numCache>
                <c:formatCode>General</c:formatCode>
                <c:ptCount val="1"/>
                <c:pt idx="0">
                  <c:v>0.05</c:v>
                </c:pt>
              </c:numCache>
            </c:numRef>
          </c:xVal>
          <c:yVal>
            <c:numRef>
              <c:f>Sheet1!$B$93:$B$93</c:f>
              <c:numCache>
                <c:formatCode>General</c:formatCode>
                <c:ptCount val="1"/>
                <c:pt idx="0">
                  <c:v>1</c:v>
                </c:pt>
              </c:numCache>
            </c:numRef>
          </c:yVal>
          <c:smooth val="0"/>
          <c:extLst>
            <c:ext xmlns:c16="http://schemas.microsoft.com/office/drawing/2014/chart" uri="{C3380CC4-5D6E-409C-BE32-E72D297353CC}">
              <c16:uniqueId val="{00000003-2E10-482E-BBCC-E387D9BC56C9}"/>
            </c:ext>
          </c:extLst>
        </c:ser>
        <c:ser>
          <c:idx val="4"/>
          <c:order val="4"/>
          <c:tx>
            <c:strRef>
              <c:f>Sheet1!$B$95</c:f>
              <c:strCache>
                <c:ptCount val="1"/>
                <c:pt idx="0">
                  <c:v>Kartika</c:v>
                </c:pt>
              </c:strCache>
            </c:strRef>
          </c:tx>
          <c:spPr>
            <a:ln>
              <a:noFill/>
            </a:ln>
          </c:spPr>
          <c:marker>
            <c:symbol val="circle"/>
            <c:size val="11"/>
            <c:spPr>
              <a:solidFill>
                <a:srgbClr val="12A385"/>
              </a:solidFill>
              <a:ln w="19050">
                <a:solidFill>
                  <a:srgbClr val="FFFFFF"/>
                </a:solidFill>
              </a:ln>
            </c:spPr>
          </c:marker>
          <c:xVal>
            <c:numRef>
              <c:f>Sheet1!$A$96:$A$96</c:f>
              <c:numCache>
                <c:formatCode>General</c:formatCode>
                <c:ptCount val="1"/>
                <c:pt idx="0">
                  <c:v>0.2</c:v>
                </c:pt>
              </c:numCache>
            </c:numRef>
          </c:xVal>
          <c:yVal>
            <c:numRef>
              <c:f>Sheet1!$B$96:$B$96</c:f>
              <c:numCache>
                <c:formatCode>General</c:formatCode>
                <c:ptCount val="1"/>
                <c:pt idx="0">
                  <c:v>1</c:v>
                </c:pt>
              </c:numCache>
            </c:numRef>
          </c:yVal>
          <c:smooth val="0"/>
          <c:extLst>
            <c:ext xmlns:c16="http://schemas.microsoft.com/office/drawing/2014/chart" uri="{C3380CC4-5D6E-409C-BE32-E72D297353CC}">
              <c16:uniqueId val="{00000004-2E10-482E-BBCC-E387D9BC56C9}"/>
            </c:ext>
          </c:extLst>
        </c:ser>
        <c:ser>
          <c:idx val="5"/>
          <c:order val="5"/>
          <c:tx>
            <c:strRef>
              <c:f>Sheet1!$B$98</c:f>
              <c:strCache>
                <c:ptCount val="1"/>
                <c:pt idx="0">
                  <c:v>Ayushi</c:v>
                </c:pt>
              </c:strCache>
            </c:strRef>
          </c:tx>
          <c:spPr>
            <a:ln>
              <a:noFill/>
            </a:ln>
          </c:spPr>
          <c:marker>
            <c:symbol val="circle"/>
            <c:size val="11"/>
            <c:spPr>
              <a:solidFill>
                <a:srgbClr val="CA54FB"/>
              </a:solidFill>
              <a:ln w="19050">
                <a:solidFill>
                  <a:srgbClr val="FFFFFF"/>
                </a:solidFill>
              </a:ln>
            </c:spPr>
          </c:marker>
          <c:xVal>
            <c:numRef>
              <c:f>Sheet1!$A$99:$A$99</c:f>
              <c:numCache>
                <c:formatCode>General</c:formatCode>
                <c:ptCount val="1"/>
                <c:pt idx="0">
                  <c:v>2.206</c:v>
                </c:pt>
              </c:numCache>
            </c:numRef>
          </c:xVal>
          <c:yVal>
            <c:numRef>
              <c:f>Sheet1!$B$99:$B$99</c:f>
              <c:numCache>
                <c:formatCode>General</c:formatCode>
                <c:ptCount val="1"/>
                <c:pt idx="0">
                  <c:v>1</c:v>
                </c:pt>
              </c:numCache>
            </c:numRef>
          </c:yVal>
          <c:smooth val="0"/>
          <c:extLst>
            <c:ext xmlns:c16="http://schemas.microsoft.com/office/drawing/2014/chart" uri="{C3380CC4-5D6E-409C-BE32-E72D297353CC}">
              <c16:uniqueId val="{00000005-2E10-482E-BBCC-E387D9BC56C9}"/>
            </c:ext>
          </c:extLst>
        </c:ser>
        <c:ser>
          <c:idx val="6"/>
          <c:order val="6"/>
          <c:tx>
            <c:strRef>
              <c:f>Sheet1!$B$101</c:f>
              <c:strCache>
                <c:ptCount val="1"/>
                <c:pt idx="0">
                  <c:v>Adwaaiit Pande</c:v>
                </c:pt>
              </c:strCache>
            </c:strRef>
          </c:tx>
          <c:spPr>
            <a:ln>
              <a:noFill/>
            </a:ln>
          </c:spPr>
          <c:marker>
            <c:symbol val="circle"/>
            <c:size val="11"/>
            <c:spPr>
              <a:solidFill>
                <a:srgbClr val="D69E00"/>
              </a:solidFill>
              <a:ln w="19050">
                <a:solidFill>
                  <a:srgbClr val="FFFFFF"/>
                </a:solidFill>
              </a:ln>
            </c:spPr>
          </c:marker>
          <c:xVal>
            <c:numRef>
              <c:f>Sheet1!$A$102:$A$102</c:f>
              <c:numCache>
                <c:formatCode>General</c:formatCode>
                <c:ptCount val="1"/>
                <c:pt idx="0">
                  <c:v>2.1869999999999998</c:v>
                </c:pt>
              </c:numCache>
            </c:numRef>
          </c:xVal>
          <c:yVal>
            <c:numRef>
              <c:f>Sheet1!$B$102:$B$102</c:f>
              <c:numCache>
                <c:formatCode>General</c:formatCode>
                <c:ptCount val="1"/>
                <c:pt idx="0">
                  <c:v>1</c:v>
                </c:pt>
              </c:numCache>
            </c:numRef>
          </c:yVal>
          <c:smooth val="0"/>
          <c:extLst>
            <c:ext xmlns:c16="http://schemas.microsoft.com/office/drawing/2014/chart" uri="{C3380CC4-5D6E-409C-BE32-E72D297353CC}">
              <c16:uniqueId val="{00000006-2E10-482E-BBCC-E387D9BC56C9}"/>
            </c:ext>
          </c:extLst>
        </c:ser>
        <c:dLbls>
          <c:showLegendKey val="0"/>
          <c:showVal val="0"/>
          <c:showCatName val="0"/>
          <c:showSerName val="0"/>
          <c:showPercent val="0"/>
          <c:showBubbleSize val="0"/>
        </c:dLbls>
        <c:axId val="-2128940872"/>
        <c:axId val="-2129643912"/>
      </c:scatterChart>
      <c:valAx>
        <c:axId val="-2128940872"/>
        <c:scaling>
          <c:orientation val="minMax"/>
          <c:max val="3.2"/>
          <c:min val="0"/>
        </c:scaling>
        <c:delete val="0"/>
        <c:axPos val="b"/>
        <c:title>
          <c:tx>
            <c:rich>
              <a:bodyPr/>
              <a:lstStyle/>
              <a:p>
                <a:r>
                  <a:rPr lang="en-IN" sz="1050" b="0">
                    <a:solidFill>
                      <a:srgbClr val="5F6266"/>
                    </a:solidFill>
                  </a:rPr>
                  <a:t>Risk aversion </a:t>
                </a:r>
                <a:r>
                  <a:rPr lang="el-GR" sz="1050" b="0">
                    <a:solidFill>
                      <a:srgbClr val="5F6266"/>
                    </a:solidFill>
                  </a:rPr>
                  <a:t>γ</a:t>
                </a:r>
              </a:p>
            </c:rich>
          </c:tx>
          <c:overlay val="0"/>
        </c:title>
        <c:numFmt formatCode="0.0" sourceLinked="0"/>
        <c:majorTickMark val="out"/>
        <c:minorTickMark val="none"/>
        <c:tickLblPos val="low"/>
        <c:spPr>
          <a:ln>
            <a:solidFill>
              <a:srgbClr val="B9B6B8"/>
            </a:solidFill>
          </a:ln>
        </c:spPr>
        <c:txPr>
          <a:bodyPr/>
          <a:lstStyle/>
          <a:p>
            <a:pPr>
              <a:defRPr sz="1000">
                <a:solidFill>
                  <a:srgbClr val="5F6266"/>
                </a:solidFill>
              </a:defRPr>
            </a:pPr>
            <a:endParaRPr lang="en-US"/>
          </a:p>
        </c:txPr>
        <c:crossAx val="-2129643912"/>
        <c:crosses val="autoZero"/>
        <c:crossBetween val="midCat"/>
        <c:majorUnit val="0.5"/>
      </c:valAx>
      <c:valAx>
        <c:axId val="-2129643912"/>
        <c:scaling>
          <c:orientation val="minMax"/>
          <c:max val="2"/>
          <c:min val="0"/>
        </c:scaling>
        <c:delete val="0"/>
        <c:axPos val="l"/>
        <c:majorGridlines>
          <c:spPr>
            <a:ln w="9525">
              <a:solidFill>
                <a:srgbClr val="E7E4E6"/>
              </a:solidFill>
            </a:ln>
          </c:spPr>
        </c:majorGridlines>
        <c:title>
          <c:tx>
            <c:rich>
              <a:bodyPr/>
              <a:lstStyle/>
              <a:p>
                <a:r>
                  <a:rPr lang="en-US" sz="1050" b="0">
                    <a:solidFill>
                      <a:srgbClr val="5F6266"/>
                    </a:solidFill>
                  </a:rPr>
                  <a:t>Share of wealth in tangency portfolio</a:t>
                </a:r>
              </a:p>
            </c:rich>
          </c:tx>
          <c:overlay val="0"/>
        </c:title>
        <c:numFmt formatCode="0%" sourceLinked="0"/>
        <c:majorTickMark val="out"/>
        <c:minorTickMark val="none"/>
        <c:tickLblPos val="low"/>
        <c:spPr>
          <a:ln>
            <a:solidFill>
              <a:srgbClr val="B9B6B8"/>
            </a:solidFill>
          </a:ln>
        </c:spPr>
        <c:txPr>
          <a:bodyPr/>
          <a:lstStyle/>
          <a:p>
            <a:pPr>
              <a:defRPr sz="1000">
                <a:solidFill>
                  <a:srgbClr val="5F6266"/>
                </a:solidFill>
              </a:defRPr>
            </a:pPr>
            <a:endParaRPr lang="en-US"/>
          </a:p>
        </c:txPr>
        <c:crossAx val="-2128940872"/>
        <c:crosses val="autoZero"/>
        <c:crossBetween val="midCat"/>
        <c:majorUnit val="0.25"/>
      </c:valAx>
    </c:plotArea>
    <c:plotVisOnly val="1"/>
    <c:dispBlanksAs val="gap"/>
    <c:showDLblsOverMax val="0"/>
  </c:chart>
  <c:txPr>
    <a:bodyPr/>
    <a:lstStyle/>
    <a:p>
      <a:pPr>
        <a:defRPr sz="1000">
          <a:solidFill>
            <a:srgbClr val="36393B"/>
          </a:solidFill>
          <a:latin typeface="+mn-lt"/>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solidFill>
                  <a:srgbClr val="36393B"/>
                </a:solidFill>
              </a:rPr>
              <a:t>Capital in the safety layer</a:t>
            </a:r>
          </a:p>
          <a:p>
            <a:r>
              <a:rPr lang="en-US" sz="1050" b="0" i="1">
                <a:solidFill>
                  <a:srgbClr val="5F6266"/>
                </a:solidFill>
              </a:rPr>
              <a:t>safety = 30% + 16.7% × (λ − 1)</a:t>
            </a:r>
          </a:p>
        </c:rich>
      </c:tx>
      <c:overlay val="0"/>
    </c:title>
    <c:autoTitleDeleted val="0"/>
    <c:plotArea>
      <c:layout/>
      <c:barChart>
        <c:barDir val="col"/>
        <c:grouping val="clustered"/>
        <c:varyColors val="0"/>
        <c:ser>
          <c:idx val="0"/>
          <c:order val="0"/>
          <c:tx>
            <c:strRef>
              <c:f>Sheet1!$B$1</c:f>
              <c:strCache>
                <c:ptCount val="1"/>
                <c:pt idx="0">
                  <c:v>Safety-layer capital</c:v>
                </c:pt>
              </c:strCache>
            </c:strRef>
          </c:tx>
          <c:invertIfNegative val="1"/>
          <c:dPt>
            <c:idx val="0"/>
            <c:invertIfNegative val="1"/>
            <c:bubble3D val="0"/>
            <c:spPr>
              <a:solidFill>
                <a:srgbClr val="4D62EF"/>
              </a:solidFill>
            </c:spPr>
            <c:extLst>
              <c:ext xmlns:c16="http://schemas.microsoft.com/office/drawing/2014/chart" uri="{C3380CC4-5D6E-409C-BE32-E72D297353CC}">
                <c16:uniqueId val="{00000001-766B-4A54-9181-3BD25AF3FDB7}"/>
              </c:ext>
            </c:extLst>
          </c:dPt>
          <c:dPt>
            <c:idx val="1"/>
            <c:invertIfNegative val="1"/>
            <c:bubble3D val="0"/>
            <c:spPr>
              <a:solidFill>
                <a:srgbClr val="FD4C00"/>
              </a:solidFill>
            </c:spPr>
            <c:extLst>
              <c:ext xmlns:c16="http://schemas.microsoft.com/office/drawing/2014/chart" uri="{C3380CC4-5D6E-409C-BE32-E72D297353CC}">
                <c16:uniqueId val="{00000003-766B-4A54-9181-3BD25AF3FDB7}"/>
              </c:ext>
            </c:extLst>
          </c:dPt>
          <c:dPt>
            <c:idx val="2"/>
            <c:invertIfNegative val="1"/>
            <c:bubble3D val="0"/>
            <c:spPr>
              <a:solidFill>
                <a:srgbClr val="12A385"/>
              </a:solidFill>
            </c:spPr>
            <c:extLst>
              <c:ext xmlns:c16="http://schemas.microsoft.com/office/drawing/2014/chart" uri="{C3380CC4-5D6E-409C-BE32-E72D297353CC}">
                <c16:uniqueId val="{00000005-766B-4A54-9181-3BD25AF3FDB7}"/>
              </c:ext>
            </c:extLst>
          </c:dPt>
          <c:dPt>
            <c:idx val="3"/>
            <c:invertIfNegative val="1"/>
            <c:bubble3D val="0"/>
            <c:spPr>
              <a:solidFill>
                <a:srgbClr val="CA54FB"/>
              </a:solidFill>
            </c:spPr>
            <c:extLst>
              <c:ext xmlns:c16="http://schemas.microsoft.com/office/drawing/2014/chart" uri="{C3380CC4-5D6E-409C-BE32-E72D297353CC}">
                <c16:uniqueId val="{00000007-766B-4A54-9181-3BD25AF3FDB7}"/>
              </c:ext>
            </c:extLst>
          </c:dPt>
          <c:dPt>
            <c:idx val="4"/>
            <c:invertIfNegative val="1"/>
            <c:bubble3D val="0"/>
            <c:spPr>
              <a:solidFill>
                <a:srgbClr val="D69E00"/>
              </a:solidFill>
            </c:spPr>
            <c:extLst>
              <c:ext xmlns:c16="http://schemas.microsoft.com/office/drawing/2014/chart" uri="{C3380CC4-5D6E-409C-BE32-E72D297353CC}">
                <c16:uniqueId val="{00000009-766B-4A54-9181-3BD25AF3FDB7}"/>
              </c:ext>
            </c:extLst>
          </c:dPt>
          <c:dLbls>
            <c:numFmt formatCode="0.0%" sourceLinked="0"/>
            <c:spPr>
              <a:noFill/>
              <a:ln>
                <a:noFill/>
              </a:ln>
              <a:effectLst/>
            </c:spPr>
            <c:txPr>
              <a:bodyPr/>
              <a:lstStyle/>
              <a:p>
                <a:pPr>
                  <a:defRPr sz="1200" b="1">
                    <a:solidFill>
                      <a:srgbClr val="36393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Shree Charan</c:v>
                </c:pt>
                <c:pt idx="1">
                  <c:v>Kshitij</c:v>
                </c:pt>
                <c:pt idx="2">
                  <c:v>Kartika</c:v>
                </c:pt>
                <c:pt idx="3">
                  <c:v>Ayushi</c:v>
                </c:pt>
                <c:pt idx="4">
                  <c:v>Adwaaiit</c:v>
                </c:pt>
              </c:strCache>
            </c:strRef>
          </c:cat>
          <c:val>
            <c:numRef>
              <c:f>Sheet1!$B$2:$B$6</c:f>
              <c:numCache>
                <c:formatCode>General</c:formatCode>
                <c:ptCount val="5"/>
                <c:pt idx="0">
                  <c:v>0.30000000000029459</c:v>
                </c:pt>
                <c:pt idx="1">
                  <c:v>0.39999999999887831</c:v>
                </c:pt>
                <c:pt idx="2">
                  <c:v>0.30000000000029459</c:v>
                </c:pt>
                <c:pt idx="3">
                  <c:v>0.30150000000027333</c:v>
                </c:pt>
                <c:pt idx="4">
                  <c:v>0.30250000000025912</c:v>
                </c:pt>
              </c:numCache>
            </c:numRef>
          </c:val>
          <c:extLst>
            <c:ext xmlns:c16="http://schemas.microsoft.com/office/drawing/2014/chart" uri="{C3380CC4-5D6E-409C-BE32-E72D297353CC}">
              <c16:uniqueId val="{0000000A-766B-4A54-9181-3BD25AF3FDB7}"/>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9B6B8"/>
            </a:solidFill>
          </a:ln>
        </c:spPr>
        <c:txPr>
          <a:bodyPr/>
          <a:lstStyle/>
          <a:p>
            <a:pPr>
              <a:defRPr sz="1100">
                <a:solidFill>
                  <a:srgbClr val="36393B"/>
                </a:solidFill>
              </a:defRPr>
            </a:pPr>
            <a:endParaRPr lang="en-US"/>
          </a:p>
        </c:txPr>
        <c:crossAx val="-2113994440"/>
        <c:crosses val="autoZero"/>
        <c:auto val="1"/>
        <c:lblAlgn val="ctr"/>
        <c:lblOffset val="100"/>
        <c:noMultiLvlLbl val="0"/>
      </c:catAx>
      <c:valAx>
        <c:axId val="-2113994440"/>
        <c:scaling>
          <c:orientation val="minMax"/>
          <c:max val="0.5"/>
          <c:min val="0"/>
        </c:scaling>
        <c:delete val="0"/>
        <c:axPos val="l"/>
        <c:majorGridlines>
          <c:spPr>
            <a:ln w="9525">
              <a:solidFill>
                <a:srgbClr val="E7E4E6"/>
              </a:solidFill>
            </a:ln>
          </c:spPr>
        </c:majorGridlines>
        <c:numFmt formatCode="0%" sourceLinked="0"/>
        <c:majorTickMark val="out"/>
        <c:minorTickMark val="none"/>
        <c:tickLblPos val="low"/>
        <c:spPr>
          <a:ln>
            <a:solidFill>
              <a:srgbClr val="B9B6B8"/>
            </a:solidFill>
          </a:ln>
        </c:spPr>
        <c:txPr>
          <a:bodyPr/>
          <a:lstStyle/>
          <a:p>
            <a:pPr>
              <a:defRPr sz="1000">
                <a:solidFill>
                  <a:srgbClr val="5F6266"/>
                </a:solidFill>
              </a:defRPr>
            </a:pPr>
            <a:endParaRPr lang="en-US"/>
          </a:p>
        </c:txPr>
        <c:crossAx val="-2068027336"/>
        <c:crosses val="autoZero"/>
        <c:crossBetween val="between"/>
        <c:majorUnit val="0.1"/>
      </c:valAx>
    </c:plotArea>
    <c:plotVisOnly val="1"/>
    <c:dispBlanksAs val="gap"/>
    <c:showDLblsOverMax val="1"/>
  </c:chart>
  <c:txPr>
    <a:bodyPr/>
    <a:lstStyle/>
    <a:p>
      <a:pPr>
        <a:defRPr sz="1100">
          <a:solidFill>
            <a:srgbClr val="36393B"/>
          </a:solidFill>
          <a:latin typeface="+mn-lt"/>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A966AA-C2D0-420D-89FC-1A1AB0AD4072}"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45D50368-372D-4F79-95B9-B27BD239F0F6}">
      <dgm:prSet phldrT="[Text]" custT="1"/>
      <dgm:spPr/>
      <dgm:t>
        <a:bodyPr anchor="ctr"/>
        <a:lstStyle/>
        <a:p>
          <a:pPr algn="ctr">
            <a:buNone/>
          </a:pPr>
          <a:r>
            <a:rPr lang="en-US" sz="1800" b="1" dirty="0">
              <a:solidFill>
                <a:schemeClr val="tx1"/>
              </a:solidFill>
              <a:latin typeface="+mj-lt"/>
            </a:rPr>
            <a:t>Measure</a:t>
          </a:r>
        </a:p>
      </dgm:t>
    </dgm:pt>
    <dgm:pt modelId="{CDE1A78B-2AE4-4A71-9139-416C219BC84D}" type="parTrans" cxnId="{68788A78-9180-41FF-BD09-BF4DBB52EA0D}">
      <dgm:prSet/>
      <dgm:spPr/>
      <dgm:t>
        <a:bodyPr/>
        <a:lstStyle/>
        <a:p>
          <a:pPr algn="ctr"/>
          <a:endParaRPr lang="en-US" sz="1800">
            <a:solidFill>
              <a:schemeClr val="tx1"/>
            </a:solidFill>
          </a:endParaRPr>
        </a:p>
      </dgm:t>
    </dgm:pt>
    <dgm:pt modelId="{508ABF25-4B40-405C-9E88-248ED8B31B83}" type="sibTrans" cxnId="{68788A78-9180-41FF-BD09-BF4DBB52EA0D}">
      <dgm:prSet/>
      <dgm:spPr/>
      <dgm:t>
        <a:bodyPr/>
        <a:lstStyle/>
        <a:p>
          <a:pPr algn="ctr"/>
          <a:endParaRPr lang="en-US" sz="1800">
            <a:solidFill>
              <a:schemeClr val="tx1"/>
            </a:solidFill>
          </a:endParaRPr>
        </a:p>
      </dgm:t>
    </dgm:pt>
    <dgm:pt modelId="{15FCB7DF-D0D3-43D8-8FE5-E5FFDED6264E}">
      <dgm:prSet phldrT="[Text]" custT="1"/>
      <dgm:spPr/>
      <dgm:t>
        <a:bodyPr anchor="ctr"/>
        <a:lstStyle/>
        <a:p>
          <a:pPr marL="0" algn="ctr">
            <a:lnSpc>
              <a:spcPct val="120000"/>
            </a:lnSpc>
            <a:spcAft>
              <a:spcPts val="1200"/>
            </a:spcAft>
            <a:buNone/>
          </a:pPr>
          <a:r>
            <a:rPr lang="en-US" sz="1800" dirty="0">
              <a:solidFill>
                <a:schemeClr val="tx1"/>
              </a:solidFill>
            </a:rPr>
            <a:t>Steps 2–3: survey risk, time and personality</a:t>
          </a:r>
        </a:p>
      </dgm:t>
    </dgm:pt>
    <dgm:pt modelId="{5DD5E854-B70B-4927-93DD-9B930567F2D9}" type="parTrans" cxnId="{D8EBBD42-214D-4D3D-9A34-A5A6A40991CD}">
      <dgm:prSet/>
      <dgm:spPr/>
      <dgm:t>
        <a:bodyPr/>
        <a:lstStyle/>
        <a:p>
          <a:pPr algn="ctr"/>
          <a:endParaRPr lang="en-US" sz="1800">
            <a:solidFill>
              <a:schemeClr val="tx1"/>
            </a:solidFill>
          </a:endParaRPr>
        </a:p>
      </dgm:t>
    </dgm:pt>
    <dgm:pt modelId="{DDE76206-3F7F-4788-87BA-8C9D4D26CDB9}" type="sibTrans" cxnId="{D8EBBD42-214D-4D3D-9A34-A5A6A40991CD}">
      <dgm:prSet/>
      <dgm:spPr/>
      <dgm:t>
        <a:bodyPr/>
        <a:lstStyle/>
        <a:p>
          <a:pPr algn="ctr"/>
          <a:endParaRPr lang="en-US" sz="1800">
            <a:solidFill>
              <a:schemeClr val="tx1"/>
            </a:solidFill>
          </a:endParaRPr>
        </a:p>
      </dgm:t>
    </dgm:pt>
    <dgm:pt modelId="{196543C5-093B-4437-B406-DBE4B882EA97}">
      <dgm:prSet phldrT="[Text]" custT="1"/>
      <dgm:spPr/>
      <dgm:t>
        <a:bodyPr anchor="ctr"/>
        <a:lstStyle/>
        <a:p>
          <a:pPr algn="ctr">
            <a:buNone/>
          </a:pPr>
          <a:r>
            <a:rPr lang="en-US" sz="1800" b="1" dirty="0">
              <a:solidFill>
                <a:schemeClr val="tx1"/>
              </a:solidFill>
              <a:latin typeface="+mj-lt"/>
            </a:rPr>
            <a:t>Model</a:t>
          </a:r>
        </a:p>
      </dgm:t>
    </dgm:pt>
    <dgm:pt modelId="{41DE1F19-4A9F-48CD-A44E-6BF1D04E31EE}" type="parTrans" cxnId="{52499B9F-797A-43CC-89E1-64C52021BFAF}">
      <dgm:prSet/>
      <dgm:spPr/>
      <dgm:t>
        <a:bodyPr/>
        <a:lstStyle/>
        <a:p>
          <a:pPr algn="ctr"/>
          <a:endParaRPr lang="en-US" sz="1800">
            <a:solidFill>
              <a:schemeClr val="tx1"/>
            </a:solidFill>
          </a:endParaRPr>
        </a:p>
      </dgm:t>
    </dgm:pt>
    <dgm:pt modelId="{F264F018-7FB9-43EC-B595-B986D351AD7B}" type="sibTrans" cxnId="{52499B9F-797A-43CC-89E1-64C52021BFAF}">
      <dgm:prSet/>
      <dgm:spPr/>
      <dgm:t>
        <a:bodyPr/>
        <a:lstStyle/>
        <a:p>
          <a:pPr algn="ctr"/>
          <a:endParaRPr lang="en-US" sz="1800">
            <a:solidFill>
              <a:schemeClr val="tx1"/>
            </a:solidFill>
          </a:endParaRPr>
        </a:p>
      </dgm:t>
    </dgm:pt>
    <dgm:pt modelId="{C485168C-07AD-4DE6-B17E-1E96E93777D7}">
      <dgm:prSet phldrT="[Text]" custT="1"/>
      <dgm:spPr/>
      <dgm:t>
        <a:bodyPr anchor="ctr"/>
        <a:lstStyle/>
        <a:p>
          <a:pPr marL="0" algn="ctr">
            <a:lnSpc>
              <a:spcPct val="120000"/>
            </a:lnSpc>
            <a:spcAft>
              <a:spcPts val="1200"/>
            </a:spcAft>
            <a:buNone/>
          </a:pPr>
          <a:r>
            <a:rPr lang="en-US" sz="1800" dirty="0">
              <a:solidFill>
                <a:schemeClr val="tx1"/>
              </a:solidFill>
            </a:rPr>
            <a:t>Step 4: Bayesian engine estimates </a:t>
          </a:r>
          <a:br>
            <a:rPr lang="en-US" sz="1800" dirty="0">
              <a:solidFill>
                <a:schemeClr val="tx1"/>
              </a:solidFill>
            </a:rPr>
          </a:br>
          <a:r>
            <a:rPr lang="en-US" sz="1800" dirty="0">
              <a:solidFill>
                <a:schemeClr val="tx1"/>
              </a:solidFill>
            </a:rPr>
            <a:t>utility and value functions</a:t>
          </a:r>
        </a:p>
      </dgm:t>
    </dgm:pt>
    <dgm:pt modelId="{2EA2CE1F-978B-4B0A-92B2-CA23FBAEB8C0}" type="parTrans" cxnId="{B374803A-F1D8-4C12-8B03-25954CE7DDA9}">
      <dgm:prSet/>
      <dgm:spPr/>
      <dgm:t>
        <a:bodyPr/>
        <a:lstStyle/>
        <a:p>
          <a:pPr algn="ctr"/>
          <a:endParaRPr lang="en-US" sz="1800">
            <a:solidFill>
              <a:schemeClr val="tx1"/>
            </a:solidFill>
          </a:endParaRPr>
        </a:p>
      </dgm:t>
    </dgm:pt>
    <dgm:pt modelId="{05F43B89-7F05-43F2-A0A8-66E0914D6EC4}" type="sibTrans" cxnId="{B374803A-F1D8-4C12-8B03-25954CE7DDA9}">
      <dgm:prSet/>
      <dgm:spPr/>
      <dgm:t>
        <a:bodyPr/>
        <a:lstStyle/>
        <a:p>
          <a:pPr algn="ctr"/>
          <a:endParaRPr lang="en-US" sz="1800">
            <a:solidFill>
              <a:schemeClr val="tx1"/>
            </a:solidFill>
          </a:endParaRPr>
        </a:p>
      </dgm:t>
    </dgm:pt>
    <dgm:pt modelId="{CA2BABAF-EDAA-4496-8316-FD6EA3643E8F}">
      <dgm:prSet phldrT="[Text]" custT="1"/>
      <dgm:spPr/>
      <dgm:t>
        <a:bodyPr anchor="ctr"/>
        <a:lstStyle/>
        <a:p>
          <a:pPr algn="ctr">
            <a:buNone/>
          </a:pPr>
          <a:r>
            <a:rPr lang="en-US" sz="1800" b="1" dirty="0">
              <a:solidFill>
                <a:schemeClr val="tx1"/>
              </a:solidFill>
              <a:latin typeface="+mj-lt"/>
            </a:rPr>
            <a:t>Recommend</a:t>
          </a:r>
        </a:p>
      </dgm:t>
    </dgm:pt>
    <dgm:pt modelId="{2B1B4805-2FB7-402F-86A8-587F29181C18}" type="parTrans" cxnId="{4011B082-09BD-4DD1-A54F-EA5AB249A3C2}">
      <dgm:prSet/>
      <dgm:spPr/>
      <dgm:t>
        <a:bodyPr/>
        <a:lstStyle/>
        <a:p>
          <a:pPr algn="ctr"/>
          <a:endParaRPr lang="en-US" sz="1800">
            <a:solidFill>
              <a:schemeClr val="tx1"/>
            </a:solidFill>
          </a:endParaRPr>
        </a:p>
      </dgm:t>
    </dgm:pt>
    <dgm:pt modelId="{4498AB02-A1BF-4D28-8918-F87A89CEE23B}" type="sibTrans" cxnId="{4011B082-09BD-4DD1-A54F-EA5AB249A3C2}">
      <dgm:prSet/>
      <dgm:spPr/>
      <dgm:t>
        <a:bodyPr/>
        <a:lstStyle/>
        <a:p>
          <a:pPr algn="ctr"/>
          <a:endParaRPr lang="en-US" sz="1800">
            <a:solidFill>
              <a:schemeClr val="tx1"/>
            </a:solidFill>
          </a:endParaRPr>
        </a:p>
      </dgm:t>
    </dgm:pt>
    <dgm:pt modelId="{ABC1EDDD-C08B-4F9C-8453-9CEFCC2AF319}">
      <dgm:prSet phldrT="[Text]" custT="1"/>
      <dgm:spPr/>
      <dgm:t>
        <a:bodyPr anchor="ctr"/>
        <a:lstStyle/>
        <a:p>
          <a:pPr marL="0" algn="ctr">
            <a:lnSpc>
              <a:spcPct val="120000"/>
            </a:lnSpc>
            <a:spcAft>
              <a:spcPts val="1200"/>
            </a:spcAft>
            <a:buNone/>
          </a:pPr>
          <a:r>
            <a:rPr lang="en-US" sz="1800" dirty="0">
              <a:solidFill>
                <a:schemeClr val="tx1"/>
              </a:solidFill>
            </a:rPr>
            <a:t>Steps 5–6: EUT vs SP/A-BPT portfolios, personality overlay</a:t>
          </a:r>
        </a:p>
      </dgm:t>
    </dgm:pt>
    <dgm:pt modelId="{33D02404-349E-4E82-A8BA-C0A907006883}" type="parTrans" cxnId="{9C4BE375-6187-4BD4-A343-9FC71D796AF1}">
      <dgm:prSet/>
      <dgm:spPr/>
      <dgm:t>
        <a:bodyPr/>
        <a:lstStyle/>
        <a:p>
          <a:pPr algn="ctr"/>
          <a:endParaRPr lang="en-US" sz="1800">
            <a:solidFill>
              <a:schemeClr val="tx1"/>
            </a:solidFill>
          </a:endParaRPr>
        </a:p>
      </dgm:t>
    </dgm:pt>
    <dgm:pt modelId="{7D85D88C-6545-49D9-9F9D-01270187B165}" type="sibTrans" cxnId="{9C4BE375-6187-4BD4-A343-9FC71D796AF1}">
      <dgm:prSet/>
      <dgm:spPr/>
      <dgm:t>
        <a:bodyPr/>
        <a:lstStyle/>
        <a:p>
          <a:pPr algn="ctr"/>
          <a:endParaRPr lang="en-US" sz="1800">
            <a:solidFill>
              <a:schemeClr val="tx1"/>
            </a:solidFill>
          </a:endParaRPr>
        </a:p>
      </dgm:t>
    </dgm:pt>
    <dgm:pt modelId="{5026F79A-D670-4F65-B581-E609F4440949}" type="pres">
      <dgm:prSet presAssocID="{B6A966AA-C2D0-420D-89FC-1A1AB0AD4072}" presName="Name0" presStyleCnt="0">
        <dgm:presLayoutVars>
          <dgm:dir/>
          <dgm:animLvl val="lvl"/>
          <dgm:resizeHandles val="exact"/>
        </dgm:presLayoutVars>
      </dgm:prSet>
      <dgm:spPr/>
    </dgm:pt>
    <dgm:pt modelId="{B2A5F905-5454-4A81-AFC2-602475B3C21B}" type="pres">
      <dgm:prSet presAssocID="{45D50368-372D-4F79-95B9-B27BD239F0F6}" presName="composite" presStyleCnt="0"/>
      <dgm:spPr/>
    </dgm:pt>
    <dgm:pt modelId="{2612B01E-E5FD-4FF5-9198-43474773E636}" type="pres">
      <dgm:prSet presAssocID="{45D50368-372D-4F79-95B9-B27BD239F0F6}" presName="parTx" presStyleLbl="node1" presStyleIdx="0" presStyleCnt="3">
        <dgm:presLayoutVars>
          <dgm:chMax val="0"/>
          <dgm:chPref val="0"/>
          <dgm:bulletEnabled val="1"/>
        </dgm:presLayoutVars>
      </dgm:prSet>
      <dgm:spPr/>
    </dgm:pt>
    <dgm:pt modelId="{FDEC72F1-79D0-44B6-8429-0F39785C9AD0}" type="pres">
      <dgm:prSet presAssocID="{45D50368-372D-4F79-95B9-B27BD239F0F6}" presName="desTx" presStyleLbl="revTx" presStyleIdx="0" presStyleCnt="3" custLinFactNeighborX="12445">
        <dgm:presLayoutVars>
          <dgm:bulletEnabled val="1"/>
        </dgm:presLayoutVars>
      </dgm:prSet>
      <dgm:spPr/>
    </dgm:pt>
    <dgm:pt modelId="{A2E8B6A5-7483-46B9-AEDC-17DBE6FB9B4E}" type="pres">
      <dgm:prSet presAssocID="{508ABF25-4B40-405C-9E88-248ED8B31B83}" presName="space" presStyleCnt="0"/>
      <dgm:spPr/>
    </dgm:pt>
    <dgm:pt modelId="{187F0FEF-C720-494E-A2FE-020FF399FBDF}" type="pres">
      <dgm:prSet presAssocID="{196543C5-093B-4437-B406-DBE4B882EA97}" presName="composite" presStyleCnt="0"/>
      <dgm:spPr/>
    </dgm:pt>
    <dgm:pt modelId="{8FBF96FC-7A6C-4977-AC0C-35CDC7270E23}" type="pres">
      <dgm:prSet presAssocID="{196543C5-093B-4437-B406-DBE4B882EA97}" presName="parTx" presStyleLbl="node1" presStyleIdx="1" presStyleCnt="3">
        <dgm:presLayoutVars>
          <dgm:chMax val="0"/>
          <dgm:chPref val="0"/>
          <dgm:bulletEnabled val="1"/>
        </dgm:presLayoutVars>
      </dgm:prSet>
      <dgm:spPr/>
    </dgm:pt>
    <dgm:pt modelId="{0E6AC4B0-7D9E-4235-A5C0-FC9C6164F4E5}" type="pres">
      <dgm:prSet presAssocID="{196543C5-093B-4437-B406-DBE4B882EA97}" presName="desTx" presStyleLbl="revTx" presStyleIdx="1" presStyleCnt="3" custScaleX="114921" custLinFactNeighborX="7315">
        <dgm:presLayoutVars>
          <dgm:bulletEnabled val="1"/>
        </dgm:presLayoutVars>
      </dgm:prSet>
      <dgm:spPr/>
    </dgm:pt>
    <dgm:pt modelId="{E164AE18-6369-488B-A2D6-E9F4C3CC4F93}" type="pres">
      <dgm:prSet presAssocID="{F264F018-7FB9-43EC-B595-B986D351AD7B}" presName="space" presStyleCnt="0"/>
      <dgm:spPr/>
    </dgm:pt>
    <dgm:pt modelId="{4027752C-746F-47A0-B9FD-8F9A8606D359}" type="pres">
      <dgm:prSet presAssocID="{CA2BABAF-EDAA-4496-8316-FD6EA3643E8F}" presName="composite" presStyleCnt="0"/>
      <dgm:spPr/>
    </dgm:pt>
    <dgm:pt modelId="{504C6F9B-242F-4BEF-BA77-A2E4D823CECC}" type="pres">
      <dgm:prSet presAssocID="{CA2BABAF-EDAA-4496-8316-FD6EA3643E8F}" presName="parTx" presStyleLbl="node1" presStyleIdx="2" presStyleCnt="3">
        <dgm:presLayoutVars>
          <dgm:chMax val="0"/>
          <dgm:chPref val="0"/>
          <dgm:bulletEnabled val="1"/>
        </dgm:presLayoutVars>
      </dgm:prSet>
      <dgm:spPr/>
    </dgm:pt>
    <dgm:pt modelId="{15FC8055-A66C-4D2F-99E2-55FD986FF3F4}" type="pres">
      <dgm:prSet presAssocID="{CA2BABAF-EDAA-4496-8316-FD6EA3643E8F}" presName="desTx" presStyleLbl="revTx" presStyleIdx="2" presStyleCnt="3" custLinFactNeighborX="9939">
        <dgm:presLayoutVars>
          <dgm:bulletEnabled val="1"/>
        </dgm:presLayoutVars>
      </dgm:prSet>
      <dgm:spPr/>
    </dgm:pt>
  </dgm:ptLst>
  <dgm:cxnLst>
    <dgm:cxn modelId="{69481A05-2528-4B7D-BE99-59D1CBFC2CE1}" type="presOf" srcId="{CA2BABAF-EDAA-4496-8316-FD6EA3643E8F}" destId="{504C6F9B-242F-4BEF-BA77-A2E4D823CECC}" srcOrd="0" destOrd="0" presId="urn:microsoft.com/office/officeart/2005/8/layout/chevron1"/>
    <dgm:cxn modelId="{4D1A1E2C-CFE3-43EE-B27B-CF4310943F39}" type="presOf" srcId="{15FCB7DF-D0D3-43D8-8FE5-E5FFDED6264E}" destId="{FDEC72F1-79D0-44B6-8429-0F39785C9AD0}" srcOrd="0" destOrd="0" presId="urn:microsoft.com/office/officeart/2005/8/layout/chevron1"/>
    <dgm:cxn modelId="{B374803A-F1D8-4C12-8B03-25954CE7DDA9}" srcId="{196543C5-093B-4437-B406-DBE4B882EA97}" destId="{C485168C-07AD-4DE6-B17E-1E96E93777D7}" srcOrd="0" destOrd="0" parTransId="{2EA2CE1F-978B-4B0A-92B2-CA23FBAEB8C0}" sibTransId="{05F43B89-7F05-43F2-A0A8-66E0914D6EC4}"/>
    <dgm:cxn modelId="{D8EBBD42-214D-4D3D-9A34-A5A6A40991CD}" srcId="{45D50368-372D-4F79-95B9-B27BD239F0F6}" destId="{15FCB7DF-D0D3-43D8-8FE5-E5FFDED6264E}" srcOrd="0" destOrd="0" parTransId="{5DD5E854-B70B-4927-93DD-9B930567F2D9}" sibTransId="{DDE76206-3F7F-4788-87BA-8C9D4D26CDB9}"/>
    <dgm:cxn modelId="{9D392D43-4099-4B79-8DD5-557B00495ACE}" type="presOf" srcId="{C485168C-07AD-4DE6-B17E-1E96E93777D7}" destId="{0E6AC4B0-7D9E-4235-A5C0-FC9C6164F4E5}" srcOrd="0" destOrd="0" presId="urn:microsoft.com/office/officeart/2005/8/layout/chevron1"/>
    <dgm:cxn modelId="{9C4BE375-6187-4BD4-A343-9FC71D796AF1}" srcId="{CA2BABAF-EDAA-4496-8316-FD6EA3643E8F}" destId="{ABC1EDDD-C08B-4F9C-8453-9CEFCC2AF319}" srcOrd="0" destOrd="0" parTransId="{33D02404-349E-4E82-A8BA-C0A907006883}" sibTransId="{7D85D88C-6545-49D9-9F9D-01270187B165}"/>
    <dgm:cxn modelId="{68788A78-9180-41FF-BD09-BF4DBB52EA0D}" srcId="{B6A966AA-C2D0-420D-89FC-1A1AB0AD4072}" destId="{45D50368-372D-4F79-95B9-B27BD239F0F6}" srcOrd="0" destOrd="0" parTransId="{CDE1A78B-2AE4-4A71-9139-416C219BC84D}" sibTransId="{508ABF25-4B40-405C-9E88-248ED8B31B83}"/>
    <dgm:cxn modelId="{92AC5381-3C06-4FBB-AF46-78C079BB2827}" type="presOf" srcId="{45D50368-372D-4F79-95B9-B27BD239F0F6}" destId="{2612B01E-E5FD-4FF5-9198-43474773E636}" srcOrd="0" destOrd="0" presId="urn:microsoft.com/office/officeart/2005/8/layout/chevron1"/>
    <dgm:cxn modelId="{4011B082-09BD-4DD1-A54F-EA5AB249A3C2}" srcId="{B6A966AA-C2D0-420D-89FC-1A1AB0AD4072}" destId="{CA2BABAF-EDAA-4496-8316-FD6EA3643E8F}" srcOrd="2" destOrd="0" parTransId="{2B1B4805-2FB7-402F-86A8-587F29181C18}" sibTransId="{4498AB02-A1BF-4D28-8918-F87A89CEE23B}"/>
    <dgm:cxn modelId="{52499B9F-797A-43CC-89E1-64C52021BFAF}" srcId="{B6A966AA-C2D0-420D-89FC-1A1AB0AD4072}" destId="{196543C5-093B-4437-B406-DBE4B882EA97}" srcOrd="1" destOrd="0" parTransId="{41DE1F19-4A9F-48CD-A44E-6BF1D04E31EE}" sibTransId="{F264F018-7FB9-43EC-B595-B986D351AD7B}"/>
    <dgm:cxn modelId="{E3AF3FBD-3071-41CE-945A-D570C18AD56E}" type="presOf" srcId="{B6A966AA-C2D0-420D-89FC-1A1AB0AD4072}" destId="{5026F79A-D670-4F65-B581-E609F4440949}" srcOrd="0" destOrd="0" presId="urn:microsoft.com/office/officeart/2005/8/layout/chevron1"/>
    <dgm:cxn modelId="{C3CEA5CA-F759-4A50-A9DB-80C0367BF0E9}" type="presOf" srcId="{ABC1EDDD-C08B-4F9C-8453-9CEFCC2AF319}" destId="{15FC8055-A66C-4D2F-99E2-55FD986FF3F4}" srcOrd="0" destOrd="0" presId="urn:microsoft.com/office/officeart/2005/8/layout/chevron1"/>
    <dgm:cxn modelId="{A82995D3-DA3B-4C8E-B071-EC7E24DFEB33}" type="presOf" srcId="{196543C5-093B-4437-B406-DBE4B882EA97}" destId="{8FBF96FC-7A6C-4977-AC0C-35CDC7270E23}" srcOrd="0" destOrd="0" presId="urn:microsoft.com/office/officeart/2005/8/layout/chevron1"/>
    <dgm:cxn modelId="{83FCA4BC-76F2-436D-A86D-3F27F7F30C0C}" type="presParOf" srcId="{5026F79A-D670-4F65-B581-E609F4440949}" destId="{B2A5F905-5454-4A81-AFC2-602475B3C21B}" srcOrd="0" destOrd="0" presId="urn:microsoft.com/office/officeart/2005/8/layout/chevron1"/>
    <dgm:cxn modelId="{DBB3B9D3-7943-414D-981B-6D14268162A1}" type="presParOf" srcId="{B2A5F905-5454-4A81-AFC2-602475B3C21B}" destId="{2612B01E-E5FD-4FF5-9198-43474773E636}" srcOrd="0" destOrd="0" presId="urn:microsoft.com/office/officeart/2005/8/layout/chevron1"/>
    <dgm:cxn modelId="{E7F5D1D6-20F5-4DA1-ABB1-BD109DF9875E}" type="presParOf" srcId="{B2A5F905-5454-4A81-AFC2-602475B3C21B}" destId="{FDEC72F1-79D0-44B6-8429-0F39785C9AD0}" srcOrd="1" destOrd="0" presId="urn:microsoft.com/office/officeart/2005/8/layout/chevron1"/>
    <dgm:cxn modelId="{BC3AEB43-8F23-4454-A137-2A57141465BB}" type="presParOf" srcId="{5026F79A-D670-4F65-B581-E609F4440949}" destId="{A2E8B6A5-7483-46B9-AEDC-17DBE6FB9B4E}" srcOrd="1" destOrd="0" presId="urn:microsoft.com/office/officeart/2005/8/layout/chevron1"/>
    <dgm:cxn modelId="{FBDF012D-57A1-498B-9406-C43660D57D40}" type="presParOf" srcId="{5026F79A-D670-4F65-B581-E609F4440949}" destId="{187F0FEF-C720-494E-A2FE-020FF399FBDF}" srcOrd="2" destOrd="0" presId="urn:microsoft.com/office/officeart/2005/8/layout/chevron1"/>
    <dgm:cxn modelId="{0158B6AC-60AE-4F07-A941-5840E26EDBC6}" type="presParOf" srcId="{187F0FEF-C720-494E-A2FE-020FF399FBDF}" destId="{8FBF96FC-7A6C-4977-AC0C-35CDC7270E23}" srcOrd="0" destOrd="0" presId="urn:microsoft.com/office/officeart/2005/8/layout/chevron1"/>
    <dgm:cxn modelId="{A634A648-09BE-4A83-9745-412AA2D93F26}" type="presParOf" srcId="{187F0FEF-C720-494E-A2FE-020FF399FBDF}" destId="{0E6AC4B0-7D9E-4235-A5C0-FC9C6164F4E5}" srcOrd="1" destOrd="0" presId="urn:microsoft.com/office/officeart/2005/8/layout/chevron1"/>
    <dgm:cxn modelId="{DE2203D6-A7F7-4F85-99E1-DE0F3192BA2D}" type="presParOf" srcId="{5026F79A-D670-4F65-B581-E609F4440949}" destId="{E164AE18-6369-488B-A2D6-E9F4C3CC4F93}" srcOrd="3" destOrd="0" presId="urn:microsoft.com/office/officeart/2005/8/layout/chevron1"/>
    <dgm:cxn modelId="{4A9879DF-9549-42E2-A1F8-322C5889DE11}" type="presParOf" srcId="{5026F79A-D670-4F65-B581-E609F4440949}" destId="{4027752C-746F-47A0-B9FD-8F9A8606D359}" srcOrd="4" destOrd="0" presId="urn:microsoft.com/office/officeart/2005/8/layout/chevron1"/>
    <dgm:cxn modelId="{D2E924A1-ECA7-4487-9802-AC5E16B44811}" type="presParOf" srcId="{4027752C-746F-47A0-B9FD-8F9A8606D359}" destId="{504C6F9B-242F-4BEF-BA77-A2E4D823CECC}" srcOrd="0" destOrd="0" presId="urn:microsoft.com/office/officeart/2005/8/layout/chevron1"/>
    <dgm:cxn modelId="{5B9BD1E4-4593-4FE0-B213-10BAF3D3ABCE}" type="presParOf" srcId="{4027752C-746F-47A0-B9FD-8F9A8606D359}" destId="{15FC8055-A66C-4D2F-99E2-55FD986FF3F4}" srcOrd="1" destOrd="0" presId="urn:microsoft.com/office/officeart/2005/8/layout/chevron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2B01E-E5FD-4FF5-9198-43474773E636}">
      <dsp:nvSpPr>
        <dsp:cNvPr id="0" name=""/>
        <dsp:cNvSpPr/>
      </dsp:nvSpPr>
      <dsp:spPr>
        <a:xfrm>
          <a:off x="160" y="5089"/>
          <a:ext cx="3437305" cy="118800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mj-lt"/>
            </a:rPr>
            <a:t>Measure</a:t>
          </a:r>
        </a:p>
      </dsp:txBody>
      <dsp:txXfrm>
        <a:off x="594160" y="5089"/>
        <a:ext cx="2249305" cy="1188000"/>
      </dsp:txXfrm>
    </dsp:sp>
    <dsp:sp modelId="{FDEC72F1-79D0-44B6-8429-0F39785C9AD0}">
      <dsp:nvSpPr>
        <dsp:cNvPr id="0" name=""/>
        <dsp:cNvSpPr/>
      </dsp:nvSpPr>
      <dsp:spPr>
        <a:xfrm>
          <a:off x="342378" y="1341589"/>
          <a:ext cx="2749844" cy="985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1" indent="-171450" algn="ctr" defTabSz="800100">
            <a:lnSpc>
              <a:spcPct val="120000"/>
            </a:lnSpc>
            <a:spcBef>
              <a:spcPct val="0"/>
            </a:spcBef>
            <a:spcAft>
              <a:spcPts val="1200"/>
            </a:spcAft>
            <a:buNone/>
          </a:pPr>
          <a:r>
            <a:rPr lang="en-US" sz="1800" kern="1200" dirty="0">
              <a:solidFill>
                <a:schemeClr val="tx1"/>
              </a:solidFill>
            </a:rPr>
            <a:t>Steps 2–3: survey risk, time and personality</a:t>
          </a:r>
        </a:p>
      </dsp:txBody>
      <dsp:txXfrm>
        <a:off x="342378" y="1341589"/>
        <a:ext cx="2749844" cy="985359"/>
      </dsp:txXfrm>
    </dsp:sp>
    <dsp:sp modelId="{8FBF96FC-7A6C-4977-AC0C-35CDC7270E23}">
      <dsp:nvSpPr>
        <dsp:cNvPr id="0" name=""/>
        <dsp:cNvSpPr/>
      </dsp:nvSpPr>
      <dsp:spPr>
        <a:xfrm>
          <a:off x="3426617" y="5089"/>
          <a:ext cx="3437305" cy="118800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mj-lt"/>
            </a:rPr>
            <a:t>Model</a:t>
          </a:r>
        </a:p>
      </dsp:txBody>
      <dsp:txXfrm>
        <a:off x="4020617" y="5089"/>
        <a:ext cx="2249305" cy="1188000"/>
      </dsp:txXfrm>
    </dsp:sp>
    <dsp:sp modelId="{0E6AC4B0-7D9E-4235-A5C0-FC9C6164F4E5}">
      <dsp:nvSpPr>
        <dsp:cNvPr id="0" name=""/>
        <dsp:cNvSpPr/>
      </dsp:nvSpPr>
      <dsp:spPr>
        <a:xfrm>
          <a:off x="3422616" y="1341589"/>
          <a:ext cx="3160148" cy="985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1" indent="-171450" algn="ctr" defTabSz="800100">
            <a:lnSpc>
              <a:spcPct val="120000"/>
            </a:lnSpc>
            <a:spcBef>
              <a:spcPct val="0"/>
            </a:spcBef>
            <a:spcAft>
              <a:spcPts val="1200"/>
            </a:spcAft>
            <a:buNone/>
          </a:pPr>
          <a:r>
            <a:rPr lang="en-US" sz="1800" kern="1200" dirty="0">
              <a:solidFill>
                <a:schemeClr val="tx1"/>
              </a:solidFill>
            </a:rPr>
            <a:t>Step 4: Bayesian engine estimates </a:t>
          </a:r>
          <a:br>
            <a:rPr lang="en-US" sz="1800" kern="1200" dirty="0">
              <a:solidFill>
                <a:schemeClr val="tx1"/>
              </a:solidFill>
            </a:rPr>
          </a:br>
          <a:r>
            <a:rPr lang="en-US" sz="1800" kern="1200" dirty="0">
              <a:solidFill>
                <a:schemeClr val="tx1"/>
              </a:solidFill>
            </a:rPr>
            <a:t>utility and value functions</a:t>
          </a:r>
        </a:p>
      </dsp:txBody>
      <dsp:txXfrm>
        <a:off x="3422616" y="1341589"/>
        <a:ext cx="3160148" cy="985359"/>
      </dsp:txXfrm>
    </dsp:sp>
    <dsp:sp modelId="{504C6F9B-242F-4BEF-BA77-A2E4D823CECC}">
      <dsp:nvSpPr>
        <dsp:cNvPr id="0" name=""/>
        <dsp:cNvSpPr/>
      </dsp:nvSpPr>
      <dsp:spPr>
        <a:xfrm>
          <a:off x="6647922" y="5089"/>
          <a:ext cx="3437305" cy="118800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mj-lt"/>
            </a:rPr>
            <a:t>Recommend</a:t>
          </a:r>
        </a:p>
      </dsp:txBody>
      <dsp:txXfrm>
        <a:off x="7241922" y="5089"/>
        <a:ext cx="2249305" cy="1188000"/>
      </dsp:txXfrm>
    </dsp:sp>
    <dsp:sp modelId="{15FC8055-A66C-4D2F-99E2-55FD986FF3F4}">
      <dsp:nvSpPr>
        <dsp:cNvPr id="0" name=""/>
        <dsp:cNvSpPr/>
      </dsp:nvSpPr>
      <dsp:spPr>
        <a:xfrm>
          <a:off x="6921229" y="1341589"/>
          <a:ext cx="2749844" cy="985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1" indent="-171450" algn="ctr" defTabSz="800100">
            <a:lnSpc>
              <a:spcPct val="120000"/>
            </a:lnSpc>
            <a:spcBef>
              <a:spcPct val="0"/>
            </a:spcBef>
            <a:spcAft>
              <a:spcPts val="1200"/>
            </a:spcAft>
            <a:buNone/>
          </a:pPr>
          <a:r>
            <a:rPr lang="en-US" sz="1800" kern="1200" dirty="0">
              <a:solidFill>
                <a:schemeClr val="tx1"/>
              </a:solidFill>
            </a:rPr>
            <a:t>Steps 5–6: EUT vs SP/A-BPT portfolios, personality overlay</a:t>
          </a:r>
        </a:p>
      </dsp:txBody>
      <dsp:txXfrm>
        <a:off x="6921229" y="1341589"/>
        <a:ext cx="2749844" cy="985359"/>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10/6/2026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10/6/2026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[ADWAAIIT · ~0:20]</a:t>
            </a:r>
          </a:p>
          <a:p>
            <a:r>
              <a:t>Good morning. I'm Adwaaiit, and this is Ayushi. For Assignment 2 we acted as personal investment advisors to five classmates, and then built the robo-advisor that automates the whole process. I'll take you through how we measured everyone's preferences; Ayushi will take the results and the advice.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[ADWAAIIT · ~0:45]</a:t>
            </a:r>
          </a:p>
          <a:p>
            <a:r>
              <a:t>Our approach has three stages. Measure — Steps 2 and 3 — we survey risk and time preferences and personality. Model — Step 4 — an adaptive engine turns each person's 20 choices into a utility function and a prospect-theory value function. Recommend — Steps 5 and 6 — we build a portfolio for each person under Expected Utility Theory and under SP/A Behavioral Portfolio Theory, on the same 66-stock NSE universe and covariance matrix from Problem Statement 1, and then layer personality on top of the advice. Everything runs live in one web portal, which Ayushi will show at the end.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[ADWAAIIT · ~0:50]</a:t>
            </a:r>
          </a:p>
          <a:p>
            <a:r>
              <a:t>Each respondent completes five components in one sitting, about fifteen minutes: two self-rating anchors; the 13-item Grable and Lytton risk-tolerance scale; the financial part of DOSPERT, which separates investing from gambling; the full 60-item BFI-2 for personality, as the brief asks; and our own adaptive choice task, which is Step 4. The design point: the first four tell us what people say about themselves, the last one shows what they actually choose. Where the two disagree, that is information in itself — we come back to it in Step 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[ADWAAIIT · ~1:00]</a:t>
            </a:r>
          </a:p>
          <a:p>
            <a:r>
              <a:t>Step 4 is the core of the project. Every question is a choice: a gamble versus a sure amount, or money now versus more money later. We score each option with one five-parameter model — γ for curvature, λ for loss aversion, α for Prelec probability weighting, and β and δ for present bias and patience. The engine keeps a posterior over all 7,776 combinations on the grid, updates it by Bayes' rule after every answer, and asks next whichever question is expected to shrink the uncertainty the most. Two questions are secretly repeated as a consistency check. Because twenty answers is not a lot, we then shrink each person's estimate toward the group average using Empirical Bayes, always keeping at least 30% weight on the individual.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[ADWAAIIT · ~1:00]</a:t>
            </a:r>
          </a:p>
          <a:p>
            <a:r>
              <a:t>These are the Step 4 graphs. Left, the EUT utility function. Shree Charan, Ayushi and I sit almost on top of each other at γ around 2.2: strongly concave. Kartika is close to risk-neutral. Kshitij came out with a negative γ, so his curve is convex — risk-seeking — which classic EUT cannot handle; we floor him at 0.05 for the portfolio maths and report both numbers.</a:t>
            </a:r>
          </a:p>
          <a:p>
            <a:r>
              <a:t>Right, the prospect-theory value function. Only Kshitij is loss-averse: a loss hurts him 1.6 times as much as an equal gain. One honest caveat: the engine floors the exponent at 0.05, so for the three of us at 2.2 the curve becomes almost a step. We know we are strongly risk-averse in the choice task, but not exactly how strongly.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[ADWAAIIT · ~0:50]</a:t>
            </a:r>
          </a:p>
          <a:p>
            <a:r>
              <a:t>The other two functions. Probability weighting: Kshitij and Shree Charan show the classic inverse-S — they treat a 5% chance as if it were 21% and 16%, the lottery-ticket effect. Kartika weights probabilities objectively. Time preference: the drop just after zero is present bias. Kshitij is the most impatient — a rupee one year away is worth about 18 paise today to him. I am the most patient at about 70 paise, even though I rated my own patience 4 out of 10. That is our second gap between what people say and what they choose.</a:t>
            </a:r>
          </a:p>
          <a:p>
            <a:r>
              <a:t>With that, over to Ayushi for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[AYUSHI · ~0:10]</a:t>
            </a:r>
          </a:p>
          <a:p>
            <a:r>
              <a:t>Thanks, Adwaaiit. So what do these preferences mean for each person's portfolio?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[AYUSHI · ~0:50]</a:t>
            </a:r>
          </a:p>
          <a:p>
            <a:r>
              <a:t>This is the full outcome table for the five of us. Grable–Lytton scores run from 27 to 40. The pooled γ and λ drive the portfolios; α, β and δ describe how each person perceives probabilities and time. Three flags we report rather than hide: Shree Charan's BFI-2 is exactly 3.00 on all five domains, which looks like straight-lining; my own retest consistency is 0.5, so one of my two repeated questions flipped; and Adwaaiit rates his risk tolerance 10 out of 10 and has the top Grable–Lytton score, yet his choices give a γ of 2.2.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[AYUSHI · ~1:00]</a:t>
            </a:r>
          </a:p>
          <a:p>
            <a:r>
              <a:t>Under EUT, the share of wealth in the risky tangency portfolio is the market price of risk divided by γ — 2.5 over γ in our universe — capped at 100% because the mandate is long-only, no leverage. Everyone's γ is below 2.5, so everyone hits the cap: 100% in the same tangency portfolio, 13.21% expected return and 16.08% volatility. That is two-fund separation at work: EUT simply cannot personalise this group. Someone would need γ above 2.5 before EUT holds any cash at all. And given the identification caveat Adwaaiit mentioned, at γ of 3 the share would be 83%, so for the three people at 2.2 this result is conditional.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[AYUSHI · ~1:00]</a:t>
            </a:r>
          </a:p>
          <a:p>
            <a:r>
              <a:t>SP/A-BPT does differentiate the group. Each person holds two mental accounts: a safety layer that maximises Roy's safety-first ratio above the 6.75% risk-free rate, and an aspiration layer that aims above the 75th percentile of expected returns. How money splits between the two comes from loss aversion: 30% in safety at λ of 1, rising to 80% at λ of 4. Kshitij, our only loss-averse investor, gets 40% in safety, the lowest expected return at 15.77% and the lowest volatility at 27.12%. Shree Charan and Kartika get 30%; Adwaaiit and I sit just above 30%. One subtlety: the two building blocks are identical for everyone — the personalisation is entirely in the mix.</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[AYUSHI · ~1:00]</a:t>
            </a:r>
          </a:p>
          <a:p>
            <a:r>
              <a:t>Step 6: how personality should enter the advice. Our principle is that personality changes how we advise and how much we trust the numbers, not the portfolio weights, which stay driven by γ and λ. Four rules. Negative Emotionality is checked against λ: if both are high, we lead with drawdown communication; if they disagree, a human follows up. Gaps between self-report and choices, like Adwaaiit's, trigger a short conversation rather than being averaged away. Flat personality profiles or low retest scores, like Shree Charan's and mine, lower our confidence and call for a re-survey or a more conservative default. And Openness and Conscientiousness tell us whether a client will accept two mental accounts and keep rebalancing them — Kartika is open but less conscientious, so her plan should rebalance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[AYUSHI · ~0:45]</a:t>
            </a:r>
          </a:p>
          <a:p>
            <a:r>
              <a:t>Deliverable (b) is this portal. A client takes the survey in about fifteen minutes. The moment they finish, the browser computes their EUT and BPT portfolios, their top holdings, their own utility and value curves, and the personality-linked commentary — no server and no manual step. A separate evaluation view loads all five of our respondents, every instrument and the full maths, so the whole project can be reviewed from one link. It is deployed as a static site on Vercel, at mba680-robo-advisor.vercel.app, so anyone with the link can use it without logging in. We checked the JavaScript against our Python pipeline: the portfolio numbers match to at least three decimal places.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[AYUSHI · ~0:40]</a:t>
            </a:r>
          </a:p>
          <a:p>
            <a:r>
              <a:t>To sum up. EUT alone cannot personalise a young, risk-tolerant group: all five of us get 100% of the same tangency portfolio. SP/A-BPT can, through loss aversion, which moves the safety share between 30 and 40%. And personality belongs in the communication and trust layer around both models, not inside the weights. Our limitations: only five respondents; γ identified only as above about 1; and expected returns back-solved from the Markowitz covariance matrix. Every data-quality flag is reported, not dropped. Next steps would be wider question stakes and a bigger peer group.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 ~0:10]</a:t>
            </a:r>
          </a:p>
          <a:p>
            <a:r>
              <a:t>Thank you — we're happy to take questions. The portal is at mba680-robo-advisor.vercel.app — adding #evaluate to the link opens the full project view with everything we showed today.</a:t>
            </a:r>
          </a:p>
          <a:p>
            <a:endParaRPr/>
          </a:p>
          <a:p>
            <a:r>
              <a:t>Q&amp;A backup:</a:t>
            </a:r>
          </a:p>
          <a:p>
            <a:r>
              <a:t>• Why floor Kshitij's γ? CRRA with γ &lt; 0 is convex; EUT's risky share formula needs γ &gt; 0. We report raw −0.50 and floored 0.05.</a:t>
            </a:r>
          </a:p>
          <a:p>
            <a:r>
              <a:t>• Why does EUT give everyone 100%? λ_mkt / γ &gt; 1 for all five (λ_mkt = 2.5), and the mandate is long-only, no leverage.</a:t>
            </a:r>
          </a:p>
          <a:p>
            <a:r>
              <a:t>• Where do expected returns come from? Black-Litterman reverse optimisation on the Problem 1 covariance matrix with a market-cap reference and λ_mkt = 2.5.</a:t>
            </a:r>
          </a:p>
          <a:p>
            <a:r>
              <a:t>• Why 30%–80% safety range? Linear in λ between the grid's ends (λ = 1 → 30%, λ = 4 → 80%), following Das-Markowitz-Scheid-Statman (2010) mental accounts.</a:t>
            </a:r>
          </a:p>
        </p:txBody>
      </p:sp>
      <p:sp>
        <p:nvSpPr>
          <p:cNvPr id="4" name="Slide Number Placeholder 3"/>
          <p:cNvSpPr>
            <a:spLocks noGrp="1"/>
          </p:cNvSpPr>
          <p:nvPr>
            <p:ph type="sldNum" sz="quarter" idx="5"/>
          </p:nvPr>
        </p:nvSpPr>
        <p:spPr/>
        <p:txBody>
          <a:bodyPr/>
          <a:lstStyle/>
          <a:p>
            <a:fld id="{8D7D3E5B-4BED-B24C-9674-6B6454D04561}" type="slidenum">
              <a:rPr lang="en-US" smtClean="0"/>
              <a:t>14</a:t>
            </a:fld>
            <a:endParaRPr lang="en-US" dirty="0"/>
          </a:p>
        </p:txBody>
      </p:sp>
    </p:spTree>
    <p:extLst>
      <p:ext uri="{BB962C8B-B14F-4D97-AF65-F5344CB8AC3E}">
        <p14:creationId xmlns:p14="http://schemas.microsoft.com/office/powerpoint/2010/main" val="23182809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EBC0340-3AAE-A39F-0BAF-0E7430611152}"/>
              </a:ext>
            </a:extLst>
          </p:cNvPr>
          <p:cNvSpPr/>
          <p:nvPr userDrawn="1"/>
        </p:nvSpPr>
        <p:spPr>
          <a:xfrm>
            <a:off x="3127386" y="1976768"/>
            <a:ext cx="6929120" cy="4877511"/>
          </a:xfrm>
          <a:custGeom>
            <a:avLst/>
            <a:gdLst>
              <a:gd name="connsiteX0" fmla="*/ 3464560 w 6929120"/>
              <a:gd name="connsiteY0" fmla="*/ 0 h 4877511"/>
              <a:gd name="connsiteX1" fmla="*/ 6929120 w 6929120"/>
              <a:gd name="connsiteY1" fmla="*/ 3464560 h 4877511"/>
              <a:gd name="connsiteX2" fmla="*/ 6656858 w 6929120"/>
              <a:gd name="connsiteY2" fmla="*/ 4813124 h 4877511"/>
              <a:gd name="connsiteX3" fmla="*/ 6625841 w 6929120"/>
              <a:gd name="connsiteY3" fmla="*/ 4877511 h 4877511"/>
              <a:gd name="connsiteX4" fmla="*/ 303280 w 6929120"/>
              <a:gd name="connsiteY4" fmla="*/ 4877511 h 4877511"/>
              <a:gd name="connsiteX5" fmla="*/ 272263 w 6929120"/>
              <a:gd name="connsiteY5" fmla="*/ 4813124 h 4877511"/>
              <a:gd name="connsiteX6" fmla="*/ 0 w 6929120"/>
              <a:gd name="connsiteY6" fmla="*/ 3464560 h 4877511"/>
              <a:gd name="connsiteX7" fmla="*/ 3464560 w 6929120"/>
              <a:gd name="connsiteY7" fmla="*/ 0 h 487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120" h="4877511">
                <a:moveTo>
                  <a:pt x="3464560" y="0"/>
                </a:moveTo>
                <a:cubicBezTo>
                  <a:pt x="5377984" y="0"/>
                  <a:pt x="6929120" y="1551136"/>
                  <a:pt x="6929120" y="3464560"/>
                </a:cubicBezTo>
                <a:cubicBezTo>
                  <a:pt x="6929120" y="3942916"/>
                  <a:pt x="6832174" y="4398629"/>
                  <a:pt x="6656858" y="4813124"/>
                </a:cubicBezTo>
                <a:lnTo>
                  <a:pt x="6625841" y="4877511"/>
                </a:lnTo>
                <a:lnTo>
                  <a:pt x="303280" y="4877511"/>
                </a:lnTo>
                <a:lnTo>
                  <a:pt x="272263" y="4813124"/>
                </a:lnTo>
                <a:cubicBezTo>
                  <a:pt x="96946" y="4398629"/>
                  <a:pt x="0" y="3942916"/>
                  <a:pt x="0" y="3464560"/>
                </a:cubicBezTo>
                <a:cubicBezTo>
                  <a:pt x="0" y="1551136"/>
                  <a:pt x="1551136" y="0"/>
                  <a:pt x="34645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0" name="Picture 9" descr="Gap between two buildings against the blue sky">
            <a:extLst>
              <a:ext uri="{FF2B5EF4-FFF2-40B4-BE49-F238E27FC236}">
                <a16:creationId xmlns:a16="http://schemas.microsoft.com/office/drawing/2014/main" id="{C40F96A3-9DAF-4D22-64AD-CEC023D28D9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0546"/>
                    </a14:imgEffect>
                    <a14:imgEffect>
                      <a14:saturation sat="0"/>
                    </a14:imgEffect>
                    <a14:imgEffect>
                      <a14:brightnessContrast bright="-34000" contrast="60000"/>
                    </a14:imgEffect>
                  </a14:imgLayer>
                </a14:imgProps>
              </a:ext>
              <a:ext uri="{28A0092B-C50C-407E-A947-70E740481C1C}">
                <a14:useLocalDpi xmlns:a14="http://schemas.microsoft.com/office/drawing/2010/main"/>
              </a:ext>
            </a:extLst>
          </a:blip>
          <a:srcRect t="2550" b="8386"/>
          <a:stretch/>
        </p:blipFill>
        <p:spPr>
          <a:xfrm>
            <a:off x="760411" y="0"/>
            <a:ext cx="11431589"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16767" y="1399032"/>
            <a:ext cx="6757416" cy="3427502"/>
          </a:xfrm>
        </p:spPr>
        <p:txBody>
          <a:bodyPr lIns="0" tIns="0" rIns="0" bIns="0" anchor="t">
            <a:noAutofit/>
          </a:bodyPr>
          <a:lstStyle>
            <a:lvl1pPr algn="l">
              <a:defRPr sz="4500" cap="all" baseline="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816768" y="417444"/>
            <a:ext cx="7414940" cy="883258"/>
          </a:xfrm>
        </p:spPr>
        <p:txBody>
          <a:bodyPr lIns="0" tIns="0" rIns="0" bIns="182880" anchor="b">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5029200" cy="2157984"/>
          </a:xfrm>
        </p:spPr>
        <p:txBody>
          <a:bodyPr lIns="0" tIns="0" rIns="0" bIns="0" anchor="b">
            <a:noAutofit/>
          </a:bodyPr>
          <a:lstStyle>
            <a:lvl1pPr>
              <a:defRPr sz="3200" cap="all" baseline="0"/>
            </a:lvl1pPr>
          </a:lstStyle>
          <a:p>
            <a:r>
              <a:rPr lang="en-US" dirty="0"/>
              <a:t>CLICK TO EDIT MASTER TITLE STYLE</a:t>
            </a:r>
          </a:p>
        </p:txBody>
      </p:sp>
      <p:sp>
        <p:nvSpPr>
          <p:cNvPr id="5" name="Picture Placeholder 4">
            <a:extLst>
              <a:ext uri="{FF2B5EF4-FFF2-40B4-BE49-F238E27FC236}">
                <a16:creationId xmlns:a16="http://schemas.microsoft.com/office/drawing/2014/main" id="{346650F3-FE62-E3A1-C1F7-6A7E767D0045}"/>
              </a:ext>
            </a:extLst>
          </p:cNvPr>
          <p:cNvSpPr>
            <a:spLocks noGrp="1"/>
          </p:cNvSpPr>
          <p:nvPr>
            <p:ph type="pic" sz="quarter" idx="10"/>
          </p:nvPr>
        </p:nvSpPr>
        <p:spPr>
          <a:xfrm>
            <a:off x="1395412" y="653461"/>
            <a:ext cx="4597556" cy="5549900"/>
          </a:xfrm>
        </p:spPr>
        <p:txBody>
          <a:bodyPr/>
          <a:lstStyle/>
          <a:p>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1" y="3127248"/>
            <a:ext cx="4834517" cy="3108960"/>
          </a:xfrm>
        </p:spPr>
        <p:txBody>
          <a:bodyPr lIns="0" tIns="0" rIns="0" bIns="0">
            <a:noAutofit/>
          </a:bodyPr>
          <a:lstStyle>
            <a:lvl1pPr marL="0" indent="0">
              <a:lnSpc>
                <a:spcPct val="12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1">
            <a:extLst>
              <a:ext uri="{FF2B5EF4-FFF2-40B4-BE49-F238E27FC236}">
                <a16:creationId xmlns:a16="http://schemas.microsoft.com/office/drawing/2014/main" id="{21A89689-0612-8B49-DF4A-1864B8558C5C}"/>
              </a:ext>
            </a:extLst>
          </p:cNvPr>
          <p:cNvSpPr>
            <a:spLocks noGrp="1"/>
          </p:cNvSpPr>
          <p:nvPr>
            <p:ph type="ftr" sz="quarter" idx="12"/>
          </p:nvPr>
        </p:nvSpPr>
        <p:spPr>
          <a:xfrm rot="16200000">
            <a:off x="8854442" y="2953511"/>
            <a:ext cx="6291068" cy="384048"/>
          </a:xfrm>
        </p:spPr>
        <p:txBody>
          <a:bodyPr/>
          <a:lstStyle/>
          <a:p>
            <a:r>
              <a:rPr lang="en-US" dirty="0"/>
              <a:t>Presentation Title</a:t>
            </a:r>
          </a:p>
        </p:txBody>
      </p:sp>
      <p:sp>
        <p:nvSpPr>
          <p:cNvPr id="13" name="Slide Number Placeholder 4">
            <a:extLst>
              <a:ext uri="{FF2B5EF4-FFF2-40B4-BE49-F238E27FC236}">
                <a16:creationId xmlns:a16="http://schemas.microsoft.com/office/drawing/2014/main" id="{2FE54DA2-6D33-7833-E646-95347EF8B9AD}"/>
              </a:ext>
            </a:extLst>
          </p:cNvPr>
          <p:cNvSpPr>
            <a:spLocks noGrp="1"/>
          </p:cNvSpPr>
          <p:nvPr>
            <p:ph type="sldNum" sz="quarter" idx="13"/>
          </p:nvPr>
        </p:nvSpPr>
        <p:spPr>
          <a:xfrm rot="16200000">
            <a:off x="11716512" y="6382510"/>
            <a:ext cx="566928" cy="384048"/>
          </a:xfrm>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200317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DE39F4-E652-D021-FAC3-9A057954548D}"/>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5093208" cy="2189223"/>
          </a:xfrm>
        </p:spPr>
        <p:txBody>
          <a:bodyPr lIns="0" tIns="0" rIns="0" bIns="0" anchor="b">
            <a:noAutofit/>
          </a:bodyPr>
          <a:lstStyle>
            <a:lvl1pPr>
              <a:defRPr sz="3200" baseline="0">
                <a:solidFill>
                  <a:schemeClr val="tx1"/>
                </a:solidFill>
              </a:defRPr>
            </a:lvl1pPr>
          </a:lstStyle>
          <a:p>
            <a:r>
              <a:rPr lang="en-US" dirty="0"/>
              <a:t>CLICK TO EDIT MASTER TITLE STYLE</a:t>
            </a: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solidFill>
            <a:schemeClr val="accent1">
              <a:lumMod val="20000"/>
              <a:lumOff val="80000"/>
            </a:schemeClr>
          </a:solidFill>
        </p:spPr>
        <p:txBody>
          <a:bodyPr wrap="square" anchor="ctr">
            <a:noAutofit/>
          </a:bodyPr>
          <a:lstStyle>
            <a:lvl1pPr algn="ctr">
              <a:defRPr/>
            </a:lvl1pPr>
          </a:lstStyle>
          <a:p>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8" y="3145536"/>
            <a:ext cx="4306824" cy="2313432"/>
          </a:xfrm>
        </p:spPr>
        <p:txBody>
          <a:bodyPr lIns="0" tIns="0" rIns="0" bIns="0">
            <a:noAutofit/>
          </a:bodyPr>
          <a:lstStyle>
            <a:lvl1pPr marL="0" indent="0">
              <a:lnSpc>
                <a:spcPct val="120000"/>
              </a:lnSpc>
              <a:spcBef>
                <a:spcPts val="0"/>
              </a:spcBef>
              <a:spcAft>
                <a:spcPts val="120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Oval 6">
            <a:extLst>
              <a:ext uri="{FF2B5EF4-FFF2-40B4-BE49-F238E27FC236}">
                <a16:creationId xmlns:a16="http://schemas.microsoft.com/office/drawing/2014/main" id="{9AF214F5-1EBC-DA96-F275-05A0133562D0}"/>
              </a:ext>
            </a:extLst>
          </p:cNvPr>
          <p:cNvSpPr/>
          <p:nvPr userDrawn="1"/>
        </p:nvSpPr>
        <p:spPr>
          <a:xfrm>
            <a:off x="4903412" y="3140474"/>
            <a:ext cx="1314946" cy="1314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image">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592F592C-CC3F-8FC0-DAF8-24019474CAB1}"/>
              </a:ext>
            </a:extLst>
          </p:cNvPr>
          <p:cNvSpPr>
            <a:spLocks noGrp="1"/>
          </p:cNvSpPr>
          <p:nvPr>
            <p:ph type="title" hasCustomPrompt="1"/>
          </p:nvPr>
        </p:nvSpPr>
        <p:spPr>
          <a:xfrm>
            <a:off x="847383" y="1106424"/>
            <a:ext cx="6839712" cy="1746504"/>
          </a:xfrm>
        </p:spPr>
        <p:txBody>
          <a:bodyPr lIns="0" tIns="0" rIns="0" bIns="0" anchor="b">
            <a:noAutofit/>
          </a:bodyPr>
          <a:lstStyle>
            <a:lvl1pPr>
              <a:defRPr sz="3200" baseline="0">
                <a:latin typeface="+mj-lt"/>
              </a:defRPr>
            </a:lvl1pPr>
          </a:lstStyle>
          <a:p>
            <a:r>
              <a:rPr lang="en-US" dirty="0"/>
              <a:t>CLICK TO EDIT MASTER TITLE</a:t>
            </a:r>
          </a:p>
        </p:txBody>
      </p:sp>
      <p:sp>
        <p:nvSpPr>
          <p:cNvPr id="13" name="Text Placeholder 2">
            <a:extLst>
              <a:ext uri="{FF2B5EF4-FFF2-40B4-BE49-F238E27FC236}">
                <a16:creationId xmlns:a16="http://schemas.microsoft.com/office/drawing/2014/main" id="{ED5AF112-F5BD-9AA8-0E64-A6972333DDB1}"/>
              </a:ext>
            </a:extLst>
          </p:cNvPr>
          <p:cNvSpPr>
            <a:spLocks noGrp="1"/>
          </p:cNvSpPr>
          <p:nvPr>
            <p:ph type="body" idx="1"/>
          </p:nvPr>
        </p:nvSpPr>
        <p:spPr>
          <a:xfrm>
            <a:off x="850392" y="3236976"/>
            <a:ext cx="5248656" cy="2660904"/>
          </a:xfrm>
        </p:spPr>
        <p:txBody>
          <a:bodyPr lIns="0" tIns="0" rIns="0" bIns="0">
            <a:noAutofit/>
          </a:bodyPr>
          <a:lstStyle>
            <a:lvl1pPr marL="0" indent="0">
              <a:lnSpc>
                <a:spcPct val="12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8">
            <a:extLst>
              <a:ext uri="{FF2B5EF4-FFF2-40B4-BE49-F238E27FC236}">
                <a16:creationId xmlns:a16="http://schemas.microsoft.com/office/drawing/2014/main" id="{DD9A5508-A146-4C36-FF14-5B78325C526D}"/>
              </a:ext>
            </a:extLst>
          </p:cNvPr>
          <p:cNvSpPr>
            <a:spLocks noGrp="1"/>
          </p:cNvSpPr>
          <p:nvPr>
            <p:ph type="pic" sz="quarter" idx="12"/>
          </p:nvPr>
        </p:nvSpPr>
        <p:spPr>
          <a:xfrm>
            <a:off x="7680960" y="804672"/>
            <a:ext cx="3475649" cy="5248656"/>
          </a:xfrm>
          <a:solidFill>
            <a:schemeClr val="accent1">
              <a:lumMod val="20000"/>
              <a:lumOff val="80000"/>
            </a:schemeClr>
          </a:solidFill>
        </p:spPr>
        <p:txBody>
          <a:bodyPr anchor="ctr"/>
          <a:lstStyle>
            <a:lvl1pPr algn="ctr">
              <a:defRPr/>
            </a:lvl1pPr>
          </a:lstStyle>
          <a:p>
            <a:endParaRPr lang="en-US" dirty="0"/>
          </a:p>
        </p:txBody>
      </p:sp>
      <p:sp>
        <p:nvSpPr>
          <p:cNvPr id="3" name="Footer Placeholder 2">
            <a:extLst>
              <a:ext uri="{FF2B5EF4-FFF2-40B4-BE49-F238E27FC236}">
                <a16:creationId xmlns:a16="http://schemas.microsoft.com/office/drawing/2014/main" id="{8DE7E217-DB17-AA1B-8753-DBFDF42AB32F}"/>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CD6FA3F1-16D7-20B8-B929-59317A576C99}"/>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830579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p:spTree>
      <p:nvGrpSpPr>
        <p:cNvPr id="1" name=""/>
        <p:cNvGrpSpPr/>
        <p:nvPr/>
      </p:nvGrpSpPr>
      <p:grpSpPr>
        <a:xfrm>
          <a:off x="0" y="0"/>
          <a:ext cx="0" cy="0"/>
          <a:chOff x="0" y="0"/>
          <a:chExt cx="0" cy="0"/>
        </a:xfrm>
      </p:grpSpPr>
      <p:pic>
        <p:nvPicPr>
          <p:cNvPr id="37" name="Picture 36" descr="A picture containing accessory&#10;&#10;Description automatically generated">
            <a:extLst>
              <a:ext uri="{FF2B5EF4-FFF2-40B4-BE49-F238E27FC236}">
                <a16:creationId xmlns:a16="http://schemas.microsoft.com/office/drawing/2014/main" id="{C36ADBF6-BB82-4096-70C0-7517A47A412F}"/>
              </a:ext>
            </a:extLst>
          </p:cNvPr>
          <p:cNvPicPr>
            <a:picLocks noChangeAspect="1"/>
          </p:cNvPicPr>
          <p:nvPr userDrawn="1"/>
        </p:nvPicPr>
        <p:blipFill>
          <a:blip r:embed="rId2" cstate="print">
            <a:grayscl/>
            <a:extLst>
              <a:ext uri="{BEBA8EAE-BF5A-486C-A8C5-ECC9F3942E4B}">
                <a14:imgProps xmlns:a14="http://schemas.microsoft.com/office/drawing/2010/main">
                  <a14:imgLayer r:embed="rId3">
                    <a14:imgEffect>
                      <a14:colorTemperature colorTemp="4700"/>
                    </a14:imgEffect>
                    <a14:imgEffect>
                      <a14:saturation sat="33000"/>
                    </a14:imgEffect>
                    <a14:imgEffect>
                      <a14:brightnessContrast contrast="40000"/>
                    </a14:imgEffect>
                  </a14:imgLayer>
                </a14:imgProps>
              </a:ext>
              <a:ext uri="{28A0092B-C50C-407E-A947-70E740481C1C}">
                <a14:useLocalDpi xmlns:a14="http://schemas.microsoft.com/office/drawing/2010/main"/>
              </a:ext>
            </a:extLst>
          </a:blip>
          <a:srcRect r="21975" b="1533"/>
          <a:stretch>
            <a:fillRect/>
          </a:stretch>
        </p:blipFill>
        <p:spPr>
          <a:xfrm rot="8325578">
            <a:off x="-1775001" y="-1607470"/>
            <a:ext cx="1056796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reeform 13">
            <a:extLst>
              <a:ext uri="{FF2B5EF4-FFF2-40B4-BE49-F238E27FC236}">
                <a16:creationId xmlns:a16="http://schemas.microsoft.com/office/drawing/2014/main" id="{FA127B08-9EC5-3FDF-B7CC-DF3587255E18}"/>
              </a:ext>
            </a:extLst>
          </p:cNvPr>
          <p:cNvSpPr/>
          <p:nvPr userDrawn="1"/>
        </p:nvSpPr>
        <p:spPr>
          <a:xfrm>
            <a:off x="925160" y="4144752"/>
            <a:ext cx="478832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10" name="Title 1">
            <a:extLst>
              <a:ext uri="{FF2B5EF4-FFF2-40B4-BE49-F238E27FC236}">
                <a16:creationId xmlns:a16="http://schemas.microsoft.com/office/drawing/2014/main" id="{0651D38D-DD64-4914-C669-30AA47A5AF3A}"/>
              </a:ext>
            </a:extLst>
          </p:cNvPr>
          <p:cNvSpPr>
            <a:spLocks noGrp="1"/>
          </p:cNvSpPr>
          <p:nvPr>
            <p:ph type="title" hasCustomPrompt="1"/>
          </p:nvPr>
        </p:nvSpPr>
        <p:spPr>
          <a:xfrm>
            <a:off x="6693408" y="1325880"/>
            <a:ext cx="5093208" cy="2816352"/>
          </a:xfrm>
        </p:spPr>
        <p:txBody>
          <a:bodyPr lIns="0" tIns="0" rIns="0" bIns="0" anchor="b">
            <a:noAutofit/>
          </a:bodyPr>
          <a:lstStyle>
            <a:lvl1pPr>
              <a:defRPr sz="3200" cap="all" baseline="0"/>
            </a:lvl1pPr>
          </a:lstStyle>
          <a:p>
            <a:r>
              <a:rPr lang="en-US" dirty="0"/>
              <a:t>CLICK TO EDIT MASTER TITLE STYLE</a:t>
            </a:r>
          </a:p>
        </p:txBody>
      </p:sp>
      <p:sp>
        <p:nvSpPr>
          <p:cNvPr id="12" name="Subtitle 2">
            <a:extLst>
              <a:ext uri="{FF2B5EF4-FFF2-40B4-BE49-F238E27FC236}">
                <a16:creationId xmlns:a16="http://schemas.microsoft.com/office/drawing/2014/main" id="{5A8DA7F4-A65E-7F16-9966-719CC1CE28D2}"/>
              </a:ext>
            </a:extLst>
          </p:cNvPr>
          <p:cNvSpPr>
            <a:spLocks noGrp="1"/>
          </p:cNvSpPr>
          <p:nvPr>
            <p:ph type="subTitle" idx="1"/>
          </p:nvPr>
        </p:nvSpPr>
        <p:spPr>
          <a:xfrm>
            <a:off x="6693408" y="4462272"/>
            <a:ext cx="3995928" cy="1956816"/>
          </a:xfrm>
        </p:spPr>
        <p:txBody>
          <a:bodyPr lIns="0" tIns="0" rIns="0" bIns="0">
            <a:noAutofit/>
          </a:bodyPr>
          <a:lstStyle>
            <a:lvl1pPr marL="0" indent="0" algn="l">
              <a:lnSpc>
                <a:spcPct val="120000"/>
              </a:lnSpc>
              <a:spcBef>
                <a:spcPts val="0"/>
              </a:spcBef>
              <a:spcAft>
                <a:spcPts val="1200"/>
              </a:spcAft>
              <a:buNone/>
              <a:defRPr sz="1800" cap="none" spc="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2" name="Rectangle 1">
            <a:extLst>
              <a:ext uri="{FF2B5EF4-FFF2-40B4-BE49-F238E27FC236}">
                <a16:creationId xmlns:a16="http://schemas.microsoft.com/office/drawing/2014/main" id="{7FD6A538-39F8-D45E-F4C1-38779C640BB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77806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14" name="Freeform 10">
            <a:extLst>
              <a:ext uri="{FF2B5EF4-FFF2-40B4-BE49-F238E27FC236}">
                <a16:creationId xmlns:a16="http://schemas.microsoft.com/office/drawing/2014/main" id="{AB86DE8E-78DF-CA66-5AED-C7FF0CCF03CD}"/>
              </a:ext>
              <a:ext uri="{C183D7F6-B498-43B3-948B-1728B52AA6E4}">
                <adec:decorative xmlns:adec="http://schemas.microsoft.com/office/drawing/2017/decorative" val="1"/>
              </a:ext>
            </a:extLst>
          </p:cNvPr>
          <p:cNvSpPr/>
          <p:nvPr userDrawn="1"/>
        </p:nvSpPr>
        <p:spPr>
          <a:xfrm>
            <a:off x="4410512" y="4010866"/>
            <a:ext cx="5056094" cy="2847135"/>
          </a:xfrm>
          <a:custGeom>
            <a:avLst/>
            <a:gdLst>
              <a:gd name="connsiteX0" fmla="*/ 2528047 w 5056094"/>
              <a:gd name="connsiteY0" fmla="*/ 0 h 2847135"/>
              <a:gd name="connsiteX1" fmla="*/ 5056094 w 5056094"/>
              <a:gd name="connsiteY1" fmla="*/ 2528047 h 2847135"/>
              <a:gd name="connsiteX2" fmla="*/ 5043042 w 5056094"/>
              <a:gd name="connsiteY2" fmla="*/ 2786525 h 2847135"/>
              <a:gd name="connsiteX3" fmla="*/ 5033792 w 5056094"/>
              <a:gd name="connsiteY3" fmla="*/ 2847135 h 2847135"/>
              <a:gd name="connsiteX4" fmla="*/ 22302 w 5056094"/>
              <a:gd name="connsiteY4" fmla="*/ 2847135 h 2847135"/>
              <a:gd name="connsiteX5" fmla="*/ 13052 w 5056094"/>
              <a:gd name="connsiteY5" fmla="*/ 2786525 h 2847135"/>
              <a:gd name="connsiteX6" fmla="*/ 0 w 5056094"/>
              <a:gd name="connsiteY6" fmla="*/ 2528047 h 2847135"/>
              <a:gd name="connsiteX7" fmla="*/ 2528047 w 5056094"/>
              <a:gd name="connsiteY7" fmla="*/ 0 h 284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56094" h="2847135">
                <a:moveTo>
                  <a:pt x="2528047" y="0"/>
                </a:moveTo>
                <a:cubicBezTo>
                  <a:pt x="3924249" y="0"/>
                  <a:pt x="5056094" y="1131845"/>
                  <a:pt x="5056094" y="2528047"/>
                </a:cubicBezTo>
                <a:cubicBezTo>
                  <a:pt x="5056094" y="2615310"/>
                  <a:pt x="5051673" y="2701540"/>
                  <a:pt x="5043042" y="2786525"/>
                </a:cubicBezTo>
                <a:lnTo>
                  <a:pt x="5033792" y="2847135"/>
                </a:lnTo>
                <a:lnTo>
                  <a:pt x="22302" y="2847135"/>
                </a:lnTo>
                <a:lnTo>
                  <a:pt x="13052" y="2786525"/>
                </a:lnTo>
                <a:cubicBezTo>
                  <a:pt x="4422" y="2701540"/>
                  <a:pt x="0" y="2615310"/>
                  <a:pt x="0" y="2528047"/>
                </a:cubicBezTo>
                <a:cubicBezTo>
                  <a:pt x="0" y="1131845"/>
                  <a:pt x="1131845" y="0"/>
                  <a:pt x="2528047" y="0"/>
                </a:cubicBezTo>
                <a:close/>
              </a:path>
            </a:pathLst>
          </a:custGeom>
          <a:solidFill>
            <a:schemeClr val="accent1">
              <a:alpha val="896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5" name="Picture 14" descr="Modern house with cubic design">
            <a:extLst>
              <a:ext uri="{FF2B5EF4-FFF2-40B4-BE49-F238E27FC236}">
                <a16:creationId xmlns:a16="http://schemas.microsoft.com/office/drawing/2014/main" id="{FE966628-FEAF-3BD3-2DC4-23A466ABB935}"/>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12000" contrast="-17000"/>
                    </a14:imgEffect>
                  </a14:imgLayer>
                </a14:imgProps>
              </a:ext>
              <a:ext uri="{28A0092B-C50C-407E-A947-70E740481C1C}">
                <a14:useLocalDpi xmlns:a14="http://schemas.microsoft.com/office/drawing/2010/main"/>
              </a:ext>
            </a:extLst>
          </a:blip>
          <a:srcRect l="-406" r="17667" b="23487"/>
          <a:stretch/>
        </p:blipFill>
        <p:spPr>
          <a:xfrm>
            <a:off x="4124294" y="2125402"/>
            <a:ext cx="7678065" cy="4732598"/>
          </a:xfrm>
          <a:prstGeom prst="rect">
            <a:avLst/>
          </a:prstGeom>
        </p:spPr>
      </p:pic>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850392" y="420624"/>
            <a:ext cx="10954512" cy="1463040"/>
          </a:xfrm>
        </p:spPr>
        <p:txBody>
          <a:bodyPr lIns="0" tIns="0" rIns="0" bIns="0" anchor="b">
            <a:noAutofit/>
          </a:bodyPr>
          <a:lstStyle>
            <a:lvl1pPr>
              <a:lnSpc>
                <a:spcPct val="100000"/>
              </a:lnSpc>
              <a:defRPr sz="3200" b="0" i="0" spc="600" baseline="0">
                <a:latin typeface="+mj-lt"/>
              </a:defRPr>
            </a:lvl1pPr>
          </a:lstStyle>
          <a:p>
            <a:r>
              <a:rPr lang="en-US" dirty="0"/>
              <a:t>CLICK TO EDIT MASTER TITLE STYLE</a:t>
            </a:r>
          </a:p>
        </p:txBody>
      </p:sp>
      <p:sp>
        <p:nvSpPr>
          <p:cNvPr id="6" name="Text Placeholder 5">
            <a:extLst>
              <a:ext uri="{FF2B5EF4-FFF2-40B4-BE49-F238E27FC236}">
                <a16:creationId xmlns:a16="http://schemas.microsoft.com/office/drawing/2014/main" id="{1BD9CFE2-F1DE-34DA-A154-9AE903E5B7FC}"/>
              </a:ext>
            </a:extLst>
          </p:cNvPr>
          <p:cNvSpPr>
            <a:spLocks noGrp="1"/>
          </p:cNvSpPr>
          <p:nvPr>
            <p:ph type="body" sz="quarter" idx="12"/>
          </p:nvPr>
        </p:nvSpPr>
        <p:spPr>
          <a:xfrm>
            <a:off x="850899" y="2231136"/>
            <a:ext cx="4828032" cy="3566160"/>
          </a:xfrm>
        </p:spPr>
        <p:txBody>
          <a:bodyPr/>
          <a:lstStyle>
            <a:lvl1pPr marL="283464" indent="-283464">
              <a:lnSpc>
                <a:spcPct val="120000"/>
              </a:lnSpc>
              <a:spcBef>
                <a:spcPts val="0"/>
              </a:spcBef>
              <a:spcAft>
                <a:spcPts val="1200"/>
              </a:spcAft>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2C310569-B083-466A-F24B-8C44360B4EC2}"/>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5FB78C1-0CD8-FD34-E7BB-B8F6E296A443}"/>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1D5B031-92C7-C093-2551-D07457044EAC}"/>
              </a:ext>
            </a:extLst>
          </p:cNvPr>
          <p:cNvGrpSpPr/>
          <p:nvPr userDrawn="1"/>
        </p:nvGrpSpPr>
        <p:grpSpPr>
          <a:xfrm>
            <a:off x="-1" y="-2"/>
            <a:ext cx="12191610" cy="6858001"/>
            <a:chOff x="-1" y="-2"/>
            <a:chExt cx="12191610" cy="6858001"/>
          </a:xfrm>
        </p:grpSpPr>
        <p:pic>
          <p:nvPicPr>
            <p:cNvPr id="4" name="Picture Placeholder 14" descr="White modern architecture">
              <a:extLst>
                <a:ext uri="{FF2B5EF4-FFF2-40B4-BE49-F238E27FC236}">
                  <a16:creationId xmlns:a16="http://schemas.microsoft.com/office/drawing/2014/main" id="{21A49D77-8AEF-828A-03A8-2845B710DEEA}"/>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6155702" y="-2"/>
              <a:ext cx="6035907" cy="6858001"/>
            </a:xfrm>
            <a:prstGeom prst="rect">
              <a:avLst/>
            </a:prstGeom>
            <a:solidFill>
              <a:schemeClr val="accent1">
                <a:lumMod val="20000"/>
                <a:lumOff val="80000"/>
              </a:schemeClr>
            </a:solidFill>
          </p:spPr>
        </p:pic>
        <p:pic>
          <p:nvPicPr>
            <p:cNvPr id="5" name="Picture Placeholder 14" descr="White modern architecture">
              <a:extLst>
                <a:ext uri="{FF2B5EF4-FFF2-40B4-BE49-F238E27FC236}">
                  <a16:creationId xmlns:a16="http://schemas.microsoft.com/office/drawing/2014/main" id="{206EA98F-16E6-C607-6268-D08FD83B704F}"/>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1" y="-2"/>
              <a:ext cx="6035907" cy="6858001"/>
            </a:xfrm>
            <a:prstGeom prst="rect">
              <a:avLst/>
            </a:prstGeom>
            <a:solidFill>
              <a:schemeClr val="accent1">
                <a:lumMod val="20000"/>
                <a:lumOff val="80000"/>
              </a:schemeClr>
            </a:solidFill>
          </p:spPr>
        </p:pic>
      </p:grpSp>
      <p:sp>
        <p:nvSpPr>
          <p:cNvPr id="7" name="Title 6">
            <a:extLst>
              <a:ext uri="{FF2B5EF4-FFF2-40B4-BE49-F238E27FC236}">
                <a16:creationId xmlns:a16="http://schemas.microsoft.com/office/drawing/2014/main" id="{7E6947B8-AA10-E633-EF28-E1A80069E880}"/>
              </a:ext>
            </a:extLst>
          </p:cNvPr>
          <p:cNvSpPr>
            <a:spLocks noGrp="1"/>
          </p:cNvSpPr>
          <p:nvPr>
            <p:ph type="title" hasCustomPrompt="1"/>
          </p:nvPr>
        </p:nvSpPr>
        <p:spPr>
          <a:xfrm>
            <a:off x="2648932" y="0"/>
            <a:ext cx="6894136" cy="6894136"/>
          </a:xfrm>
          <a:custGeom>
            <a:avLst/>
            <a:gdLst>
              <a:gd name="connsiteX0" fmla="*/ 3447068 w 6894136"/>
              <a:gd name="connsiteY0" fmla="*/ 0 h 6894136"/>
              <a:gd name="connsiteX1" fmla="*/ 6894136 w 6894136"/>
              <a:gd name="connsiteY1" fmla="*/ 3447068 h 6894136"/>
              <a:gd name="connsiteX2" fmla="*/ 3447068 w 6894136"/>
              <a:gd name="connsiteY2" fmla="*/ 6894136 h 6894136"/>
              <a:gd name="connsiteX3" fmla="*/ 0 w 6894136"/>
              <a:gd name="connsiteY3" fmla="*/ 3447068 h 6894136"/>
              <a:gd name="connsiteX4" fmla="*/ 3447068 w 6894136"/>
              <a:gd name="connsiteY4" fmla="*/ 0 h 6894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4136" h="6894136">
                <a:moveTo>
                  <a:pt x="3447068" y="0"/>
                </a:moveTo>
                <a:cubicBezTo>
                  <a:pt x="5350831" y="0"/>
                  <a:pt x="6894136" y="1543305"/>
                  <a:pt x="6894136" y="3447068"/>
                </a:cubicBezTo>
                <a:cubicBezTo>
                  <a:pt x="6894136" y="5350831"/>
                  <a:pt x="5350831" y="6894136"/>
                  <a:pt x="3447068" y="6894136"/>
                </a:cubicBezTo>
                <a:cubicBezTo>
                  <a:pt x="1543305" y="6894136"/>
                  <a:pt x="0" y="5350831"/>
                  <a:pt x="0" y="3447068"/>
                </a:cubicBezTo>
                <a:cubicBezTo>
                  <a:pt x="0" y="1543305"/>
                  <a:pt x="1543305" y="0"/>
                  <a:pt x="3447068" y="0"/>
                </a:cubicBezTo>
                <a:close/>
              </a:path>
            </a:pathLst>
          </a:custGeom>
          <a:solidFill>
            <a:schemeClr val="accent1"/>
          </a:solidFill>
        </p:spPr>
        <p:txBody>
          <a:bodyPr wrap="square" lIns="0" tIns="0" rIns="0" bIns="0" anchor="ctr">
            <a:noAutofit/>
          </a:bodyPr>
          <a:lstStyle>
            <a:lvl1pPr algn="ctr">
              <a:defRPr sz="4500" cap="all" baseline="0"/>
            </a:lvl1pPr>
          </a:lstStyle>
          <a:p>
            <a:r>
              <a:rPr lang="en-US" dirty="0"/>
              <a:t>CLICK TO EDIT MASTER TITLE STYLE</a:t>
            </a:r>
          </a:p>
        </p:txBody>
      </p:sp>
    </p:spTree>
    <p:extLst>
      <p:ext uri="{BB962C8B-B14F-4D97-AF65-F5344CB8AC3E}">
        <p14:creationId xmlns:p14="http://schemas.microsoft.com/office/powerpoint/2010/main" val="1547736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hasCustomPrompt="1"/>
          </p:nvPr>
        </p:nvSpPr>
        <p:spPr>
          <a:xfrm>
            <a:off x="846879" y="868680"/>
            <a:ext cx="5248656" cy="2157984"/>
          </a:xfrm>
        </p:spPr>
        <p:txBody>
          <a:bodyPr lIns="0" tIns="0" rIns="0" bIns="0">
            <a:noAutofit/>
          </a:bodyPr>
          <a:lstStyle>
            <a:lvl1pPr>
              <a:defRPr sz="32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B075B629-22B4-B399-5D07-4652BF682138}"/>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1934275 w 4577463"/>
              <a:gd name="connsiteY7"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564249" y="286676"/>
                  <a:pt x="1215784" y="0"/>
                  <a:pt x="1934275" y="0"/>
                </a:cubicBezTo>
                <a:close/>
              </a:path>
            </a:pathLst>
          </a:custGeom>
        </p:spPr>
        <p:txBody>
          <a:bodyPr wrap="square">
            <a:noAutofit/>
          </a:bodyPr>
          <a:lstStyle>
            <a:lvl1pPr algn="ctr">
              <a:defRPr/>
            </a:lvl1pPr>
          </a:lstStyle>
          <a:p>
            <a:endParaRPr lang="en-US" dirty="0"/>
          </a:p>
        </p:txBody>
      </p:sp>
      <p:sp>
        <p:nvSpPr>
          <p:cNvPr id="5" name="Content Placeholder 3">
            <a:extLst>
              <a:ext uri="{FF2B5EF4-FFF2-40B4-BE49-F238E27FC236}">
                <a16:creationId xmlns:a16="http://schemas.microsoft.com/office/drawing/2014/main" id="{C1B16EE8-89D3-7E4F-90BE-68EAAD85CBB7}"/>
              </a:ext>
            </a:extLst>
          </p:cNvPr>
          <p:cNvSpPr>
            <a:spLocks noGrp="1"/>
          </p:cNvSpPr>
          <p:nvPr>
            <p:ph sz="half" idx="12"/>
          </p:nvPr>
        </p:nvSpPr>
        <p:spPr>
          <a:xfrm>
            <a:off x="6729984" y="786384"/>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0">
              <a:lnSpc>
                <a:spcPct val="120000"/>
              </a:lnSpc>
              <a:spcBef>
                <a:spcPts val="0"/>
              </a:spcBef>
              <a:spcAft>
                <a:spcPts val="1200"/>
              </a:spcAft>
              <a:defRPr>
                <a:latin typeface="+mn-lt"/>
              </a:defRPr>
            </a:lvl2pPr>
            <a:lvl3pPr marL="283464" indent="-342900">
              <a:lnSpc>
                <a:spcPct val="120000"/>
              </a:lnSpc>
              <a:buFont typeface="Arial" panose="020B0604020202020204" pitchFamily="34" charset="0"/>
              <a:buChar char="•"/>
              <a:defRPr>
                <a:latin typeface="+mn-lt"/>
              </a:defRPr>
            </a:lvl3pPr>
            <a:lvl4pPr marL="548640" indent="-285750">
              <a:lnSpc>
                <a:spcPct val="120000"/>
              </a:lnSpc>
              <a:buFont typeface="Arial" panose="020B0604020202020204" pitchFamily="34" charset="0"/>
              <a:buChar char="•"/>
              <a:defRPr>
                <a:latin typeface="+mn-lt"/>
              </a:defRPr>
            </a:lvl4pPr>
            <a:lvl5pPr marL="822960" indent="-285750">
              <a:lnSpc>
                <a:spcPct val="120000"/>
              </a:lnSpc>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729984" y="3858768"/>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283464" indent="-283464">
              <a:lnSpc>
                <a:spcPct val="120000"/>
              </a:lnSpc>
              <a:spcBef>
                <a:spcPts val="0"/>
              </a:spcBef>
              <a:spcAft>
                <a:spcPts val="1200"/>
              </a:spcAft>
              <a:buFont typeface="Arial" panose="020B0604020202020204" pitchFamily="34" charset="0"/>
              <a:buChar cha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40231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10085832" cy="1426464"/>
          </a:xfrm>
        </p:spPr>
        <p:txBody>
          <a:bodyPr lIns="0" tIns="45720" rIns="91440" bIns="4572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850392" y="3950208"/>
            <a:ext cx="10085832" cy="2331720"/>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189482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3941064" cy="4270248"/>
          </a:xfrm>
        </p:spPr>
        <p:txBody>
          <a:bodyPr lIns="91440" tIns="45720" rIns="91440" bIns="45720">
            <a:noAutofit/>
          </a:bodyPr>
          <a:lstStyle>
            <a:lvl1pPr>
              <a:lnSpc>
                <a:spcPct val="120000"/>
              </a:lnSpc>
              <a:spcBef>
                <a:spcPts val="0"/>
              </a:spcBef>
              <a:spcAft>
                <a:spcPts val="600"/>
              </a:spcAft>
              <a:defRPr sz="1800" b="1" cap="all"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5614416" y="1837944"/>
            <a:ext cx="5358384" cy="4270248"/>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263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987AE2-5803-BA29-C76B-C9FA864D3F00}"/>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168" y="1828800"/>
            <a:ext cx="10126362" cy="435133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8540B3-3734-5A53-D7E0-D89871A3711C}"/>
              </a:ext>
            </a:extLst>
          </p:cNvPr>
          <p:cNvSpPr>
            <a:spLocks noGrp="1"/>
          </p:cNvSpPr>
          <p:nvPr>
            <p:ph type="title" hasCustomPrompt="1"/>
          </p:nvPr>
        </p:nvSpPr>
        <p:spPr>
          <a:xfrm>
            <a:off x="850392" y="182880"/>
            <a:ext cx="10085832" cy="1307592"/>
          </a:xfrm>
        </p:spPr>
        <p:txBody>
          <a:bodyPr anchor="b">
            <a:noAutofit/>
          </a:bodyPr>
          <a:lstStyle>
            <a:lvl1pPr algn="l">
              <a:defRPr sz="3200" baseline="0"/>
            </a:lvl1pPr>
          </a:lstStyle>
          <a:p>
            <a:r>
              <a:rPr lang="en-US" dirty="0"/>
              <a:t>CLICK TO EDIT MASTER TITLE</a:t>
            </a:r>
          </a:p>
        </p:txBody>
      </p:sp>
      <p:sp>
        <p:nvSpPr>
          <p:cNvPr id="5" name="Content Placeholder 3">
            <a:extLst>
              <a:ext uri="{FF2B5EF4-FFF2-40B4-BE49-F238E27FC236}">
                <a16:creationId xmlns:a16="http://schemas.microsoft.com/office/drawing/2014/main" id="{7E6B22B6-D5E7-7C52-B588-374568C8DD6C}"/>
              </a:ext>
            </a:extLst>
          </p:cNvPr>
          <p:cNvSpPr>
            <a:spLocks noGrp="1"/>
          </p:cNvSpPr>
          <p:nvPr>
            <p:ph sz="half" idx="2"/>
          </p:nvPr>
        </p:nvSpPr>
        <p:spPr>
          <a:xfrm>
            <a:off x="850392" y="1911096"/>
            <a:ext cx="4837176" cy="2898648"/>
          </a:xfrm>
        </p:spPr>
        <p:txBody>
          <a:bodyPr lIns="0" tIns="0" rIns="0" bIns="0">
            <a:noAutofit/>
          </a:bodyPr>
          <a:lstStyle>
            <a:lvl1pPr>
              <a:lnSpc>
                <a:spcPct val="120000"/>
              </a:lnSpc>
              <a:spcBef>
                <a:spcPts val="0"/>
              </a:spcBef>
              <a:spcAft>
                <a:spcPts val="1200"/>
              </a:spcAft>
              <a:defRPr sz="1800" cap="none"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BCDBC7A5-FE31-E809-7729-4AFA9CFD0DEB}"/>
              </a:ext>
            </a:extLst>
          </p:cNvPr>
          <p:cNvSpPr>
            <a:spLocks noGrp="1"/>
          </p:cNvSpPr>
          <p:nvPr>
            <p:ph sz="half" idx="36"/>
          </p:nvPr>
        </p:nvSpPr>
        <p:spPr>
          <a:xfrm>
            <a:off x="6812280" y="1911096"/>
            <a:ext cx="4453128" cy="1911096"/>
          </a:xfrm>
        </p:spPr>
        <p:txBody>
          <a:bodyPr lIns="0" tIns="0" rIns="0" bIns="0">
            <a:noAutofit/>
          </a:bodyPr>
          <a:lstStyle>
            <a:lvl1pPr marL="285750" indent="-285750">
              <a:lnSpc>
                <a:spcPct val="120000"/>
              </a:lnSpc>
              <a:spcBef>
                <a:spcPts val="0"/>
              </a:spcBef>
              <a:spcAft>
                <a:spcPts val="1200"/>
              </a:spcAft>
              <a:buFont typeface="Arial" panose="020B0604020202020204" pitchFamily="34" charset="0"/>
              <a:buChar char="•"/>
              <a:defRPr sz="1800" cap="none" baseline="0">
                <a:latin typeface="+mn-lt"/>
              </a:defRPr>
            </a:lvl1pPr>
            <a:lvl2pPr marL="548640" indent="-285750">
              <a:lnSpc>
                <a:spcPct val="120000"/>
              </a:lnSpc>
              <a:spcBef>
                <a:spcPts val="0"/>
              </a:spcBef>
              <a:spcAft>
                <a:spcPts val="600"/>
              </a:spcAft>
              <a:buFont typeface="Arial" panose="020B0604020202020204" pitchFamily="34" charset="0"/>
              <a:buChar char="•"/>
              <a:defRPr sz="1800">
                <a:latin typeface="+mn-lt"/>
              </a:defRPr>
            </a:lvl2pPr>
            <a:lvl3pPr marL="82296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18" name="Picture Placeholder 17">
            <a:extLst>
              <a:ext uri="{FF2B5EF4-FFF2-40B4-BE49-F238E27FC236}">
                <a16:creationId xmlns:a16="http://schemas.microsoft.com/office/drawing/2014/main" id="{C39E8D03-897F-C49F-D816-03B8BD63013D}"/>
              </a:ext>
            </a:extLst>
          </p:cNvPr>
          <p:cNvSpPr>
            <a:spLocks noGrp="1"/>
          </p:cNvSpPr>
          <p:nvPr>
            <p:ph type="pic" sz="quarter" idx="10"/>
          </p:nvPr>
        </p:nvSpPr>
        <p:spPr>
          <a:xfrm>
            <a:off x="6812280" y="4242816"/>
            <a:ext cx="4123944" cy="2615184"/>
          </a:xfrm>
          <a:solidFill>
            <a:schemeClr val="accent1">
              <a:lumMod val="20000"/>
              <a:lumOff val="80000"/>
            </a:schemeClr>
          </a:solidFill>
        </p:spPr>
        <p:txBody>
          <a:bodyPr anchor="ctr">
            <a:noAutofit/>
          </a:bodyPr>
          <a:lstStyle>
            <a:lvl1pPr algn="ctr">
              <a:defRPr/>
            </a:lvl1pPr>
          </a:lstStyle>
          <a:p>
            <a:endParaRPr lang="en-US" dirty="0"/>
          </a:p>
        </p:txBody>
      </p:sp>
      <p:sp>
        <p:nvSpPr>
          <p:cNvPr id="2" name="Footer Placeholder 1">
            <a:extLst>
              <a:ext uri="{FF2B5EF4-FFF2-40B4-BE49-F238E27FC236}">
                <a16:creationId xmlns:a16="http://schemas.microsoft.com/office/drawing/2014/main" id="{5A615220-DA65-3A8D-609D-95B6D86B192A}"/>
              </a:ext>
            </a:extLst>
          </p:cNvPr>
          <p:cNvSpPr>
            <a:spLocks noGrp="1"/>
          </p:cNvSpPr>
          <p:nvPr>
            <p:ph type="ftr" sz="quarter" idx="34"/>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6AC2A57F-F2BF-F3B3-9D45-5DCD2608D80C}"/>
              </a:ext>
            </a:extLst>
          </p:cNvPr>
          <p:cNvSpPr>
            <a:spLocks noGrp="1"/>
          </p:cNvSpPr>
          <p:nvPr>
            <p:ph type="sldNum" sz="quarter" idx="35"/>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descr="Large walking intersection with one lone person">
            <a:extLst>
              <a:ext uri="{FF2B5EF4-FFF2-40B4-BE49-F238E27FC236}">
                <a16:creationId xmlns:a16="http://schemas.microsoft.com/office/drawing/2014/main" id="{09010683-ED2B-BF6C-90F9-AF09D38DB67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27000" contrast="5000"/>
                    </a14:imgEffect>
                  </a14:imgLayer>
                </a14:imgProps>
              </a:ext>
              <a:ext uri="{28A0092B-C50C-407E-A947-70E740481C1C}">
                <a14:useLocalDpi xmlns:a14="http://schemas.microsoft.com/office/drawing/2010/main"/>
              </a:ext>
            </a:extLst>
          </a:blip>
          <a:srcRect/>
          <a:stretch/>
        </p:blipFill>
        <p:spPr>
          <a:xfrm>
            <a:off x="0" y="1"/>
            <a:ext cx="11811000" cy="6858000"/>
          </a:xfrm>
          <a:prstGeom prst="rect">
            <a:avLst/>
          </a:prstGeom>
        </p:spPr>
      </p:pic>
      <p:sp>
        <p:nvSpPr>
          <p:cNvPr id="6" name="Freeform 12">
            <a:extLst>
              <a:ext uri="{FF2B5EF4-FFF2-40B4-BE49-F238E27FC236}">
                <a16:creationId xmlns:a16="http://schemas.microsoft.com/office/drawing/2014/main" id="{82C1C4E7-A67E-5E90-3669-D2982C30E4FC}"/>
              </a:ext>
            </a:extLst>
          </p:cNvPr>
          <p:cNvSpPr/>
          <p:nvPr userDrawn="1"/>
        </p:nvSpPr>
        <p:spPr>
          <a:xfrm>
            <a:off x="777819"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2" name="Title 1">
            <a:extLst>
              <a:ext uri="{FF2B5EF4-FFF2-40B4-BE49-F238E27FC236}">
                <a16:creationId xmlns:a16="http://schemas.microsoft.com/office/drawing/2014/main" id="{71A36714-0A6D-7D0D-3336-B8081C409BA0}"/>
              </a:ext>
            </a:extLst>
          </p:cNvPr>
          <p:cNvSpPr>
            <a:spLocks noGrp="1"/>
          </p:cNvSpPr>
          <p:nvPr>
            <p:ph type="title" hasCustomPrompt="1"/>
          </p:nvPr>
        </p:nvSpPr>
        <p:spPr>
          <a:xfrm>
            <a:off x="1907196" y="2188196"/>
            <a:ext cx="5985159" cy="1594507"/>
          </a:xfrm>
        </p:spPr>
        <p:txBody>
          <a:bodyPr lIns="0" tIns="0" rIns="0" bIns="0" anchor="b">
            <a:noAutofit/>
          </a:bodyPr>
          <a:lstStyle>
            <a:lvl1pPr>
              <a:defRPr sz="3200" b="1" i="0" baseline="0">
                <a:solidFill>
                  <a:schemeClr val="tx1"/>
                </a:solidFill>
                <a:latin typeface="+mj-lt"/>
                <a:cs typeface="Arial Black" panose="020B0604020202020204" pitchFamily="34" charset="0"/>
              </a:defRPr>
            </a:lvl1pPr>
          </a:lstStyle>
          <a:p>
            <a:r>
              <a:rPr lang="en-US" dirty="0"/>
              <a:t>CLICK TO EDIT MASTER TITLE STYLE</a:t>
            </a:r>
          </a:p>
        </p:txBody>
      </p:sp>
      <p:sp>
        <p:nvSpPr>
          <p:cNvPr id="11" name="Text Placeholder 2">
            <a:extLst>
              <a:ext uri="{FF2B5EF4-FFF2-40B4-BE49-F238E27FC236}">
                <a16:creationId xmlns:a16="http://schemas.microsoft.com/office/drawing/2014/main" id="{CFA9DBC5-E4A8-5230-9CE1-902849869495}"/>
              </a:ext>
            </a:extLst>
          </p:cNvPr>
          <p:cNvSpPr>
            <a:spLocks noGrp="1"/>
          </p:cNvSpPr>
          <p:nvPr>
            <p:ph type="body" idx="1"/>
          </p:nvPr>
        </p:nvSpPr>
        <p:spPr>
          <a:xfrm>
            <a:off x="1907196" y="4078224"/>
            <a:ext cx="5444517" cy="1731890"/>
          </a:xfrm>
        </p:spPr>
        <p:txBody>
          <a:bodyPr lIns="0" tIns="0" rIns="0" bIns="0" anchor="t">
            <a:noAutofit/>
          </a:bodyPr>
          <a:lstStyle>
            <a:lvl1pPr marL="0" indent="0">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829F29DD-6F0C-B005-FD16-89C061AE31C9}"/>
              </a:ext>
            </a:extLst>
          </p:cNvPr>
          <p:cNvSpPr/>
          <p:nvPr userDrawn="1"/>
        </p:nvSpPr>
        <p:spPr>
          <a:xfrm>
            <a:off x="10408059" y="1151133"/>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2" name="Rectangle 11">
            <a:extLst>
              <a:ext uri="{FF2B5EF4-FFF2-40B4-BE49-F238E27FC236}">
                <a16:creationId xmlns:a16="http://schemas.microsoft.com/office/drawing/2014/main" id="{67980795-C54D-B27A-60D2-8758CAF840E2}"/>
              </a:ext>
            </a:extLst>
          </p:cNvPr>
          <p:cNvSpPr/>
          <p:nvPr userDrawn="1"/>
        </p:nvSpPr>
        <p:spPr>
          <a:xfrm>
            <a:off x="10987993" y="114070"/>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5272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userDrawn="1"/>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46438" y="409576"/>
            <a:ext cx="10972800" cy="1325563"/>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745644" y="1825625"/>
            <a:ext cx="11098307"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716512" y="6382510"/>
            <a:ext cx="566928" cy="384048"/>
          </a:xfrm>
          <a:prstGeom prst="rect">
            <a:avLst/>
          </a:prstGeom>
        </p:spPr>
        <p:txBody>
          <a:bodyPr vert="horz" lIns="91440" tIns="45720" rIns="91440" bIns="45720" rtlCol="0" anchor="ctr"/>
          <a:lstStyle>
            <a:lvl1pPr algn="ctr">
              <a:defRPr sz="1400">
                <a:solidFill>
                  <a:schemeClr val="bg1"/>
                </a:solidFill>
              </a:defRPr>
            </a:lvl1pPr>
          </a:lstStyle>
          <a:p>
            <a:fld id="{09A01C0A-2BB6-49E7-91A3-DCB9F9F59583}" type="slidenum">
              <a:rPr lang="en-US" smtClean="0"/>
              <a:pPr/>
              <a:t>‹#›</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8854442" y="2953511"/>
            <a:ext cx="6291068" cy="384048"/>
          </a:xfrm>
          <a:prstGeom prst="rect">
            <a:avLst/>
          </a:prstGeom>
          <a:noFill/>
        </p:spPr>
        <p:txBody>
          <a:bodyPr vert="horz" lIns="210312" tIns="45720" rIns="91440" bIns="45720" rtlCol="0" anchor="ctr"/>
          <a:lstStyle>
            <a:lvl1pPr algn="l">
              <a:defRPr sz="1200" b="1" cap="all" spc="300" baseline="0">
                <a:solidFill>
                  <a:schemeClr val="bg1"/>
                </a:solidFill>
                <a:latin typeface="+mj-lt"/>
              </a:defRPr>
            </a:lvl1pPr>
          </a:lstStyle>
          <a:p>
            <a:r>
              <a:rPr lang="en-US" dirty="0"/>
              <a:t>Presentation Title</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1" r:id="rId3"/>
    <p:sldLayoutId id="2147483664" r:id="rId4"/>
    <p:sldLayoutId id="2147483659" r:id="rId5"/>
    <p:sldLayoutId id="2147483654" r:id="rId6"/>
    <p:sldLayoutId id="2147483667" r:id="rId7"/>
    <p:sldLayoutId id="2147483665" r:id="rId8"/>
    <p:sldLayoutId id="2147483669" r:id="rId9"/>
    <p:sldLayoutId id="2147483670" r:id="rId10"/>
    <p:sldLayoutId id="2147483652" r:id="rId11"/>
    <p:sldLayoutId id="2147483656" r:id="rId12"/>
    <p:sldLayoutId id="2147483663" r:id="rId13"/>
  </p:sldLayoutIdLst>
  <p:hf hdr="0" ftr="0"/>
  <p:txStyles>
    <p:titleStyle>
      <a:lvl1pPr algn="l" defTabSz="914400" rtl="0" eaLnBrk="1" latinLnBrk="0" hangingPunct="1">
        <a:lnSpc>
          <a:spcPct val="90000"/>
        </a:lnSpc>
        <a:spcBef>
          <a:spcPct val="0"/>
        </a:spcBef>
        <a:buNone/>
        <a:defRPr sz="40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4" orient="horz" pos="1152" userDrawn="1">
          <p15:clr>
            <a:srgbClr val="547EBF"/>
          </p15:clr>
        </p15:guide>
        <p15:guide id="5" pos="7440" userDrawn="1">
          <p15:clr>
            <a:srgbClr val="547EBF"/>
          </p15:clr>
        </p15:guide>
        <p15:guide id="6" orient="horz" pos="4080" userDrawn="1">
          <p15:clr>
            <a:srgbClr val="547EBF"/>
          </p15:clr>
        </p15:guide>
        <p15:guide id="19" userDrawn="1">
          <p15:clr>
            <a:srgbClr val="547EBF"/>
          </p15:clr>
        </p15:guide>
        <p15:guide id="20" pos="7680" userDrawn="1">
          <p15:clr>
            <a:srgbClr val="547EBF"/>
          </p15:clr>
        </p15:guide>
        <p15:guide id="21" pos="528" userDrawn="1">
          <p15:clr>
            <a:srgbClr val="547EBF"/>
          </p15:clr>
        </p15:guide>
        <p15:guide id="22" pos="6912" userDrawn="1">
          <p15:clr>
            <a:srgbClr val="547EBF"/>
          </p15:clr>
        </p15:guide>
        <p15:guide id="23" orient="horz" pos="240" userDrawn="1">
          <p15:clr>
            <a:srgbClr val="547EBF"/>
          </p15:clr>
        </p15:guide>
        <p15:guide id="2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816767" y="1399032"/>
            <a:ext cx="6757416" cy="3427502"/>
          </a:xfrm>
        </p:spPr>
        <p:txBody>
          <a:bodyPr/>
          <a:lstStyle/>
          <a:p>
            <a:r>
              <a:rPr lang="en-US" sz="4000" dirty="0"/>
              <a:t>Robo-advisory</a:t>
            </a:r>
            <a:br/>
            <a:r>
              <a:rPr lang="en-US" sz="4000" dirty="0"/>
              <a:t>portfolio</a:t>
            </a:r>
            <a:br/>
            <a:r>
              <a:rPr lang="en-US" sz="4000" dirty="0"/>
              <a:t>design</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816768" y="417444"/>
            <a:ext cx="7414940" cy="883258"/>
          </a:xfrm>
        </p:spPr>
        <p:txBody>
          <a:bodyPr/>
          <a:lstStyle/>
          <a:p>
            <a:r>
              <a:rPr lang="en-US" dirty="0"/>
              <a:t>Adwaaiit Pande &amp; Ayushi Mishra</a:t>
            </a:r>
          </a:p>
        </p:txBody>
      </p:sp>
      <p:sp>
        <p:nvSpPr>
          <p:cNvPr id="4" name="TextBox 3"/>
          <p:cNvSpPr txBox="1"/>
          <p:nvPr/>
        </p:nvSpPr>
        <p:spPr>
          <a:xfrm>
            <a:off x="850392" y="3886200"/>
            <a:ext cx="5120640" cy="822960"/>
          </a:xfrm>
          <a:prstGeom prst="rect">
            <a:avLst/>
          </a:prstGeom>
          <a:noFill/>
        </p:spPr>
        <p:txBody>
          <a:bodyPr wrap="square" lIns="36576" tIns="18288" rIns="36576" bIns="18288" anchor="t">
            <a:spAutoFit/>
          </a:bodyPr>
          <a:lstStyle/>
          <a:p>
            <a:pPr algn="l">
              <a:spcAft>
                <a:spcPts val="400"/>
              </a:spcAft>
            </a:pPr>
            <a:r>
              <a:rPr sz="1600" b="0">
                <a:solidFill>
                  <a:srgbClr val="36393B"/>
                </a:solidFill>
              </a:rPr>
              <a:t>MBA680 Behavioral Finance · Assignment 2</a:t>
            </a:r>
          </a:p>
          <a:p>
            <a:pPr algn="l">
              <a:spcAft>
                <a:spcPts val="400"/>
              </a:spcAft>
            </a:pPr>
            <a:r>
              <a:rPr sz="1600" b="0">
                <a:solidFill>
                  <a:srgbClr val="36393B"/>
                </a:solidFill>
              </a:rPr>
              <a:t>EUT vs SP/A Behavioral Portfolio Theory, with personality</a:t>
            </a:r>
          </a:p>
        </p:txBody>
      </p:sp>
    </p:spTree>
    <p:extLst>
      <p:ext uri="{BB962C8B-B14F-4D97-AF65-F5344CB8AC3E}">
        <p14:creationId xmlns:p14="http://schemas.microsoft.com/office/powerpoint/2010/main" val="386748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C097A-775B-08E5-6C81-5BA1BCE9ACD7}"/>
              </a:ext>
            </a:extLst>
          </p:cNvPr>
          <p:cNvSpPr>
            <a:spLocks noGrp="1"/>
          </p:cNvSpPr>
          <p:nvPr>
            <p:ph type="title"/>
          </p:nvPr>
        </p:nvSpPr>
        <p:spPr>
          <a:xfrm>
            <a:off x="850392" y="0"/>
            <a:ext cx="10122632" cy="1307592"/>
          </a:xfrm>
        </p:spPr>
        <p:txBody>
          <a:bodyPr/>
          <a:lstStyle/>
          <a:p>
            <a:r>
              <a:rPr lang="en-US" dirty="0"/>
              <a:t>Our approach</a:t>
            </a:r>
          </a:p>
        </p:txBody>
      </p:sp>
      <p:sp>
        <p:nvSpPr>
          <p:cNvPr id="3" name="Content Placeholder 2">
            <a:extLst>
              <a:ext uri="{FF2B5EF4-FFF2-40B4-BE49-F238E27FC236}">
                <a16:creationId xmlns:a16="http://schemas.microsoft.com/office/drawing/2014/main" id="{58037C43-2A58-4D8F-4B88-9D5CBE782944}"/>
              </a:ext>
            </a:extLst>
          </p:cNvPr>
          <p:cNvSpPr>
            <a:spLocks noGrp="1"/>
          </p:cNvSpPr>
          <p:nvPr>
            <p:ph sz="half" idx="2"/>
          </p:nvPr>
        </p:nvSpPr>
        <p:spPr>
          <a:xfrm>
            <a:off x="850392" y="1837944"/>
            <a:ext cx="10085832" cy="1426464"/>
          </a:xfrm>
        </p:spPr>
        <p:txBody>
          <a:bodyPr/>
          <a:lstStyle/>
          <a:p>
            <a:r>
              <a:rPr lang="en-US" dirty="0"/>
              <a:t>Brief: advise a peer group on a portfolio as a personal advisor, then automate it as a robo-advisory product</a:t>
            </a:r>
          </a:p>
          <a:p>
            <a:r>
              <a:rPr lang="en-US" dirty="0"/>
              <a:t>5 classmates surveyed; each person's 20 choices become a utility and a value function</a:t>
            </a:r>
          </a:p>
          <a:p>
            <a:r>
              <a:rPr lang="en-US" dirty="0"/>
              <a:t>Portfolios built on our Problem 1 universe: 66 NSE stocks, 3-year covariance, rf 6.75%</a:t>
            </a:r>
          </a:p>
        </p:txBody>
      </p:sp>
      <p:graphicFrame>
        <p:nvGraphicFramePr>
          <p:cNvPr id="7" name="Content Placeholder 4" descr="Basic chevron process SmartArt graphic">
            <a:extLst>
              <a:ext uri="{FF2B5EF4-FFF2-40B4-BE49-F238E27FC236}">
                <a16:creationId xmlns:a16="http://schemas.microsoft.com/office/drawing/2014/main" id="{25034E95-5946-A554-4D38-9515B8B69D7E}"/>
              </a:ext>
            </a:extLst>
          </p:cNvPr>
          <p:cNvGraphicFramePr>
            <a:graphicFrameLocks noGrp="1"/>
          </p:cNvGraphicFramePr>
          <p:nvPr>
            <p:ph sz="half" idx="12"/>
            <p:extLst>
              <p:ext uri="{D42A27DB-BD31-4B8C-83A1-F6EECF244321}">
                <p14:modId xmlns:p14="http://schemas.microsoft.com/office/powerpoint/2010/main" val="1156014171"/>
              </p:ext>
            </p:extLst>
          </p:nvPr>
        </p:nvGraphicFramePr>
        <p:xfrm>
          <a:off x="850900" y="3949700"/>
          <a:ext cx="10085388" cy="23320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9CE23B6C-8A52-6407-0C43-F01FB97CFD97}"/>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2</a:t>
            </a:fld>
            <a:endParaRPr lang="en-US" dirty="0"/>
          </a:p>
        </p:txBody>
      </p:sp>
      <p:sp>
        <p:nvSpPr>
          <p:cNvPr id="8"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Adwaaiit</a:t>
            </a:r>
          </a:p>
        </p:txBody>
      </p:sp>
    </p:spTree>
    <p:extLst>
      <p:ext uri="{BB962C8B-B14F-4D97-AF65-F5344CB8AC3E}">
        <p14:creationId xmlns:p14="http://schemas.microsoft.com/office/powerpoint/2010/main" val="64299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7B9D3-A88A-5F79-3CD7-7112379E43FB}"/>
              </a:ext>
            </a:extLst>
          </p:cNvPr>
          <p:cNvSpPr>
            <a:spLocks noGrp="1"/>
          </p:cNvSpPr>
          <p:nvPr>
            <p:ph type="title"/>
          </p:nvPr>
        </p:nvSpPr>
        <p:spPr>
          <a:xfrm>
            <a:off x="850392" y="0"/>
            <a:ext cx="10122632" cy="1307592"/>
          </a:xfrm>
        </p:spPr>
        <p:txBody>
          <a:bodyPr/>
          <a:lstStyle/>
          <a:p>
            <a:r>
              <a:rPr lang="en-US" dirty="0"/>
              <a:t>Survey instruments</a:t>
            </a:r>
          </a:p>
        </p:txBody>
      </p:sp>
      <p:sp>
        <p:nvSpPr>
          <p:cNvPr id="3" name="Content Placeholder 2">
            <a:extLst>
              <a:ext uri="{FF2B5EF4-FFF2-40B4-BE49-F238E27FC236}">
                <a16:creationId xmlns:a16="http://schemas.microsoft.com/office/drawing/2014/main" id="{315092CE-B028-71A6-C0A0-FB94C591E96F}"/>
              </a:ext>
            </a:extLst>
          </p:cNvPr>
          <p:cNvSpPr>
            <a:spLocks noGrp="1"/>
          </p:cNvSpPr>
          <p:nvPr>
            <p:ph sz="half" idx="2"/>
          </p:nvPr>
        </p:nvSpPr>
        <p:spPr>
          <a:xfrm>
            <a:off x="850392" y="1837944"/>
            <a:ext cx="3941064" cy="4270248"/>
          </a:xfrm>
        </p:spPr>
        <p:txBody>
          <a:bodyPr/>
          <a:lstStyle/>
          <a:p>
            <a:r>
              <a:rPr lang="en-US" dirty="0"/>
              <a:t>ONE SITTING, ~15 MINUTES</a:t>
            </a:r>
          </a:p>
          <a:p>
            <a:pPr lvl="1"/>
            <a:r>
              <a:rPr lang="en-US" dirty="0"/>
              <a:t>All five components chained in our portal</a:t>
            </a:r>
          </a:p>
          <a:p>
            <a:r>
              <a:rPr lang="en-US" dirty="0"/>
              <a:t> </a:t>
            </a:r>
          </a:p>
          <a:p>
            <a:r>
              <a:rPr lang="en-US" dirty="0"/>
              <a:t>SAY VS. DO</a:t>
            </a:r>
          </a:p>
          <a:p>
            <a:pPr lvl="1"/>
            <a:r>
              <a:rPr lang="en-US" dirty="0"/>
              <a:t>Scales capture what people say; the choice task captures what they do</a:t>
            </a:r>
          </a:p>
          <a:p>
            <a:r>
              <a:rPr lang="en-US" dirty="0"/>
              <a:t> </a:t>
            </a:r>
          </a:p>
          <a:p>
            <a:r>
              <a:rPr lang="en-US" dirty="0"/>
              <a:t>VALIDATED + OUR OWN</a:t>
            </a:r>
          </a:p>
          <a:p>
            <a:pPr lvl="1"/>
            <a:r>
              <a:rPr lang="en-US" dirty="0"/>
              <a:t>Three published scales plus our adaptive engine (Step 4)</a:t>
            </a:r>
          </a:p>
        </p:txBody>
      </p:sp>
      <p:sp>
        <p:nvSpPr>
          <p:cNvPr id="5" name="Slide Number Placeholder 4">
            <a:extLst>
              <a:ext uri="{FF2B5EF4-FFF2-40B4-BE49-F238E27FC236}">
                <a16:creationId xmlns:a16="http://schemas.microsoft.com/office/drawing/2014/main" id="{0F096C5E-DC1F-D26B-A71E-5322020B8A7E}"/>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3</a:t>
            </a:fld>
            <a:endParaRPr lang="en-US" dirty="0"/>
          </a:p>
        </p:txBody>
      </p:sp>
      <p:graphicFrame>
        <p:nvGraphicFramePr>
          <p:cNvPr id="6" name="Table 5"/>
          <p:cNvGraphicFramePr>
            <a:graphicFrameLocks noGrp="1"/>
          </p:cNvGraphicFramePr>
          <p:nvPr/>
        </p:nvGraphicFramePr>
        <p:xfrm>
          <a:off x="5257800" y="1828800"/>
          <a:ext cx="5989320" cy="3931920"/>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655320">
                <a:tc>
                  <a:txBody>
                    <a:bodyPr/>
                    <a:lstStyle/>
                    <a:p>
                      <a:pPr algn="l"/>
                      <a:r>
                        <a:rPr sz="1100" b="0">
                          <a:solidFill>
                            <a:srgbClr val="36393B"/>
                          </a:solidFill>
                          <a:latin typeface="+mj-lt"/>
                        </a:rPr>
                        <a:t>INSTRUMENT</a:t>
                      </a:r>
                    </a:p>
                  </a:txBody>
                  <a:tcPr marL="54864" marR="54864" marT="27432" marB="27432" anchor="ctr">
                    <a:solidFill>
                      <a:schemeClr val="accent1">
                        <a:lumMod val="75000"/>
                      </a:schemeClr>
                    </a:solidFill>
                  </a:tcPr>
                </a:tc>
                <a:tc>
                  <a:txBody>
                    <a:bodyPr/>
                    <a:lstStyle/>
                    <a:p>
                      <a:pPr algn="ctr"/>
                      <a:r>
                        <a:rPr sz="1100" b="0">
                          <a:solidFill>
                            <a:srgbClr val="36393B"/>
                          </a:solidFill>
                          <a:latin typeface="+mj-lt"/>
                        </a:rPr>
                        <a:t>ITEMS</a:t>
                      </a:r>
                    </a:p>
                  </a:txBody>
                  <a:tcPr marL="54864" marR="54864" marT="27432" marB="27432" anchor="ctr">
                    <a:solidFill>
                      <a:schemeClr val="accent1">
                        <a:lumMod val="75000"/>
                      </a:schemeClr>
                    </a:solidFill>
                  </a:tcPr>
                </a:tc>
                <a:tc>
                  <a:txBody>
                    <a:bodyPr/>
                    <a:lstStyle/>
                    <a:p>
                      <a:pPr algn="ctr"/>
                      <a:r>
                        <a:rPr sz="1100" b="0">
                          <a:solidFill>
                            <a:srgbClr val="36393B"/>
                          </a:solidFill>
                          <a:latin typeface="+mj-lt"/>
                        </a:rPr>
                        <a:t>MEASURES</a:t>
                      </a:r>
                    </a:p>
                  </a:txBody>
                  <a:tcPr marL="54864" marR="54864" marT="27432" marB="27432" anchor="ctr">
                    <a:solidFill>
                      <a:schemeClr val="accent1">
                        <a:lumMod val="75000"/>
                      </a:schemeClr>
                    </a:solidFill>
                  </a:tcPr>
                </a:tc>
                <a:extLst>
                  <a:ext uri="{0D108BD9-81ED-4DB2-BD59-A6C34878D82A}">
                    <a16:rowId xmlns:a16="http://schemas.microsoft.com/office/drawing/2014/main" val="10000"/>
                  </a:ext>
                </a:extLst>
              </a:tr>
              <a:tr h="655320">
                <a:tc>
                  <a:txBody>
                    <a:bodyPr/>
                    <a:lstStyle/>
                    <a:p>
                      <a:pPr algn="l"/>
                      <a:r>
                        <a:rPr sz="1200" b="1">
                          <a:solidFill>
                            <a:srgbClr val="36393B"/>
                          </a:solidFill>
                        </a:rPr>
                        <a:t>Self-rating anchors</a:t>
                      </a:r>
                    </a:p>
                  </a:txBody>
                  <a:tcPr marL="54864" marR="54864" marT="27432" marB="27432" anchor="ctr"/>
                </a:tc>
                <a:tc>
                  <a:txBody>
                    <a:bodyPr/>
                    <a:lstStyle/>
                    <a:p>
                      <a:pPr algn="ctr"/>
                      <a:r>
                        <a:rPr sz="1200" b="0">
                          <a:solidFill>
                            <a:srgbClr val="36393B"/>
                          </a:solidFill>
                        </a:rPr>
                        <a:t>2</a:t>
                      </a:r>
                    </a:p>
                  </a:txBody>
                  <a:tcPr marL="54864" marR="54864" marT="27432" marB="27432" anchor="ctr"/>
                </a:tc>
                <a:tc>
                  <a:txBody>
                    <a:bodyPr/>
                    <a:lstStyle/>
                    <a:p>
                      <a:pPr algn="ctr"/>
                      <a:r>
                        <a:rPr sz="1200" b="0">
                          <a:solidFill>
                            <a:srgbClr val="36393B"/>
                          </a:solidFill>
                        </a:rPr>
                        <a:t>Risk willingness, patience (0–10)</a:t>
                      </a:r>
                    </a:p>
                  </a:txBody>
                  <a:tcPr marL="54864" marR="54864" marT="27432" marB="27432" anchor="ctr"/>
                </a:tc>
                <a:extLst>
                  <a:ext uri="{0D108BD9-81ED-4DB2-BD59-A6C34878D82A}">
                    <a16:rowId xmlns:a16="http://schemas.microsoft.com/office/drawing/2014/main" val="10001"/>
                  </a:ext>
                </a:extLst>
              </a:tr>
              <a:tr h="655320">
                <a:tc>
                  <a:txBody>
                    <a:bodyPr/>
                    <a:lstStyle/>
                    <a:p>
                      <a:pPr algn="l"/>
                      <a:r>
                        <a:rPr sz="1200" b="1">
                          <a:solidFill>
                            <a:srgbClr val="36393B"/>
                          </a:solidFill>
                        </a:rPr>
                        <a:t>Grable &amp; Lytton (1999)</a:t>
                      </a:r>
                    </a:p>
                  </a:txBody>
                  <a:tcPr marL="54864" marR="54864" marT="27432" marB="27432" anchor="ctr"/>
                </a:tc>
                <a:tc>
                  <a:txBody>
                    <a:bodyPr/>
                    <a:lstStyle/>
                    <a:p>
                      <a:pPr algn="ctr"/>
                      <a:r>
                        <a:rPr sz="1200" b="0">
                          <a:solidFill>
                            <a:srgbClr val="36393B"/>
                          </a:solidFill>
                        </a:rPr>
                        <a:t>13</a:t>
                      </a:r>
                    </a:p>
                  </a:txBody>
                  <a:tcPr marL="54864" marR="54864" marT="27432" marB="27432" anchor="ctr"/>
                </a:tc>
                <a:tc>
                  <a:txBody>
                    <a:bodyPr/>
                    <a:lstStyle/>
                    <a:p>
                      <a:pPr algn="ctr"/>
                      <a:r>
                        <a:rPr sz="1200" b="0">
                          <a:solidFill>
                            <a:srgbClr val="36393B"/>
                          </a:solidFill>
                        </a:rPr>
                        <a:t>Financial risk tolerance</a:t>
                      </a:r>
                    </a:p>
                  </a:txBody>
                  <a:tcPr marL="54864" marR="54864" marT="27432" marB="27432" anchor="ctr"/>
                </a:tc>
                <a:extLst>
                  <a:ext uri="{0D108BD9-81ED-4DB2-BD59-A6C34878D82A}">
                    <a16:rowId xmlns:a16="http://schemas.microsoft.com/office/drawing/2014/main" val="10002"/>
                  </a:ext>
                </a:extLst>
              </a:tr>
              <a:tr h="655320">
                <a:tc>
                  <a:txBody>
                    <a:bodyPr/>
                    <a:lstStyle/>
                    <a:p>
                      <a:pPr algn="l"/>
                      <a:r>
                        <a:rPr sz="1200" b="1">
                          <a:solidFill>
                            <a:srgbClr val="36393B"/>
                          </a:solidFill>
                        </a:rPr>
                        <a:t>DOSPERT financial (Blais &amp; Weber, 2006)</a:t>
                      </a:r>
                    </a:p>
                  </a:txBody>
                  <a:tcPr marL="54864" marR="54864" marT="27432" marB="27432" anchor="ctr"/>
                </a:tc>
                <a:tc>
                  <a:txBody>
                    <a:bodyPr/>
                    <a:lstStyle/>
                    <a:p>
                      <a:pPr algn="ctr"/>
                      <a:r>
                        <a:rPr sz="1200" b="0">
                          <a:solidFill>
                            <a:srgbClr val="36393B"/>
                          </a:solidFill>
                        </a:rPr>
                        <a:t>6</a:t>
                      </a:r>
                    </a:p>
                  </a:txBody>
                  <a:tcPr marL="54864" marR="54864" marT="27432" marB="27432" anchor="ctr"/>
                </a:tc>
                <a:tc>
                  <a:txBody>
                    <a:bodyPr/>
                    <a:lstStyle/>
                    <a:p>
                      <a:pPr algn="ctr"/>
                      <a:r>
                        <a:rPr sz="1200" b="0">
                          <a:solidFill>
                            <a:srgbClr val="36393B"/>
                          </a:solidFill>
                        </a:rPr>
                        <a:t>Investing vs. gambling risk-taking</a:t>
                      </a:r>
                    </a:p>
                  </a:txBody>
                  <a:tcPr marL="54864" marR="54864" marT="27432" marB="27432" anchor="ctr"/>
                </a:tc>
                <a:extLst>
                  <a:ext uri="{0D108BD9-81ED-4DB2-BD59-A6C34878D82A}">
                    <a16:rowId xmlns:a16="http://schemas.microsoft.com/office/drawing/2014/main" val="10003"/>
                  </a:ext>
                </a:extLst>
              </a:tr>
              <a:tr h="655320">
                <a:tc>
                  <a:txBody>
                    <a:bodyPr/>
                    <a:lstStyle/>
                    <a:p>
                      <a:pPr algn="l"/>
                      <a:r>
                        <a:rPr sz="1200" b="1">
                          <a:solidFill>
                            <a:srgbClr val="36393B"/>
                          </a:solidFill>
                        </a:rPr>
                        <a:t>BFI-2 (Soto &amp; John, 2017)</a:t>
                      </a:r>
                    </a:p>
                  </a:txBody>
                  <a:tcPr marL="54864" marR="54864" marT="27432" marB="27432" anchor="ctr"/>
                </a:tc>
                <a:tc>
                  <a:txBody>
                    <a:bodyPr/>
                    <a:lstStyle/>
                    <a:p>
                      <a:pPr algn="ctr"/>
                      <a:r>
                        <a:rPr sz="1200" b="0">
                          <a:solidFill>
                            <a:srgbClr val="36393B"/>
                          </a:solidFill>
                        </a:rPr>
                        <a:t>60</a:t>
                      </a:r>
                    </a:p>
                  </a:txBody>
                  <a:tcPr marL="54864" marR="54864" marT="27432" marB="27432" anchor="ctr"/>
                </a:tc>
                <a:tc>
                  <a:txBody>
                    <a:bodyPr/>
                    <a:lstStyle/>
                    <a:p>
                      <a:pPr algn="ctr"/>
                      <a:r>
                        <a:rPr sz="1200" b="0">
                          <a:solidFill>
                            <a:srgbClr val="36393B"/>
                          </a:solidFill>
                        </a:rPr>
                        <a:t>Big Five personality, 15 facets</a:t>
                      </a:r>
                    </a:p>
                  </a:txBody>
                  <a:tcPr marL="54864" marR="54864" marT="27432" marB="27432" anchor="ctr"/>
                </a:tc>
                <a:extLst>
                  <a:ext uri="{0D108BD9-81ED-4DB2-BD59-A6C34878D82A}">
                    <a16:rowId xmlns:a16="http://schemas.microsoft.com/office/drawing/2014/main" val="10004"/>
                  </a:ext>
                </a:extLst>
              </a:tr>
              <a:tr h="655320">
                <a:tc>
                  <a:txBody>
                    <a:bodyPr/>
                    <a:lstStyle/>
                    <a:p>
                      <a:pPr algn="l"/>
                      <a:r>
                        <a:rPr sz="1200" b="1">
                          <a:solidFill>
                            <a:srgbClr val="36393B"/>
                          </a:solidFill>
                        </a:rPr>
                        <a:t>Adaptive choice engine (ours)</a:t>
                      </a:r>
                    </a:p>
                  </a:txBody>
                  <a:tcPr marL="54864" marR="54864" marT="27432" marB="27432" anchor="ctr"/>
                </a:tc>
                <a:tc>
                  <a:txBody>
                    <a:bodyPr/>
                    <a:lstStyle/>
                    <a:p>
                      <a:pPr algn="ctr"/>
                      <a:r>
                        <a:rPr sz="1200" b="0">
                          <a:solidFill>
                            <a:srgbClr val="36393B"/>
                          </a:solidFill>
                        </a:rPr>
                        <a:t>18 + 2</a:t>
                      </a:r>
                    </a:p>
                  </a:txBody>
                  <a:tcPr marL="54864" marR="54864" marT="27432" marB="27432" anchor="ctr"/>
                </a:tc>
                <a:tc>
                  <a:txBody>
                    <a:bodyPr/>
                    <a:lstStyle/>
                    <a:p>
                      <a:pPr algn="ctr"/>
                      <a:r>
                        <a:rPr sz="1200" b="0">
                          <a:solidFill>
                            <a:srgbClr val="36393B"/>
                          </a:solidFill>
                        </a:rPr>
                        <a:t>γ, λ, α, β, δ (Step 4)</a:t>
                      </a:r>
                    </a:p>
                  </a:txBody>
                  <a:tcPr marL="54864" marR="54864" marT="27432" marB="27432" anchor="ctr"/>
                </a:tc>
                <a:extLst>
                  <a:ext uri="{0D108BD9-81ED-4DB2-BD59-A6C34878D82A}">
                    <a16:rowId xmlns:a16="http://schemas.microsoft.com/office/drawing/2014/main" val="10005"/>
                  </a:ext>
                </a:extLst>
              </a:tr>
            </a:tbl>
          </a:graphicData>
        </a:graphic>
      </p:graphicFrame>
      <p:sp>
        <p:nvSpPr>
          <p:cNvPr id="7"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Adwaaiit</a:t>
            </a:r>
          </a:p>
        </p:txBody>
      </p:sp>
    </p:spTree>
    <p:extLst>
      <p:ext uri="{BB962C8B-B14F-4D97-AF65-F5344CB8AC3E}">
        <p14:creationId xmlns:p14="http://schemas.microsoft.com/office/powerpoint/2010/main" val="1852983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A49A-DC7C-9C4F-2F9A-564E195C5628}"/>
              </a:ext>
            </a:extLst>
          </p:cNvPr>
          <p:cNvSpPr>
            <a:spLocks noGrp="1"/>
          </p:cNvSpPr>
          <p:nvPr>
            <p:ph type="title"/>
          </p:nvPr>
        </p:nvSpPr>
        <p:spPr>
          <a:xfrm>
            <a:off x="846879" y="868680"/>
            <a:ext cx="5248656" cy="2157984"/>
          </a:xfrm>
        </p:spPr>
        <p:txBody>
          <a:bodyPr anchor="t"/>
          <a:lstStyle/>
          <a:p>
            <a:r>
              <a:rPr lang="en-US" dirty="0"/>
              <a:t>Step 4: the</a:t>
            </a:r>
            <a:br/>
            <a:r>
              <a:rPr lang="en-US" dirty="0"/>
              <a:t>elicitation</a:t>
            </a:r>
            <a:br/>
            <a:r>
              <a:rPr lang="en-US" dirty="0"/>
              <a:t>engine</a:t>
            </a:r>
          </a:p>
        </p:txBody>
      </p:sp>
      <p:pic>
        <p:nvPicPr>
          <p:cNvPr id="23" name="Picture Placeholder 22" descr="View of city skyscrapers looking up">
            <a:extLst>
              <a:ext uri="{FF2B5EF4-FFF2-40B4-BE49-F238E27FC236}">
                <a16:creationId xmlns:a16="http://schemas.microsoft.com/office/drawing/2014/main" id="{EA0720B9-8012-11BC-9281-4F57A58FAD3B}"/>
              </a:ext>
            </a:extLst>
          </p:cNvPr>
          <p:cNvPicPr>
            <a:picLocks noGrp="1" noChangeAspect="1"/>
          </p:cNvPicPr>
          <p:nvPr>
            <p:ph type="pic" sz="quarter" idx="13"/>
          </p:nvPr>
        </p:nvPicPr>
        <p:blipFill>
          <a:blip r:embed="rId3"/>
          <a:srcRect l="523" r="523"/>
          <a:stretch/>
        </p:blipFill>
        <p:spPr>
          <a:xfrm>
            <a:off x="0" y="3159126"/>
            <a:ext cx="4577463" cy="3698875"/>
          </a:xfrm>
        </p:spPr>
      </p:pic>
      <p:sp>
        <p:nvSpPr>
          <p:cNvPr id="10" name="Content Placeholder 9">
            <a:extLst>
              <a:ext uri="{FF2B5EF4-FFF2-40B4-BE49-F238E27FC236}">
                <a16:creationId xmlns:a16="http://schemas.microsoft.com/office/drawing/2014/main" id="{6716CAA9-374B-601A-A4B6-6F92CD182236}"/>
              </a:ext>
            </a:extLst>
          </p:cNvPr>
          <p:cNvSpPr>
            <a:spLocks noGrp="1"/>
          </p:cNvSpPr>
          <p:nvPr>
            <p:ph sz="half" idx="12"/>
          </p:nvPr>
        </p:nvSpPr>
        <p:spPr>
          <a:xfrm>
            <a:off x="6729984" y="786384"/>
            <a:ext cx="4617720" cy="2770632"/>
          </a:xfrm>
        </p:spPr>
        <p:txBody>
          <a:bodyPr/>
          <a:lstStyle/>
          <a:p>
            <a:r>
              <a:rPr lang="en-US" sz="1300" dirty="0"/>
              <a:t>FIVE PARAMETERS, ONE MODEL</a:t>
            </a:r>
          </a:p>
          <a:p>
            <a:pPr lvl="1"/>
            <a:r>
              <a:rPr lang="en-US" sz="1500" dirty="0"/>
              <a:t>γ curvature:  u(x) = x^(1−γ)</a:t>
            </a:r>
          </a:p>
          <a:p>
            <a:pPr lvl="1"/>
            <a:r>
              <a:rPr lang="en-US" sz="1500" dirty="0"/>
              <a:t>λ loss aversion:  v(−x) = −λ·x^(1−γ)</a:t>
            </a:r>
          </a:p>
          <a:p>
            <a:pPr lvl="1"/>
            <a:r>
              <a:rPr lang="en-US" sz="1500" dirty="0"/>
              <a:t>α Prelec weighting:  w(p) = exp(−(−ln p)^α)</a:t>
            </a:r>
          </a:p>
          <a:p>
            <a:pPr lvl="1"/>
            <a:r>
              <a:rPr lang="en-US" sz="1500" dirty="0"/>
              <a:t>β, δ present bias, patience:  D(t) = β·δ^(t/30)</a:t>
            </a:r>
          </a:p>
        </p:txBody>
      </p:sp>
      <p:sp>
        <p:nvSpPr>
          <p:cNvPr id="6" name="Content Placeholder 3">
            <a:extLst>
              <a:ext uri="{FF2B5EF4-FFF2-40B4-BE49-F238E27FC236}">
                <a16:creationId xmlns:a16="http://schemas.microsoft.com/office/drawing/2014/main" id="{864D6ACC-22BB-B3AD-E797-74518F06BE3A}"/>
              </a:ext>
            </a:extLst>
          </p:cNvPr>
          <p:cNvSpPr>
            <a:spLocks noGrp="1"/>
          </p:cNvSpPr>
          <p:nvPr>
            <p:ph sz="half" idx="2"/>
          </p:nvPr>
        </p:nvSpPr>
        <p:spPr>
          <a:xfrm>
            <a:off x="6729984" y="3858768"/>
            <a:ext cx="4617720" cy="2770632"/>
          </a:xfrm>
          <a:noFill/>
        </p:spPr>
        <p:txBody>
          <a:bodyPr vert="horz" lIns="91440" tIns="45720" rIns="91440" bIns="45720" rtlCol="0" anchor="t">
            <a:noAutofit/>
          </a:bodyPr>
          <a:lstStyle/>
          <a:p>
            <a:r>
              <a:rPr lang="en-US" sz="1300" dirty="0"/>
              <a:t>EACH OF 18 QUESTIONS</a:t>
            </a:r>
          </a:p>
          <a:p>
            <a:pPr lvl="1"/>
            <a:r>
              <a:rPr lang="en-US" sz="1500" dirty="0"/>
              <a:t>Gamble vs. sure amount, or now vs. later</a:t>
            </a:r>
          </a:p>
          <a:p>
            <a:pPr lvl="1"/>
            <a:r>
              <a:rPr lang="en-US" sz="1500" dirty="0"/>
              <a:t>Bayes update over 7,776 parameter combinations</a:t>
            </a:r>
          </a:p>
          <a:p>
            <a:pPr lvl="1"/>
            <a:r>
              <a:rPr lang="en-US" sz="1500" dirty="0"/>
              <a:t>Next question = largest expected information gain</a:t>
            </a:r>
          </a:p>
          <a:p>
            <a:pPr lvl="1"/>
            <a:r>
              <a:rPr lang="en-US" sz="1500" dirty="0"/>
              <a:t>2 hidden repeats; Empirical-Bayes pooling (≥30% own weight)</a:t>
            </a:r>
          </a:p>
        </p:txBody>
      </p:sp>
      <p:sp>
        <p:nvSpPr>
          <p:cNvPr id="27" name="Slide Number Placeholder 26">
            <a:extLst>
              <a:ext uri="{FF2B5EF4-FFF2-40B4-BE49-F238E27FC236}">
                <a16:creationId xmlns:a16="http://schemas.microsoft.com/office/drawing/2014/main" id="{A4B6E0DA-DEBF-CAD7-638D-5FAC6A83CE38}"/>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4</a:t>
            </a:fld>
            <a:endParaRPr lang="en-US" dirty="0"/>
          </a:p>
        </p:txBody>
      </p:sp>
      <p:sp>
        <p:nvSpPr>
          <p:cNvPr id="26" name="Oval 25">
            <a:extLst>
              <a:ext uri="{FF2B5EF4-FFF2-40B4-BE49-F238E27FC236}">
                <a16:creationId xmlns:a16="http://schemas.microsoft.com/office/drawing/2014/main" id="{3B5704EA-7A65-5CC2-D428-F28396B06208}"/>
              </a:ext>
              <a:ext uri="{C183D7F6-B498-43B3-948B-1728B52AA6E4}">
                <adec:decorative xmlns:adec="http://schemas.microsoft.com/office/drawing/2017/decorative" val="1"/>
              </a:ext>
            </a:extLst>
          </p:cNvPr>
          <p:cNvSpPr/>
          <p:nvPr/>
        </p:nvSpPr>
        <p:spPr>
          <a:xfrm>
            <a:off x="281346" y="2724345"/>
            <a:ext cx="1292298" cy="1292298"/>
          </a:xfrm>
          <a:prstGeom prst="ellipse">
            <a:avLst/>
          </a:prstGeom>
          <a:solidFill>
            <a:schemeClr val="accent1">
              <a:alpha val="760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28"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Adwaaiit</a:t>
            </a:r>
          </a:p>
        </p:txBody>
      </p:sp>
    </p:spTree>
    <p:extLst>
      <p:ext uri="{BB962C8B-B14F-4D97-AF65-F5344CB8AC3E}">
        <p14:creationId xmlns:p14="http://schemas.microsoft.com/office/powerpoint/2010/main" val="1323760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a:t>Utility &amp; value functions</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5</a:t>
            </a:fld>
            <a:endParaRPr lang="en-US" dirty="0"/>
          </a:p>
        </p:txBody>
      </p:sp>
      <p:cxnSp>
        <p:nvCxnSpPr>
          <p:cNvPr id="9" name="Connector 8"/>
          <p:cNvCxnSpPr/>
          <p:nvPr/>
        </p:nvCxnSpPr>
        <p:spPr>
          <a:xfrm>
            <a:off x="850392" y="1463039"/>
            <a:ext cx="320040" cy="0"/>
          </a:xfrm>
          <a:prstGeom prst="line">
            <a:avLst/>
          </a:prstGeom>
          <a:ln w="38100">
            <a:solidFill>
              <a:srgbClr val="4D62E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234440" y="1325880"/>
            <a:ext cx="1636775" cy="274320"/>
          </a:xfrm>
          <a:prstGeom prst="rect">
            <a:avLst/>
          </a:prstGeom>
          <a:noFill/>
        </p:spPr>
        <p:txBody>
          <a:bodyPr wrap="none" lIns="36576" tIns="18288" rIns="36576" bIns="18288" anchor="t">
            <a:spAutoFit/>
          </a:bodyPr>
          <a:lstStyle/>
          <a:p>
            <a:pPr algn="l">
              <a:spcAft>
                <a:spcPts val="400"/>
              </a:spcAft>
            </a:pPr>
            <a:r>
              <a:rPr sz="1200" b="0">
                <a:solidFill>
                  <a:srgbClr val="36393B"/>
                </a:solidFill>
              </a:rPr>
              <a:t>Shree Charan</a:t>
            </a:r>
          </a:p>
        </p:txBody>
      </p:sp>
      <p:cxnSp>
        <p:nvCxnSpPr>
          <p:cNvPr id="11" name="Connector 10"/>
          <p:cNvCxnSpPr/>
          <p:nvPr/>
        </p:nvCxnSpPr>
        <p:spPr>
          <a:xfrm>
            <a:off x="2898648" y="1463039"/>
            <a:ext cx="320040" cy="0"/>
          </a:xfrm>
          <a:prstGeom prst="line">
            <a:avLst/>
          </a:prstGeom>
          <a:ln w="38100">
            <a:solidFill>
              <a:srgbClr val="FD4C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82696" y="1325880"/>
            <a:ext cx="1636775" cy="274320"/>
          </a:xfrm>
          <a:prstGeom prst="rect">
            <a:avLst/>
          </a:prstGeom>
          <a:noFill/>
        </p:spPr>
        <p:txBody>
          <a:bodyPr wrap="none" lIns="36576" tIns="18288" rIns="36576" bIns="18288" anchor="t">
            <a:spAutoFit/>
          </a:bodyPr>
          <a:lstStyle/>
          <a:p>
            <a:pPr algn="l">
              <a:spcAft>
                <a:spcPts val="400"/>
              </a:spcAft>
            </a:pPr>
            <a:r>
              <a:rPr sz="1200" b="0">
                <a:solidFill>
                  <a:srgbClr val="36393B"/>
                </a:solidFill>
              </a:rPr>
              <a:t>Kshitij</a:t>
            </a:r>
          </a:p>
        </p:txBody>
      </p:sp>
      <p:cxnSp>
        <p:nvCxnSpPr>
          <p:cNvPr id="13" name="Connector 12"/>
          <p:cNvCxnSpPr/>
          <p:nvPr/>
        </p:nvCxnSpPr>
        <p:spPr>
          <a:xfrm>
            <a:off x="4946903" y="1463039"/>
            <a:ext cx="320040" cy="0"/>
          </a:xfrm>
          <a:prstGeom prst="line">
            <a:avLst/>
          </a:prstGeom>
          <a:ln w="38100">
            <a:solidFill>
              <a:srgbClr val="12A38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330951" y="1325880"/>
            <a:ext cx="1636775" cy="274320"/>
          </a:xfrm>
          <a:prstGeom prst="rect">
            <a:avLst/>
          </a:prstGeom>
          <a:noFill/>
        </p:spPr>
        <p:txBody>
          <a:bodyPr wrap="none" lIns="36576" tIns="18288" rIns="36576" bIns="18288" anchor="t">
            <a:spAutoFit/>
          </a:bodyPr>
          <a:lstStyle/>
          <a:p>
            <a:pPr algn="l">
              <a:spcAft>
                <a:spcPts val="400"/>
              </a:spcAft>
            </a:pPr>
            <a:r>
              <a:rPr sz="1200" b="0">
                <a:solidFill>
                  <a:srgbClr val="36393B"/>
                </a:solidFill>
              </a:rPr>
              <a:t>Kartika</a:t>
            </a:r>
          </a:p>
        </p:txBody>
      </p:sp>
      <p:cxnSp>
        <p:nvCxnSpPr>
          <p:cNvPr id="15" name="Connector 14"/>
          <p:cNvCxnSpPr/>
          <p:nvPr/>
        </p:nvCxnSpPr>
        <p:spPr>
          <a:xfrm>
            <a:off x="6995159" y="1463039"/>
            <a:ext cx="320040" cy="0"/>
          </a:xfrm>
          <a:prstGeom prst="line">
            <a:avLst/>
          </a:prstGeom>
          <a:ln w="38100">
            <a:solidFill>
              <a:srgbClr val="CA54F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79207" y="1325880"/>
            <a:ext cx="1636775" cy="274320"/>
          </a:xfrm>
          <a:prstGeom prst="rect">
            <a:avLst/>
          </a:prstGeom>
          <a:noFill/>
        </p:spPr>
        <p:txBody>
          <a:bodyPr wrap="none" lIns="36576" tIns="18288" rIns="36576" bIns="18288" anchor="t">
            <a:spAutoFit/>
          </a:bodyPr>
          <a:lstStyle/>
          <a:p>
            <a:pPr algn="l">
              <a:spcAft>
                <a:spcPts val="400"/>
              </a:spcAft>
            </a:pPr>
            <a:r>
              <a:rPr sz="1200" b="0">
                <a:solidFill>
                  <a:srgbClr val="36393B"/>
                </a:solidFill>
              </a:rPr>
              <a:t>Ayushi</a:t>
            </a:r>
          </a:p>
        </p:txBody>
      </p:sp>
      <p:cxnSp>
        <p:nvCxnSpPr>
          <p:cNvPr id="17" name="Connector 16"/>
          <p:cNvCxnSpPr/>
          <p:nvPr/>
        </p:nvCxnSpPr>
        <p:spPr>
          <a:xfrm>
            <a:off x="9043415" y="1463039"/>
            <a:ext cx="320040" cy="0"/>
          </a:xfrm>
          <a:prstGeom prst="line">
            <a:avLst/>
          </a:prstGeom>
          <a:ln w="38100">
            <a:solidFill>
              <a:srgbClr val="D69E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27463" y="1325880"/>
            <a:ext cx="1636775" cy="274320"/>
          </a:xfrm>
          <a:prstGeom prst="rect">
            <a:avLst/>
          </a:prstGeom>
          <a:noFill/>
        </p:spPr>
        <p:txBody>
          <a:bodyPr wrap="none" lIns="36576" tIns="18288" rIns="36576" bIns="18288" anchor="t">
            <a:spAutoFit/>
          </a:bodyPr>
          <a:lstStyle/>
          <a:p>
            <a:pPr algn="l">
              <a:spcAft>
                <a:spcPts val="400"/>
              </a:spcAft>
            </a:pPr>
            <a:r>
              <a:rPr sz="1200" b="0">
                <a:solidFill>
                  <a:srgbClr val="36393B"/>
                </a:solidFill>
              </a:rPr>
              <a:t>Adwaaiit Pande</a:t>
            </a:r>
          </a:p>
        </p:txBody>
      </p:sp>
      <p:graphicFrame>
        <p:nvGraphicFramePr>
          <p:cNvPr id="19" name="Chart 18"/>
          <p:cNvGraphicFramePr>
            <a:graphicFrameLocks noGrp="1"/>
          </p:cNvGraphicFramePr>
          <p:nvPr/>
        </p:nvGraphicFramePr>
        <p:xfrm>
          <a:off x="777240" y="1691640"/>
          <a:ext cx="5257800" cy="4069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p:cNvGraphicFramePr>
            <a:graphicFrameLocks noGrp="1"/>
          </p:cNvGraphicFramePr>
          <p:nvPr/>
        </p:nvGraphicFramePr>
        <p:xfrm>
          <a:off x="6172200" y="1691640"/>
          <a:ext cx="5257800" cy="406908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Box 20"/>
          <p:cNvSpPr txBox="1"/>
          <p:nvPr/>
        </p:nvSpPr>
        <p:spPr>
          <a:xfrm>
            <a:off x="850392" y="5806440"/>
            <a:ext cx="5120640" cy="548640"/>
          </a:xfrm>
          <a:prstGeom prst="rect">
            <a:avLst/>
          </a:prstGeom>
          <a:noFill/>
        </p:spPr>
        <p:txBody>
          <a:bodyPr wrap="square" lIns="36576" tIns="18288" rIns="36576" bIns="18288" anchor="t">
            <a:spAutoFit/>
          </a:bodyPr>
          <a:lstStyle/>
          <a:p>
            <a:pPr algn="l">
              <a:spcAft>
                <a:spcPts val="400"/>
              </a:spcAft>
            </a:pPr>
            <a:r>
              <a:rPr sz="1200" b="0">
                <a:solidFill>
                  <a:srgbClr val="36393B"/>
                </a:solidFill>
              </a:rPr>
              <a:t>γ ≈ 2.2 for three of us: strongly concave (curves overlap). Kshitij γ = −0.5: convex, risk-seeking.</a:t>
            </a:r>
          </a:p>
        </p:txBody>
      </p:sp>
      <p:sp>
        <p:nvSpPr>
          <p:cNvPr id="22" name="TextBox 21"/>
          <p:cNvSpPr txBox="1"/>
          <p:nvPr/>
        </p:nvSpPr>
        <p:spPr>
          <a:xfrm>
            <a:off x="6217920" y="5806440"/>
            <a:ext cx="5120640" cy="548640"/>
          </a:xfrm>
          <a:prstGeom prst="rect">
            <a:avLst/>
          </a:prstGeom>
          <a:noFill/>
        </p:spPr>
        <p:txBody>
          <a:bodyPr wrap="square" lIns="36576" tIns="18288" rIns="36576" bIns="18288" anchor="t">
            <a:spAutoFit/>
          </a:bodyPr>
          <a:lstStyle/>
          <a:p>
            <a:pPr algn="l">
              <a:spcAft>
                <a:spcPts val="400"/>
              </a:spcAft>
            </a:pPr>
            <a:r>
              <a:rPr sz="1200" b="0">
                <a:solidFill>
                  <a:srgbClr val="36393B"/>
                </a:solidFill>
              </a:rPr>
              <a:t>Only Kshitij is loss-averse (λ = 1.6). With e = max(1−γ, 0.05), three curves hit the floor: near-step.</a:t>
            </a:r>
          </a:p>
        </p:txBody>
      </p:sp>
      <p:sp>
        <p:nvSpPr>
          <p:cNvPr id="23"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Adwaaiit</a:t>
            </a:r>
          </a:p>
        </p:txBody>
      </p:sp>
    </p:spTree>
    <p:extLst>
      <p:ext uri="{BB962C8B-B14F-4D97-AF65-F5344CB8AC3E}">
        <p14:creationId xmlns:p14="http://schemas.microsoft.com/office/powerpoint/2010/main" val="226339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a:t>Weighting &amp; discounting</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6</a:t>
            </a:fld>
            <a:endParaRPr lang="en-US" dirty="0"/>
          </a:p>
        </p:txBody>
      </p:sp>
      <p:cxnSp>
        <p:nvCxnSpPr>
          <p:cNvPr id="9" name="Connector 8"/>
          <p:cNvCxnSpPr/>
          <p:nvPr/>
        </p:nvCxnSpPr>
        <p:spPr>
          <a:xfrm>
            <a:off x="850392" y="1463039"/>
            <a:ext cx="320040" cy="0"/>
          </a:xfrm>
          <a:prstGeom prst="line">
            <a:avLst/>
          </a:prstGeom>
          <a:ln w="38100">
            <a:solidFill>
              <a:srgbClr val="4D62E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234440" y="1325880"/>
            <a:ext cx="1636775" cy="274320"/>
          </a:xfrm>
          <a:prstGeom prst="rect">
            <a:avLst/>
          </a:prstGeom>
          <a:noFill/>
        </p:spPr>
        <p:txBody>
          <a:bodyPr wrap="none" lIns="36576" tIns="18288" rIns="36576" bIns="18288" anchor="t">
            <a:spAutoFit/>
          </a:bodyPr>
          <a:lstStyle/>
          <a:p>
            <a:pPr algn="l">
              <a:spcAft>
                <a:spcPts val="400"/>
              </a:spcAft>
            </a:pPr>
            <a:r>
              <a:rPr sz="1200" b="0">
                <a:solidFill>
                  <a:srgbClr val="36393B"/>
                </a:solidFill>
              </a:rPr>
              <a:t>Shree Charan</a:t>
            </a:r>
          </a:p>
        </p:txBody>
      </p:sp>
      <p:cxnSp>
        <p:nvCxnSpPr>
          <p:cNvPr id="11" name="Connector 10"/>
          <p:cNvCxnSpPr/>
          <p:nvPr/>
        </p:nvCxnSpPr>
        <p:spPr>
          <a:xfrm>
            <a:off x="2898648" y="1463039"/>
            <a:ext cx="320040" cy="0"/>
          </a:xfrm>
          <a:prstGeom prst="line">
            <a:avLst/>
          </a:prstGeom>
          <a:ln w="38100">
            <a:solidFill>
              <a:srgbClr val="FD4C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82696" y="1325880"/>
            <a:ext cx="1636775" cy="274320"/>
          </a:xfrm>
          <a:prstGeom prst="rect">
            <a:avLst/>
          </a:prstGeom>
          <a:noFill/>
        </p:spPr>
        <p:txBody>
          <a:bodyPr wrap="none" lIns="36576" tIns="18288" rIns="36576" bIns="18288" anchor="t">
            <a:spAutoFit/>
          </a:bodyPr>
          <a:lstStyle/>
          <a:p>
            <a:pPr algn="l">
              <a:spcAft>
                <a:spcPts val="400"/>
              </a:spcAft>
            </a:pPr>
            <a:r>
              <a:rPr sz="1200" b="0">
                <a:solidFill>
                  <a:srgbClr val="36393B"/>
                </a:solidFill>
              </a:rPr>
              <a:t>Kshitij</a:t>
            </a:r>
          </a:p>
        </p:txBody>
      </p:sp>
      <p:cxnSp>
        <p:nvCxnSpPr>
          <p:cNvPr id="13" name="Connector 12"/>
          <p:cNvCxnSpPr/>
          <p:nvPr/>
        </p:nvCxnSpPr>
        <p:spPr>
          <a:xfrm>
            <a:off x="4946903" y="1463039"/>
            <a:ext cx="320040" cy="0"/>
          </a:xfrm>
          <a:prstGeom prst="line">
            <a:avLst/>
          </a:prstGeom>
          <a:ln w="38100">
            <a:solidFill>
              <a:srgbClr val="12A38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330951" y="1325880"/>
            <a:ext cx="1636775" cy="274320"/>
          </a:xfrm>
          <a:prstGeom prst="rect">
            <a:avLst/>
          </a:prstGeom>
          <a:noFill/>
        </p:spPr>
        <p:txBody>
          <a:bodyPr wrap="none" lIns="36576" tIns="18288" rIns="36576" bIns="18288" anchor="t">
            <a:spAutoFit/>
          </a:bodyPr>
          <a:lstStyle/>
          <a:p>
            <a:pPr algn="l">
              <a:spcAft>
                <a:spcPts val="400"/>
              </a:spcAft>
            </a:pPr>
            <a:r>
              <a:rPr sz="1200" b="0">
                <a:solidFill>
                  <a:srgbClr val="36393B"/>
                </a:solidFill>
              </a:rPr>
              <a:t>Kartika</a:t>
            </a:r>
          </a:p>
        </p:txBody>
      </p:sp>
      <p:cxnSp>
        <p:nvCxnSpPr>
          <p:cNvPr id="15" name="Connector 14"/>
          <p:cNvCxnSpPr/>
          <p:nvPr/>
        </p:nvCxnSpPr>
        <p:spPr>
          <a:xfrm>
            <a:off x="6995159" y="1463039"/>
            <a:ext cx="320040" cy="0"/>
          </a:xfrm>
          <a:prstGeom prst="line">
            <a:avLst/>
          </a:prstGeom>
          <a:ln w="38100">
            <a:solidFill>
              <a:srgbClr val="CA54F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79207" y="1325880"/>
            <a:ext cx="1636775" cy="274320"/>
          </a:xfrm>
          <a:prstGeom prst="rect">
            <a:avLst/>
          </a:prstGeom>
          <a:noFill/>
        </p:spPr>
        <p:txBody>
          <a:bodyPr wrap="none" lIns="36576" tIns="18288" rIns="36576" bIns="18288" anchor="t">
            <a:spAutoFit/>
          </a:bodyPr>
          <a:lstStyle/>
          <a:p>
            <a:pPr algn="l">
              <a:spcAft>
                <a:spcPts val="400"/>
              </a:spcAft>
            </a:pPr>
            <a:r>
              <a:rPr sz="1200" b="0">
                <a:solidFill>
                  <a:srgbClr val="36393B"/>
                </a:solidFill>
              </a:rPr>
              <a:t>Ayushi</a:t>
            </a:r>
          </a:p>
        </p:txBody>
      </p:sp>
      <p:cxnSp>
        <p:nvCxnSpPr>
          <p:cNvPr id="17" name="Connector 16"/>
          <p:cNvCxnSpPr/>
          <p:nvPr/>
        </p:nvCxnSpPr>
        <p:spPr>
          <a:xfrm>
            <a:off x="9043415" y="1463039"/>
            <a:ext cx="320040" cy="0"/>
          </a:xfrm>
          <a:prstGeom prst="line">
            <a:avLst/>
          </a:prstGeom>
          <a:ln w="38100">
            <a:solidFill>
              <a:srgbClr val="D69E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27463" y="1325880"/>
            <a:ext cx="1636775" cy="274320"/>
          </a:xfrm>
          <a:prstGeom prst="rect">
            <a:avLst/>
          </a:prstGeom>
          <a:noFill/>
        </p:spPr>
        <p:txBody>
          <a:bodyPr wrap="none" lIns="36576" tIns="18288" rIns="36576" bIns="18288" anchor="t">
            <a:spAutoFit/>
          </a:bodyPr>
          <a:lstStyle/>
          <a:p>
            <a:pPr algn="l">
              <a:spcAft>
                <a:spcPts val="400"/>
              </a:spcAft>
            </a:pPr>
            <a:r>
              <a:rPr sz="1200" b="0">
                <a:solidFill>
                  <a:srgbClr val="36393B"/>
                </a:solidFill>
              </a:rPr>
              <a:t>Adwaaiit Pande</a:t>
            </a:r>
          </a:p>
        </p:txBody>
      </p:sp>
      <p:graphicFrame>
        <p:nvGraphicFramePr>
          <p:cNvPr id="19" name="Chart 18"/>
          <p:cNvGraphicFramePr>
            <a:graphicFrameLocks noGrp="1"/>
          </p:cNvGraphicFramePr>
          <p:nvPr/>
        </p:nvGraphicFramePr>
        <p:xfrm>
          <a:off x="777240" y="1691640"/>
          <a:ext cx="5257800" cy="4069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p:cNvGraphicFramePr>
            <a:graphicFrameLocks noGrp="1"/>
          </p:cNvGraphicFramePr>
          <p:nvPr/>
        </p:nvGraphicFramePr>
        <p:xfrm>
          <a:off x="6172200" y="1691640"/>
          <a:ext cx="5257800" cy="406908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Box 20"/>
          <p:cNvSpPr txBox="1"/>
          <p:nvPr/>
        </p:nvSpPr>
        <p:spPr>
          <a:xfrm>
            <a:off x="850392" y="5806440"/>
            <a:ext cx="5120640" cy="548640"/>
          </a:xfrm>
          <a:prstGeom prst="rect">
            <a:avLst/>
          </a:prstGeom>
          <a:noFill/>
        </p:spPr>
        <p:txBody>
          <a:bodyPr wrap="square" lIns="36576" tIns="18288" rIns="36576" bIns="18288" anchor="t">
            <a:spAutoFit/>
          </a:bodyPr>
          <a:lstStyle/>
          <a:p>
            <a:pPr algn="l">
              <a:spcAft>
                <a:spcPts val="400"/>
              </a:spcAft>
            </a:pPr>
            <a:r>
              <a:rPr sz="1200" b="0">
                <a:solidFill>
                  <a:srgbClr val="36393B"/>
                </a:solidFill>
              </a:rPr>
              <a:t>Kshitij and Shree Charan over-weight rare events: a 5% chance feels like 21% and 16%.</a:t>
            </a:r>
          </a:p>
        </p:txBody>
      </p:sp>
      <p:sp>
        <p:nvSpPr>
          <p:cNvPr id="22" name="TextBox 21"/>
          <p:cNvSpPr txBox="1"/>
          <p:nvPr/>
        </p:nvSpPr>
        <p:spPr>
          <a:xfrm>
            <a:off x="6217920" y="5806440"/>
            <a:ext cx="5120640" cy="548640"/>
          </a:xfrm>
          <a:prstGeom prst="rect">
            <a:avLst/>
          </a:prstGeom>
          <a:noFill/>
        </p:spPr>
        <p:txBody>
          <a:bodyPr wrap="square" lIns="36576" tIns="18288" rIns="36576" bIns="18288" anchor="t">
            <a:spAutoFit/>
          </a:bodyPr>
          <a:lstStyle/>
          <a:p>
            <a:pPr algn="l">
              <a:spcAft>
                <a:spcPts val="400"/>
              </a:spcAft>
            </a:pPr>
            <a:r>
              <a:rPr sz="1200" b="0">
                <a:solidFill>
                  <a:srgbClr val="36393B"/>
                </a:solidFill>
              </a:rPr>
              <a:t>₹1 in a year is worth ₹0.18 today to Kshitij, ₹0.70 to Adwaaiit (who self-rated patience 4/10).</a:t>
            </a:r>
          </a:p>
        </p:txBody>
      </p:sp>
      <p:sp>
        <p:nvSpPr>
          <p:cNvPr id="23"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Adwaaiit</a:t>
            </a:r>
          </a:p>
        </p:txBody>
      </p:sp>
    </p:spTree>
    <p:extLst>
      <p:ext uri="{BB962C8B-B14F-4D97-AF65-F5344CB8AC3E}">
        <p14:creationId xmlns:p14="http://schemas.microsoft.com/office/powerpoint/2010/main" val="226339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24219-C450-9795-3D37-675668F591FE}"/>
              </a:ext>
            </a:extLst>
          </p:cNvPr>
          <p:cNvSpPr>
            <a:spLocks noGrp="1"/>
          </p:cNvSpPr>
          <p:nvPr>
            <p:ph type="title"/>
          </p:nvPr>
        </p:nvSpPr>
        <p:spPr>
          <a:xfrm>
            <a:off x="2648932" y="0"/>
            <a:ext cx="6894136" cy="6894136"/>
          </a:xfrm>
        </p:spPr>
        <p:txBody>
          <a:bodyPr/>
          <a:lstStyle/>
          <a:p>
            <a:r>
              <a:rPr lang="en-US" dirty="0"/>
              <a:t>Results</a:t>
            </a:r>
            <a:br/>
            <a:r>
              <a:rPr lang="en-US" dirty="0"/>
              <a:t>&amp; advice</a:t>
            </a:r>
          </a:p>
        </p:txBody>
      </p:sp>
    </p:spTree>
    <p:extLst>
      <p:ext uri="{BB962C8B-B14F-4D97-AF65-F5344CB8AC3E}">
        <p14:creationId xmlns:p14="http://schemas.microsoft.com/office/powerpoint/2010/main" val="1753578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a:t>Survey outcomes</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8</a:t>
            </a:fld>
            <a:endParaRPr lang="en-US" dirty="0"/>
          </a:p>
        </p:txBody>
      </p:sp>
      <p:graphicFrame>
        <p:nvGraphicFramePr>
          <p:cNvPr id="9" name="Table 8"/>
          <p:cNvGraphicFramePr>
            <a:graphicFrameLocks noGrp="1"/>
          </p:cNvGraphicFramePr>
          <p:nvPr/>
        </p:nvGraphicFramePr>
        <p:xfrm>
          <a:off x="850392" y="1554480"/>
          <a:ext cx="10424160" cy="32461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777240">
                  <a:extLst>
                    <a:ext uri="{9D8B030D-6E8A-4147-A177-3AD203B41FA5}">
                      <a16:colId xmlns:a16="http://schemas.microsoft.com/office/drawing/2014/main" val="20007"/>
                    </a:ext>
                  </a:extLst>
                </a:gridCol>
                <a:gridCol w="1051560">
                  <a:extLst>
                    <a:ext uri="{9D8B030D-6E8A-4147-A177-3AD203B41FA5}">
                      <a16:colId xmlns:a16="http://schemas.microsoft.com/office/drawing/2014/main" val="20008"/>
                    </a:ext>
                  </a:extLst>
                </a:gridCol>
                <a:gridCol w="914400">
                  <a:extLst>
                    <a:ext uri="{9D8B030D-6E8A-4147-A177-3AD203B41FA5}">
                      <a16:colId xmlns:a16="http://schemas.microsoft.com/office/drawing/2014/main" val="20009"/>
                    </a:ext>
                  </a:extLst>
                </a:gridCol>
              </a:tblGrid>
              <a:tr h="541020">
                <a:tc>
                  <a:txBody>
                    <a:bodyPr/>
                    <a:lstStyle/>
                    <a:p>
                      <a:pPr algn="l"/>
                      <a:r>
                        <a:rPr sz="1200" b="0">
                          <a:solidFill>
                            <a:srgbClr val="36393B"/>
                          </a:solidFill>
                          <a:latin typeface="+mj-lt"/>
                        </a:rPr>
                        <a:t>RESPONDENT</a:t>
                      </a:r>
                    </a:p>
                  </a:txBody>
                  <a:tcPr marL="54864" marR="54864" marT="27432" marB="27432" anchor="ctr">
                    <a:solidFill>
                      <a:schemeClr val="accent1">
                        <a:lumMod val="75000"/>
                      </a:schemeClr>
                    </a:solidFill>
                  </a:tcPr>
                </a:tc>
                <a:tc>
                  <a:txBody>
                    <a:bodyPr/>
                    <a:lstStyle/>
                    <a:p>
                      <a:pPr algn="ctr"/>
                      <a:r>
                        <a:rPr sz="1200" b="0">
                          <a:solidFill>
                            <a:srgbClr val="36393B"/>
                          </a:solidFill>
                          <a:latin typeface="+mj-lt"/>
                        </a:rPr>
                        <a:t>GRABLE-LYTTON</a:t>
                      </a:r>
                    </a:p>
                  </a:txBody>
                  <a:tcPr marL="54864" marR="54864" marT="27432" marB="27432" anchor="ctr">
                    <a:solidFill>
                      <a:schemeClr val="accent1">
                        <a:lumMod val="75000"/>
                      </a:schemeClr>
                    </a:solidFill>
                  </a:tcPr>
                </a:tc>
                <a:tc>
                  <a:txBody>
                    <a:bodyPr/>
                    <a:lstStyle/>
                    <a:p>
                      <a:pPr algn="ctr"/>
                      <a:r>
                        <a:rPr sz="1200" b="0">
                          <a:solidFill>
                            <a:srgbClr val="36393B"/>
                          </a:solidFill>
                          <a:latin typeface="+mj-lt"/>
                        </a:rPr>
                        <a:t>SELF RISK / PATIENCE</a:t>
                      </a:r>
                    </a:p>
                  </a:txBody>
                  <a:tcPr marL="54864" marR="54864" marT="27432" marB="27432" anchor="ctr">
                    <a:solidFill>
                      <a:schemeClr val="accent1">
                        <a:lumMod val="75000"/>
                      </a:schemeClr>
                    </a:solidFill>
                  </a:tcPr>
                </a:tc>
                <a:tc>
                  <a:txBody>
                    <a:bodyPr/>
                    <a:lstStyle/>
                    <a:p>
                      <a:pPr algn="ctr"/>
                      <a:r>
                        <a:rPr sz="1200" b="0">
                          <a:solidFill>
                            <a:srgbClr val="36393B"/>
                          </a:solidFill>
                          <a:latin typeface="+mj-lt"/>
                        </a:rPr>
                        <a:t>γ</a:t>
                      </a:r>
                    </a:p>
                  </a:txBody>
                  <a:tcPr marL="54864" marR="54864" marT="27432" marB="27432" anchor="ctr">
                    <a:solidFill>
                      <a:schemeClr val="accent1">
                        <a:lumMod val="75000"/>
                      </a:schemeClr>
                    </a:solidFill>
                  </a:tcPr>
                </a:tc>
                <a:tc>
                  <a:txBody>
                    <a:bodyPr/>
                    <a:lstStyle/>
                    <a:p>
                      <a:pPr algn="ctr"/>
                      <a:r>
                        <a:rPr sz="1200" b="0">
                          <a:solidFill>
                            <a:srgbClr val="36393B"/>
                          </a:solidFill>
                          <a:latin typeface="+mj-lt"/>
                        </a:rPr>
                        <a:t>λ</a:t>
                      </a:r>
                    </a:p>
                  </a:txBody>
                  <a:tcPr marL="54864" marR="54864" marT="27432" marB="27432" anchor="ctr">
                    <a:solidFill>
                      <a:schemeClr val="accent1">
                        <a:lumMod val="75000"/>
                      </a:schemeClr>
                    </a:solidFill>
                  </a:tcPr>
                </a:tc>
                <a:tc>
                  <a:txBody>
                    <a:bodyPr/>
                    <a:lstStyle/>
                    <a:p>
                      <a:pPr algn="ctr"/>
                      <a:r>
                        <a:rPr sz="1200" b="0">
                          <a:solidFill>
                            <a:srgbClr val="36393B"/>
                          </a:solidFill>
                          <a:latin typeface="+mj-lt"/>
                        </a:rPr>
                        <a:t>α</a:t>
                      </a:r>
                    </a:p>
                  </a:txBody>
                  <a:tcPr marL="54864" marR="54864" marT="27432" marB="27432" anchor="ctr">
                    <a:solidFill>
                      <a:schemeClr val="accent1">
                        <a:lumMod val="75000"/>
                      </a:schemeClr>
                    </a:solidFill>
                  </a:tcPr>
                </a:tc>
                <a:tc>
                  <a:txBody>
                    <a:bodyPr/>
                    <a:lstStyle/>
                    <a:p>
                      <a:pPr algn="ctr"/>
                      <a:r>
                        <a:rPr sz="1200" b="0">
                          <a:solidFill>
                            <a:srgbClr val="36393B"/>
                          </a:solidFill>
                          <a:latin typeface="+mj-lt"/>
                        </a:rPr>
                        <a:t>β</a:t>
                      </a:r>
                    </a:p>
                  </a:txBody>
                  <a:tcPr marL="54864" marR="54864" marT="27432" marB="27432" anchor="ctr">
                    <a:solidFill>
                      <a:schemeClr val="accent1">
                        <a:lumMod val="75000"/>
                      </a:schemeClr>
                    </a:solidFill>
                  </a:tcPr>
                </a:tc>
                <a:tc>
                  <a:txBody>
                    <a:bodyPr/>
                    <a:lstStyle/>
                    <a:p>
                      <a:pPr algn="ctr"/>
                      <a:r>
                        <a:rPr sz="1200" b="0">
                          <a:solidFill>
                            <a:srgbClr val="36393B"/>
                          </a:solidFill>
                          <a:latin typeface="+mj-lt"/>
                        </a:rPr>
                        <a:t>δ</a:t>
                      </a:r>
                    </a:p>
                  </a:txBody>
                  <a:tcPr marL="54864" marR="54864" marT="27432" marB="27432" anchor="ctr">
                    <a:solidFill>
                      <a:schemeClr val="accent1">
                        <a:lumMod val="75000"/>
                      </a:schemeClr>
                    </a:solidFill>
                  </a:tcPr>
                </a:tc>
                <a:tc>
                  <a:txBody>
                    <a:bodyPr/>
                    <a:lstStyle/>
                    <a:p>
                      <a:pPr algn="ctr"/>
                      <a:r>
                        <a:rPr sz="1200" b="0">
                          <a:solidFill>
                            <a:srgbClr val="36393B"/>
                          </a:solidFill>
                          <a:latin typeface="+mj-lt"/>
                        </a:rPr>
                        <a:t>NEG. EMOT.</a:t>
                      </a:r>
                    </a:p>
                  </a:txBody>
                  <a:tcPr marL="54864" marR="54864" marT="27432" marB="27432" anchor="ctr">
                    <a:solidFill>
                      <a:schemeClr val="accent1">
                        <a:lumMod val="75000"/>
                      </a:schemeClr>
                    </a:solidFill>
                  </a:tcPr>
                </a:tc>
                <a:tc>
                  <a:txBody>
                    <a:bodyPr/>
                    <a:lstStyle/>
                    <a:p>
                      <a:pPr algn="ctr"/>
                      <a:r>
                        <a:rPr sz="1200" b="0">
                          <a:solidFill>
                            <a:srgbClr val="36393B"/>
                          </a:solidFill>
                          <a:latin typeface="+mj-lt"/>
                        </a:rPr>
                        <a:t>RETEST</a:t>
                      </a:r>
                    </a:p>
                  </a:txBody>
                  <a:tcPr marL="54864" marR="54864" marT="27432" marB="27432" anchor="ctr">
                    <a:solidFill>
                      <a:schemeClr val="accent1">
                        <a:lumMod val="75000"/>
                      </a:schemeClr>
                    </a:solidFill>
                  </a:tcPr>
                </a:tc>
                <a:extLst>
                  <a:ext uri="{0D108BD9-81ED-4DB2-BD59-A6C34878D82A}">
                    <a16:rowId xmlns:a16="http://schemas.microsoft.com/office/drawing/2014/main" val="10000"/>
                  </a:ext>
                </a:extLst>
              </a:tr>
              <a:tr h="541020">
                <a:tc>
                  <a:txBody>
                    <a:bodyPr/>
                    <a:lstStyle/>
                    <a:p>
                      <a:pPr algn="l"/>
                      <a:r>
                        <a:rPr sz="1300" b="1">
                          <a:solidFill>
                            <a:srgbClr val="36393B"/>
                          </a:solidFill>
                        </a:rPr>
                        <a:t>Shree Charan</a:t>
                      </a:r>
                    </a:p>
                  </a:txBody>
                  <a:tcPr marL="54864" marR="54864" marT="27432" marB="27432" anchor="ctr"/>
                </a:tc>
                <a:tc>
                  <a:txBody>
                    <a:bodyPr/>
                    <a:lstStyle/>
                    <a:p>
                      <a:pPr algn="ctr"/>
                      <a:r>
                        <a:rPr sz="1300" b="0">
                          <a:solidFill>
                            <a:srgbClr val="36393B"/>
                          </a:solidFill>
                        </a:rPr>
                        <a:t>27</a:t>
                      </a:r>
                    </a:p>
                  </a:txBody>
                  <a:tcPr marL="54864" marR="54864" marT="27432" marB="27432" anchor="ctr"/>
                </a:tc>
                <a:tc>
                  <a:txBody>
                    <a:bodyPr/>
                    <a:lstStyle/>
                    <a:p>
                      <a:pPr algn="ctr"/>
                      <a:r>
                        <a:rPr sz="1300" b="0">
                          <a:solidFill>
                            <a:srgbClr val="36393B"/>
                          </a:solidFill>
                        </a:rPr>
                        <a:t>7 / 7</a:t>
                      </a:r>
                    </a:p>
                  </a:txBody>
                  <a:tcPr marL="54864" marR="54864" marT="27432" marB="27432" anchor="ctr"/>
                </a:tc>
                <a:tc>
                  <a:txBody>
                    <a:bodyPr/>
                    <a:lstStyle/>
                    <a:p>
                      <a:pPr algn="ctr"/>
                      <a:r>
                        <a:rPr sz="1300" b="0">
                          <a:solidFill>
                            <a:srgbClr val="36393B"/>
                          </a:solidFill>
                        </a:rPr>
                        <a:t>2.21</a:t>
                      </a:r>
                    </a:p>
                  </a:txBody>
                  <a:tcPr marL="54864" marR="54864" marT="27432" marB="27432" anchor="ctr"/>
                </a:tc>
                <a:tc>
                  <a:txBody>
                    <a:bodyPr/>
                    <a:lstStyle/>
                    <a:p>
                      <a:pPr algn="ctr"/>
                      <a:r>
                        <a:rPr sz="1300" b="0">
                          <a:solidFill>
                            <a:srgbClr val="36393B"/>
                          </a:solidFill>
                        </a:rPr>
                        <a:t>1.000</a:t>
                      </a:r>
                    </a:p>
                  </a:txBody>
                  <a:tcPr marL="54864" marR="54864" marT="27432" marB="27432" anchor="ctr"/>
                </a:tc>
                <a:tc>
                  <a:txBody>
                    <a:bodyPr/>
                    <a:lstStyle/>
                    <a:p>
                      <a:pPr algn="ctr"/>
                      <a:r>
                        <a:rPr sz="1300" b="0">
                          <a:solidFill>
                            <a:srgbClr val="36393B"/>
                          </a:solidFill>
                        </a:rPr>
                        <a:t>0.57</a:t>
                      </a:r>
                    </a:p>
                  </a:txBody>
                  <a:tcPr marL="54864" marR="54864" marT="27432" marB="27432" anchor="ctr"/>
                </a:tc>
                <a:tc>
                  <a:txBody>
                    <a:bodyPr/>
                    <a:lstStyle/>
                    <a:p>
                      <a:pPr algn="ctr"/>
                      <a:r>
                        <a:rPr sz="1300" b="0">
                          <a:solidFill>
                            <a:srgbClr val="36393B"/>
                          </a:solidFill>
                        </a:rPr>
                        <a:t>0.80</a:t>
                      </a:r>
                    </a:p>
                  </a:txBody>
                  <a:tcPr marL="54864" marR="54864" marT="27432" marB="27432" anchor="ctr"/>
                </a:tc>
                <a:tc>
                  <a:txBody>
                    <a:bodyPr/>
                    <a:lstStyle/>
                    <a:p>
                      <a:pPr algn="ctr"/>
                      <a:r>
                        <a:rPr sz="1300" b="0">
                          <a:solidFill>
                            <a:srgbClr val="36393B"/>
                          </a:solidFill>
                        </a:rPr>
                        <a:t>0.944</a:t>
                      </a:r>
                    </a:p>
                  </a:txBody>
                  <a:tcPr marL="54864" marR="54864" marT="27432" marB="27432" anchor="ctr"/>
                </a:tc>
                <a:tc>
                  <a:txBody>
                    <a:bodyPr/>
                    <a:lstStyle/>
                    <a:p>
                      <a:pPr algn="ctr"/>
                      <a:r>
                        <a:rPr sz="1300" b="0">
                          <a:solidFill>
                            <a:srgbClr val="36393B"/>
                          </a:solidFill>
                        </a:rPr>
                        <a:t>3.00</a:t>
                      </a:r>
                    </a:p>
                  </a:txBody>
                  <a:tcPr marL="54864" marR="54864" marT="27432" marB="27432" anchor="ctr"/>
                </a:tc>
                <a:tc>
                  <a:txBody>
                    <a:bodyPr/>
                    <a:lstStyle/>
                    <a:p>
                      <a:pPr algn="ctr"/>
                      <a:r>
                        <a:rPr sz="1300" b="0">
                          <a:solidFill>
                            <a:srgbClr val="36393B"/>
                          </a:solidFill>
                        </a:rPr>
                        <a:t>1.0</a:t>
                      </a:r>
                    </a:p>
                  </a:txBody>
                  <a:tcPr marL="54864" marR="54864" marT="27432" marB="27432" anchor="ctr"/>
                </a:tc>
                <a:extLst>
                  <a:ext uri="{0D108BD9-81ED-4DB2-BD59-A6C34878D82A}">
                    <a16:rowId xmlns:a16="http://schemas.microsoft.com/office/drawing/2014/main" val="10001"/>
                  </a:ext>
                </a:extLst>
              </a:tr>
              <a:tr h="541020">
                <a:tc>
                  <a:txBody>
                    <a:bodyPr/>
                    <a:lstStyle/>
                    <a:p>
                      <a:pPr algn="l"/>
                      <a:r>
                        <a:rPr sz="1300" b="1">
                          <a:solidFill>
                            <a:srgbClr val="36393B"/>
                          </a:solidFill>
                        </a:rPr>
                        <a:t>Kshitij</a:t>
                      </a:r>
                    </a:p>
                  </a:txBody>
                  <a:tcPr marL="54864" marR="54864" marT="27432" marB="27432" anchor="ctr"/>
                </a:tc>
                <a:tc>
                  <a:txBody>
                    <a:bodyPr/>
                    <a:lstStyle/>
                    <a:p>
                      <a:pPr algn="ctr"/>
                      <a:r>
                        <a:rPr sz="1300" b="0">
                          <a:solidFill>
                            <a:srgbClr val="36393B"/>
                          </a:solidFill>
                        </a:rPr>
                        <a:t>31</a:t>
                      </a:r>
                    </a:p>
                  </a:txBody>
                  <a:tcPr marL="54864" marR="54864" marT="27432" marB="27432" anchor="ctr"/>
                </a:tc>
                <a:tc>
                  <a:txBody>
                    <a:bodyPr/>
                    <a:lstStyle/>
                    <a:p>
                      <a:pPr algn="ctr"/>
                      <a:r>
                        <a:rPr sz="1300" b="0">
                          <a:solidFill>
                            <a:srgbClr val="36393B"/>
                          </a:solidFill>
                        </a:rPr>
                        <a:t>3 / 6</a:t>
                      </a:r>
                    </a:p>
                  </a:txBody>
                  <a:tcPr marL="54864" marR="54864" marT="27432" marB="27432" anchor="ctr"/>
                </a:tc>
                <a:tc>
                  <a:txBody>
                    <a:bodyPr/>
                    <a:lstStyle/>
                    <a:p>
                      <a:pPr algn="ctr"/>
                      <a:r>
                        <a:rPr sz="1300" b="0">
                          <a:solidFill>
                            <a:srgbClr val="36393B"/>
                          </a:solidFill>
                        </a:rPr>
                        <a:t>-0.50</a:t>
                      </a:r>
                    </a:p>
                  </a:txBody>
                  <a:tcPr marL="54864" marR="54864" marT="27432" marB="27432" anchor="ctr"/>
                </a:tc>
                <a:tc>
                  <a:txBody>
                    <a:bodyPr/>
                    <a:lstStyle/>
                    <a:p>
                      <a:pPr algn="ctr"/>
                      <a:r>
                        <a:rPr sz="1300" b="0">
                          <a:solidFill>
                            <a:srgbClr val="36393B"/>
                          </a:solidFill>
                        </a:rPr>
                        <a:t>1.600</a:t>
                      </a:r>
                    </a:p>
                  </a:txBody>
                  <a:tcPr marL="54864" marR="54864" marT="27432" marB="27432" anchor="ctr"/>
                </a:tc>
                <a:tc>
                  <a:txBody>
                    <a:bodyPr/>
                    <a:lstStyle/>
                    <a:p>
                      <a:pPr algn="ctr"/>
                      <a:r>
                        <a:rPr sz="1300" b="0">
                          <a:solidFill>
                            <a:srgbClr val="36393B"/>
                          </a:solidFill>
                        </a:rPr>
                        <a:t>0.40</a:t>
                      </a:r>
                    </a:p>
                  </a:txBody>
                  <a:tcPr marL="54864" marR="54864" marT="27432" marB="27432" anchor="ctr"/>
                </a:tc>
                <a:tc>
                  <a:txBody>
                    <a:bodyPr/>
                    <a:lstStyle/>
                    <a:p>
                      <a:pPr algn="ctr"/>
                      <a:r>
                        <a:rPr sz="1300" b="0">
                          <a:solidFill>
                            <a:srgbClr val="36393B"/>
                          </a:solidFill>
                        </a:rPr>
                        <a:t>0.63</a:t>
                      </a:r>
                    </a:p>
                  </a:txBody>
                  <a:tcPr marL="54864" marR="54864" marT="27432" marB="27432" anchor="ctr"/>
                </a:tc>
                <a:tc>
                  <a:txBody>
                    <a:bodyPr/>
                    <a:lstStyle/>
                    <a:p>
                      <a:pPr algn="ctr"/>
                      <a:r>
                        <a:rPr sz="1300" b="0">
                          <a:solidFill>
                            <a:srgbClr val="36393B"/>
                          </a:solidFill>
                        </a:rPr>
                        <a:t>0.900</a:t>
                      </a:r>
                    </a:p>
                  </a:txBody>
                  <a:tcPr marL="54864" marR="54864" marT="27432" marB="27432" anchor="ctr"/>
                </a:tc>
                <a:tc>
                  <a:txBody>
                    <a:bodyPr/>
                    <a:lstStyle/>
                    <a:p>
                      <a:pPr algn="ctr"/>
                      <a:r>
                        <a:rPr sz="1300" b="0">
                          <a:solidFill>
                            <a:srgbClr val="36393B"/>
                          </a:solidFill>
                        </a:rPr>
                        <a:t>3.00</a:t>
                      </a:r>
                    </a:p>
                  </a:txBody>
                  <a:tcPr marL="54864" marR="54864" marT="27432" marB="27432" anchor="ctr"/>
                </a:tc>
                <a:tc>
                  <a:txBody>
                    <a:bodyPr/>
                    <a:lstStyle/>
                    <a:p>
                      <a:pPr algn="ctr"/>
                      <a:r>
                        <a:rPr sz="1300" b="0">
                          <a:solidFill>
                            <a:srgbClr val="36393B"/>
                          </a:solidFill>
                        </a:rPr>
                        <a:t>1.0</a:t>
                      </a:r>
                    </a:p>
                  </a:txBody>
                  <a:tcPr marL="54864" marR="54864" marT="27432" marB="27432" anchor="ctr"/>
                </a:tc>
                <a:extLst>
                  <a:ext uri="{0D108BD9-81ED-4DB2-BD59-A6C34878D82A}">
                    <a16:rowId xmlns:a16="http://schemas.microsoft.com/office/drawing/2014/main" val="10002"/>
                  </a:ext>
                </a:extLst>
              </a:tr>
              <a:tr h="541020">
                <a:tc>
                  <a:txBody>
                    <a:bodyPr/>
                    <a:lstStyle/>
                    <a:p>
                      <a:pPr algn="l"/>
                      <a:r>
                        <a:rPr sz="1300" b="1">
                          <a:solidFill>
                            <a:srgbClr val="36393B"/>
                          </a:solidFill>
                        </a:rPr>
                        <a:t>Kartika</a:t>
                      </a:r>
                    </a:p>
                  </a:txBody>
                  <a:tcPr marL="54864" marR="54864" marT="27432" marB="27432" anchor="ctr"/>
                </a:tc>
                <a:tc>
                  <a:txBody>
                    <a:bodyPr/>
                    <a:lstStyle/>
                    <a:p>
                      <a:pPr algn="ctr"/>
                      <a:r>
                        <a:rPr sz="1300" b="0">
                          <a:solidFill>
                            <a:srgbClr val="36393B"/>
                          </a:solidFill>
                        </a:rPr>
                        <a:t>31</a:t>
                      </a:r>
                    </a:p>
                  </a:txBody>
                  <a:tcPr marL="54864" marR="54864" marT="27432" marB="27432" anchor="ctr"/>
                </a:tc>
                <a:tc>
                  <a:txBody>
                    <a:bodyPr/>
                    <a:lstStyle/>
                    <a:p>
                      <a:pPr algn="ctr"/>
                      <a:r>
                        <a:rPr sz="1300" b="0">
                          <a:solidFill>
                            <a:srgbClr val="36393B"/>
                          </a:solidFill>
                        </a:rPr>
                        <a:t>4 / 7</a:t>
                      </a:r>
                    </a:p>
                  </a:txBody>
                  <a:tcPr marL="54864" marR="54864" marT="27432" marB="27432" anchor="ctr"/>
                </a:tc>
                <a:tc>
                  <a:txBody>
                    <a:bodyPr/>
                    <a:lstStyle/>
                    <a:p>
                      <a:pPr algn="ctr"/>
                      <a:r>
                        <a:rPr sz="1300" b="0">
                          <a:solidFill>
                            <a:srgbClr val="36393B"/>
                          </a:solidFill>
                        </a:rPr>
                        <a:t>0.20</a:t>
                      </a:r>
                    </a:p>
                  </a:txBody>
                  <a:tcPr marL="54864" marR="54864" marT="27432" marB="27432" anchor="ctr"/>
                </a:tc>
                <a:tc>
                  <a:txBody>
                    <a:bodyPr/>
                    <a:lstStyle/>
                    <a:p>
                      <a:pPr algn="ctr"/>
                      <a:r>
                        <a:rPr sz="1300" b="0">
                          <a:solidFill>
                            <a:srgbClr val="36393B"/>
                          </a:solidFill>
                        </a:rPr>
                        <a:t>1.000</a:t>
                      </a:r>
                    </a:p>
                  </a:txBody>
                  <a:tcPr marL="54864" marR="54864" marT="27432" marB="27432" anchor="ctr"/>
                </a:tc>
                <a:tc>
                  <a:txBody>
                    <a:bodyPr/>
                    <a:lstStyle/>
                    <a:p>
                      <a:pPr algn="ctr"/>
                      <a:r>
                        <a:rPr sz="1300" b="0">
                          <a:solidFill>
                            <a:srgbClr val="36393B"/>
                          </a:solidFill>
                        </a:rPr>
                        <a:t>1.00</a:t>
                      </a:r>
                    </a:p>
                  </a:txBody>
                  <a:tcPr marL="54864" marR="54864" marT="27432" marB="27432" anchor="ctr"/>
                </a:tc>
                <a:tc>
                  <a:txBody>
                    <a:bodyPr/>
                    <a:lstStyle/>
                    <a:p>
                      <a:pPr algn="ctr"/>
                      <a:r>
                        <a:rPr sz="1300" b="0">
                          <a:solidFill>
                            <a:srgbClr val="36393B"/>
                          </a:solidFill>
                        </a:rPr>
                        <a:t>0.90</a:t>
                      </a:r>
                    </a:p>
                  </a:txBody>
                  <a:tcPr marL="54864" marR="54864" marT="27432" marB="27432" anchor="ctr"/>
                </a:tc>
                <a:tc>
                  <a:txBody>
                    <a:bodyPr/>
                    <a:lstStyle/>
                    <a:p>
                      <a:pPr algn="ctr"/>
                      <a:r>
                        <a:rPr sz="1300" b="0">
                          <a:solidFill>
                            <a:srgbClr val="36393B"/>
                          </a:solidFill>
                        </a:rPr>
                        <a:t>0.930</a:t>
                      </a:r>
                    </a:p>
                  </a:txBody>
                  <a:tcPr marL="54864" marR="54864" marT="27432" marB="27432" anchor="ctr"/>
                </a:tc>
                <a:tc>
                  <a:txBody>
                    <a:bodyPr/>
                    <a:lstStyle/>
                    <a:p>
                      <a:pPr algn="ctr"/>
                      <a:r>
                        <a:rPr sz="1300" b="0">
                          <a:solidFill>
                            <a:srgbClr val="36393B"/>
                          </a:solidFill>
                        </a:rPr>
                        <a:t>2.17</a:t>
                      </a:r>
                    </a:p>
                  </a:txBody>
                  <a:tcPr marL="54864" marR="54864" marT="27432" marB="27432" anchor="ctr"/>
                </a:tc>
                <a:tc>
                  <a:txBody>
                    <a:bodyPr/>
                    <a:lstStyle/>
                    <a:p>
                      <a:pPr algn="ctr"/>
                      <a:r>
                        <a:rPr sz="1300" b="0">
                          <a:solidFill>
                            <a:srgbClr val="36393B"/>
                          </a:solidFill>
                        </a:rPr>
                        <a:t>1.0</a:t>
                      </a:r>
                    </a:p>
                  </a:txBody>
                  <a:tcPr marL="54864" marR="54864" marT="27432" marB="27432" anchor="ctr"/>
                </a:tc>
                <a:extLst>
                  <a:ext uri="{0D108BD9-81ED-4DB2-BD59-A6C34878D82A}">
                    <a16:rowId xmlns:a16="http://schemas.microsoft.com/office/drawing/2014/main" val="10003"/>
                  </a:ext>
                </a:extLst>
              </a:tr>
              <a:tr h="541020">
                <a:tc>
                  <a:txBody>
                    <a:bodyPr/>
                    <a:lstStyle/>
                    <a:p>
                      <a:pPr algn="l"/>
                      <a:r>
                        <a:rPr sz="1300" b="1">
                          <a:solidFill>
                            <a:srgbClr val="36393B"/>
                          </a:solidFill>
                        </a:rPr>
                        <a:t>Ayushi</a:t>
                      </a:r>
                    </a:p>
                  </a:txBody>
                  <a:tcPr marL="54864" marR="54864" marT="27432" marB="27432" anchor="ctr"/>
                </a:tc>
                <a:tc>
                  <a:txBody>
                    <a:bodyPr/>
                    <a:lstStyle/>
                    <a:p>
                      <a:pPr algn="ctr"/>
                      <a:r>
                        <a:rPr sz="1300" b="0">
                          <a:solidFill>
                            <a:srgbClr val="36393B"/>
                          </a:solidFill>
                        </a:rPr>
                        <a:t>35</a:t>
                      </a:r>
                    </a:p>
                  </a:txBody>
                  <a:tcPr marL="54864" marR="54864" marT="27432" marB="27432" anchor="ctr"/>
                </a:tc>
                <a:tc>
                  <a:txBody>
                    <a:bodyPr/>
                    <a:lstStyle/>
                    <a:p>
                      <a:pPr algn="ctr"/>
                      <a:r>
                        <a:rPr sz="1300" b="0">
                          <a:solidFill>
                            <a:srgbClr val="36393B"/>
                          </a:solidFill>
                        </a:rPr>
                        <a:t>7 / 7</a:t>
                      </a:r>
                    </a:p>
                  </a:txBody>
                  <a:tcPr marL="54864" marR="54864" marT="27432" marB="27432" anchor="ctr"/>
                </a:tc>
                <a:tc>
                  <a:txBody>
                    <a:bodyPr/>
                    <a:lstStyle/>
                    <a:p>
                      <a:pPr algn="ctr"/>
                      <a:r>
                        <a:rPr sz="1300" b="0">
                          <a:solidFill>
                            <a:srgbClr val="36393B"/>
                          </a:solidFill>
                        </a:rPr>
                        <a:t>2.21</a:t>
                      </a:r>
                    </a:p>
                  </a:txBody>
                  <a:tcPr marL="54864" marR="54864" marT="27432" marB="27432" anchor="ctr"/>
                </a:tc>
                <a:tc>
                  <a:txBody>
                    <a:bodyPr/>
                    <a:lstStyle/>
                    <a:p>
                      <a:pPr algn="ctr"/>
                      <a:r>
                        <a:rPr sz="1300" b="0">
                          <a:solidFill>
                            <a:srgbClr val="36393B"/>
                          </a:solidFill>
                        </a:rPr>
                        <a:t>1.009</a:t>
                      </a:r>
                    </a:p>
                  </a:txBody>
                  <a:tcPr marL="54864" marR="54864" marT="27432" marB="27432" anchor="ctr"/>
                </a:tc>
                <a:tc>
                  <a:txBody>
                    <a:bodyPr/>
                    <a:lstStyle/>
                    <a:p>
                      <a:pPr algn="ctr"/>
                      <a:r>
                        <a:rPr sz="1300" b="0">
                          <a:solidFill>
                            <a:srgbClr val="36393B"/>
                          </a:solidFill>
                        </a:rPr>
                        <a:t>1.09</a:t>
                      </a:r>
                    </a:p>
                  </a:txBody>
                  <a:tcPr marL="54864" marR="54864" marT="27432" marB="27432" anchor="ctr"/>
                </a:tc>
                <a:tc>
                  <a:txBody>
                    <a:bodyPr/>
                    <a:lstStyle/>
                    <a:p>
                      <a:pPr algn="ctr"/>
                      <a:r>
                        <a:rPr sz="1300" b="0">
                          <a:solidFill>
                            <a:srgbClr val="36393B"/>
                          </a:solidFill>
                        </a:rPr>
                        <a:t>0.76</a:t>
                      </a:r>
                    </a:p>
                  </a:txBody>
                  <a:tcPr marL="54864" marR="54864" marT="27432" marB="27432" anchor="ctr"/>
                </a:tc>
                <a:tc>
                  <a:txBody>
                    <a:bodyPr/>
                    <a:lstStyle/>
                    <a:p>
                      <a:pPr algn="ctr"/>
                      <a:r>
                        <a:rPr sz="1300" b="0">
                          <a:solidFill>
                            <a:srgbClr val="36393B"/>
                          </a:solidFill>
                        </a:rPr>
                        <a:t>0.945</a:t>
                      </a:r>
                    </a:p>
                  </a:txBody>
                  <a:tcPr marL="54864" marR="54864" marT="27432" marB="27432" anchor="ctr"/>
                </a:tc>
                <a:tc>
                  <a:txBody>
                    <a:bodyPr/>
                    <a:lstStyle/>
                    <a:p>
                      <a:pPr algn="ctr"/>
                      <a:r>
                        <a:rPr sz="1300" b="0">
                          <a:solidFill>
                            <a:srgbClr val="36393B"/>
                          </a:solidFill>
                        </a:rPr>
                        <a:t>3.00</a:t>
                      </a:r>
                    </a:p>
                  </a:txBody>
                  <a:tcPr marL="54864" marR="54864" marT="27432" marB="27432" anchor="ctr"/>
                </a:tc>
                <a:tc>
                  <a:txBody>
                    <a:bodyPr/>
                    <a:lstStyle/>
                    <a:p>
                      <a:pPr algn="ctr"/>
                      <a:r>
                        <a:rPr sz="1300" b="0">
                          <a:solidFill>
                            <a:srgbClr val="36393B"/>
                          </a:solidFill>
                        </a:rPr>
                        <a:t>0.5</a:t>
                      </a:r>
                    </a:p>
                  </a:txBody>
                  <a:tcPr marL="54864" marR="54864" marT="27432" marB="27432" anchor="ctr"/>
                </a:tc>
                <a:extLst>
                  <a:ext uri="{0D108BD9-81ED-4DB2-BD59-A6C34878D82A}">
                    <a16:rowId xmlns:a16="http://schemas.microsoft.com/office/drawing/2014/main" val="10004"/>
                  </a:ext>
                </a:extLst>
              </a:tr>
              <a:tr h="541020">
                <a:tc>
                  <a:txBody>
                    <a:bodyPr/>
                    <a:lstStyle/>
                    <a:p>
                      <a:pPr algn="l"/>
                      <a:r>
                        <a:rPr sz="1300" b="1">
                          <a:solidFill>
                            <a:srgbClr val="36393B"/>
                          </a:solidFill>
                        </a:rPr>
                        <a:t>Adwaaiit Pande</a:t>
                      </a:r>
                    </a:p>
                  </a:txBody>
                  <a:tcPr marL="54864" marR="54864" marT="27432" marB="27432" anchor="ctr"/>
                </a:tc>
                <a:tc>
                  <a:txBody>
                    <a:bodyPr/>
                    <a:lstStyle/>
                    <a:p>
                      <a:pPr algn="ctr"/>
                      <a:r>
                        <a:rPr sz="1300" b="0">
                          <a:solidFill>
                            <a:srgbClr val="36393B"/>
                          </a:solidFill>
                        </a:rPr>
                        <a:t>40</a:t>
                      </a:r>
                    </a:p>
                  </a:txBody>
                  <a:tcPr marL="54864" marR="54864" marT="27432" marB="27432" anchor="ctr"/>
                </a:tc>
                <a:tc>
                  <a:txBody>
                    <a:bodyPr/>
                    <a:lstStyle/>
                    <a:p>
                      <a:pPr algn="ctr"/>
                      <a:r>
                        <a:rPr sz="1300" b="0">
                          <a:solidFill>
                            <a:srgbClr val="36393B"/>
                          </a:solidFill>
                        </a:rPr>
                        <a:t>10 / 4</a:t>
                      </a:r>
                    </a:p>
                  </a:txBody>
                  <a:tcPr marL="54864" marR="54864" marT="27432" marB="27432" anchor="ctr"/>
                </a:tc>
                <a:tc>
                  <a:txBody>
                    <a:bodyPr/>
                    <a:lstStyle/>
                    <a:p>
                      <a:pPr algn="ctr"/>
                      <a:r>
                        <a:rPr sz="1300" b="0">
                          <a:solidFill>
                            <a:srgbClr val="36393B"/>
                          </a:solidFill>
                        </a:rPr>
                        <a:t>2.19</a:t>
                      </a:r>
                    </a:p>
                  </a:txBody>
                  <a:tcPr marL="54864" marR="54864" marT="27432" marB="27432" anchor="ctr"/>
                </a:tc>
                <a:tc>
                  <a:txBody>
                    <a:bodyPr/>
                    <a:lstStyle/>
                    <a:p>
                      <a:pPr algn="ctr"/>
                      <a:r>
                        <a:rPr sz="1300" b="0">
                          <a:solidFill>
                            <a:srgbClr val="36393B"/>
                          </a:solidFill>
                        </a:rPr>
                        <a:t>1.015</a:t>
                      </a:r>
                    </a:p>
                  </a:txBody>
                  <a:tcPr marL="54864" marR="54864" marT="27432" marB="27432" anchor="ctr"/>
                </a:tc>
                <a:tc>
                  <a:txBody>
                    <a:bodyPr/>
                    <a:lstStyle/>
                    <a:p>
                      <a:pPr algn="ctr"/>
                      <a:r>
                        <a:rPr sz="1300" b="0">
                          <a:solidFill>
                            <a:srgbClr val="36393B"/>
                          </a:solidFill>
                        </a:rPr>
                        <a:t>1.25</a:t>
                      </a:r>
                    </a:p>
                  </a:txBody>
                  <a:tcPr marL="54864" marR="54864" marT="27432" marB="27432" anchor="ctr"/>
                </a:tc>
                <a:tc>
                  <a:txBody>
                    <a:bodyPr/>
                    <a:lstStyle/>
                    <a:p>
                      <a:pPr algn="ctr"/>
                      <a:r>
                        <a:rPr sz="1300" b="0">
                          <a:solidFill>
                            <a:srgbClr val="36393B"/>
                          </a:solidFill>
                        </a:rPr>
                        <a:t>0.94</a:t>
                      </a:r>
                    </a:p>
                  </a:txBody>
                  <a:tcPr marL="54864" marR="54864" marT="27432" marB="27432" anchor="ctr"/>
                </a:tc>
                <a:tc>
                  <a:txBody>
                    <a:bodyPr/>
                    <a:lstStyle/>
                    <a:p>
                      <a:pPr algn="ctr"/>
                      <a:r>
                        <a:rPr sz="1300" b="0">
                          <a:solidFill>
                            <a:srgbClr val="36393B"/>
                          </a:solidFill>
                        </a:rPr>
                        <a:t>0.976</a:t>
                      </a:r>
                    </a:p>
                  </a:txBody>
                  <a:tcPr marL="54864" marR="54864" marT="27432" marB="27432" anchor="ctr"/>
                </a:tc>
                <a:tc>
                  <a:txBody>
                    <a:bodyPr/>
                    <a:lstStyle/>
                    <a:p>
                      <a:pPr algn="ctr"/>
                      <a:r>
                        <a:rPr sz="1300" b="0">
                          <a:solidFill>
                            <a:srgbClr val="36393B"/>
                          </a:solidFill>
                        </a:rPr>
                        <a:t>2.75</a:t>
                      </a:r>
                    </a:p>
                  </a:txBody>
                  <a:tcPr marL="54864" marR="54864" marT="27432" marB="27432" anchor="ctr"/>
                </a:tc>
                <a:tc>
                  <a:txBody>
                    <a:bodyPr/>
                    <a:lstStyle/>
                    <a:p>
                      <a:pPr algn="ctr"/>
                      <a:r>
                        <a:rPr sz="1300" b="0">
                          <a:solidFill>
                            <a:srgbClr val="36393B"/>
                          </a:solidFill>
                        </a:rPr>
                        <a:t>1.0</a:t>
                      </a:r>
                    </a:p>
                  </a:txBody>
                  <a:tcPr marL="54864" marR="54864" marT="27432" marB="27432" anchor="ctr"/>
                </a:tc>
                <a:extLst>
                  <a:ext uri="{0D108BD9-81ED-4DB2-BD59-A6C34878D82A}">
                    <a16:rowId xmlns:a16="http://schemas.microsoft.com/office/drawing/2014/main" val="10005"/>
                  </a:ext>
                </a:extLst>
              </a:tr>
            </a:tbl>
          </a:graphicData>
        </a:graphic>
      </p:graphicFrame>
      <p:sp>
        <p:nvSpPr>
          <p:cNvPr id="10" name="TextBox 9"/>
          <p:cNvSpPr txBox="1"/>
          <p:nvPr/>
        </p:nvSpPr>
        <p:spPr>
          <a:xfrm>
            <a:off x="850392" y="4983480"/>
            <a:ext cx="10424160" cy="1371600"/>
          </a:xfrm>
          <a:prstGeom prst="rect">
            <a:avLst/>
          </a:prstGeom>
          <a:noFill/>
        </p:spPr>
        <p:txBody>
          <a:bodyPr wrap="square" lIns="36576" tIns="18288" rIns="36576" bIns="18288" anchor="t">
            <a:spAutoFit/>
          </a:bodyPr>
          <a:lstStyle/>
          <a:p>
            <a:pPr algn="l">
              <a:spcAft>
                <a:spcPts val="400"/>
              </a:spcAft>
            </a:pPr>
            <a:r>
              <a:rPr sz="1300" b="1">
                <a:solidFill>
                  <a:srgbClr val="36393B"/>
                </a:solidFill>
              </a:rPr>
              <a:t>Flags we report, not hide:  </a:t>
            </a:r>
            <a:r>
              <a:rPr sz="1300" b="0">
                <a:solidFill>
                  <a:srgbClr val="36393B"/>
                </a:solidFill>
              </a:rPr>
              <a:t>Shree Charan's BFI-2 is exactly 3.00 on all five domains (likely straight-lining) · Ayushi's retest consistency is 0.5 · Adwaaiit self-rates risk 10/10 with the top Grable-Lytton score (40), yet his choices give γ ≈ 2.2</a:t>
            </a:r>
          </a:p>
          <a:p>
            <a:pPr algn="l">
              <a:spcAft>
                <a:spcPts val="400"/>
              </a:spcAft>
            </a:pPr>
            <a:r>
              <a:rPr sz="1100" b="0">
                <a:solidFill>
                  <a:srgbClr val="5F6266"/>
                </a:solidFill>
              </a:rPr>
              <a:t>γ, λ pooled by Empirical Bayes; α, β, δ posterior means.  Kshitij's γ = −0.50 is floored to 0.05 for portfolio maths.</a:t>
            </a:r>
          </a:p>
        </p:txBody>
      </p:sp>
      <p:sp>
        <p:nvSpPr>
          <p:cNvPr id="11"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Tree>
    <p:extLst>
      <p:ext uri="{BB962C8B-B14F-4D97-AF65-F5344CB8AC3E}">
        <p14:creationId xmlns:p14="http://schemas.microsoft.com/office/powerpoint/2010/main" val="226339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a:t>EUT: one portfolio for all</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9</a:t>
            </a:fld>
            <a:endParaRPr lang="en-US" dirty="0"/>
          </a:p>
        </p:txBody>
      </p:sp>
      <p:graphicFrame>
        <p:nvGraphicFramePr>
          <p:cNvPr id="9" name="Chart 8"/>
          <p:cNvGraphicFramePr>
            <a:graphicFrameLocks noGrp="1"/>
          </p:cNvGraphicFramePr>
          <p:nvPr/>
        </p:nvGraphicFramePr>
        <p:xfrm>
          <a:off x="777240" y="1691640"/>
          <a:ext cx="6309360" cy="4160520"/>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Connector 9"/>
          <p:cNvCxnSpPr/>
          <p:nvPr/>
        </p:nvCxnSpPr>
        <p:spPr>
          <a:xfrm>
            <a:off x="850392" y="1463039"/>
            <a:ext cx="320040" cy="0"/>
          </a:xfrm>
          <a:prstGeom prst="line">
            <a:avLst/>
          </a:prstGeom>
          <a:ln w="38100">
            <a:solidFill>
              <a:srgbClr val="4D62E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34440" y="1325880"/>
            <a:ext cx="886968" cy="274320"/>
          </a:xfrm>
          <a:prstGeom prst="rect">
            <a:avLst/>
          </a:prstGeom>
          <a:noFill/>
        </p:spPr>
        <p:txBody>
          <a:bodyPr wrap="none" lIns="36576" tIns="18288" rIns="36576" bIns="18288" anchor="t">
            <a:spAutoFit/>
          </a:bodyPr>
          <a:lstStyle/>
          <a:p>
            <a:pPr algn="l">
              <a:spcAft>
                <a:spcPts val="400"/>
              </a:spcAft>
            </a:pPr>
            <a:r>
              <a:rPr sz="1050" b="0">
                <a:solidFill>
                  <a:srgbClr val="36393B"/>
                </a:solidFill>
              </a:rPr>
              <a:t>Shree Charan</a:t>
            </a:r>
          </a:p>
        </p:txBody>
      </p:sp>
      <p:cxnSp>
        <p:nvCxnSpPr>
          <p:cNvPr id="12" name="Connector 11"/>
          <p:cNvCxnSpPr/>
          <p:nvPr/>
        </p:nvCxnSpPr>
        <p:spPr>
          <a:xfrm>
            <a:off x="2148840" y="1463039"/>
            <a:ext cx="320040" cy="0"/>
          </a:xfrm>
          <a:prstGeom prst="line">
            <a:avLst/>
          </a:prstGeom>
          <a:ln w="38100">
            <a:solidFill>
              <a:srgbClr val="FD4C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32888" y="1325880"/>
            <a:ext cx="886968" cy="274320"/>
          </a:xfrm>
          <a:prstGeom prst="rect">
            <a:avLst/>
          </a:prstGeom>
          <a:noFill/>
        </p:spPr>
        <p:txBody>
          <a:bodyPr wrap="none" lIns="36576" tIns="18288" rIns="36576" bIns="18288" anchor="t">
            <a:spAutoFit/>
          </a:bodyPr>
          <a:lstStyle/>
          <a:p>
            <a:pPr algn="l">
              <a:spcAft>
                <a:spcPts val="400"/>
              </a:spcAft>
            </a:pPr>
            <a:r>
              <a:rPr sz="1050" b="0">
                <a:solidFill>
                  <a:srgbClr val="36393B"/>
                </a:solidFill>
              </a:rPr>
              <a:t>Kshitij</a:t>
            </a:r>
          </a:p>
        </p:txBody>
      </p:sp>
      <p:cxnSp>
        <p:nvCxnSpPr>
          <p:cNvPr id="14" name="Connector 13"/>
          <p:cNvCxnSpPr/>
          <p:nvPr/>
        </p:nvCxnSpPr>
        <p:spPr>
          <a:xfrm>
            <a:off x="3447288" y="1463039"/>
            <a:ext cx="320040" cy="0"/>
          </a:xfrm>
          <a:prstGeom prst="line">
            <a:avLst/>
          </a:prstGeom>
          <a:ln w="38100">
            <a:solidFill>
              <a:srgbClr val="12A38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831336" y="1325880"/>
            <a:ext cx="886968" cy="274320"/>
          </a:xfrm>
          <a:prstGeom prst="rect">
            <a:avLst/>
          </a:prstGeom>
          <a:noFill/>
        </p:spPr>
        <p:txBody>
          <a:bodyPr wrap="none" lIns="36576" tIns="18288" rIns="36576" bIns="18288" anchor="t">
            <a:spAutoFit/>
          </a:bodyPr>
          <a:lstStyle/>
          <a:p>
            <a:pPr algn="l">
              <a:spcAft>
                <a:spcPts val="400"/>
              </a:spcAft>
            </a:pPr>
            <a:r>
              <a:rPr sz="1050" b="0">
                <a:solidFill>
                  <a:srgbClr val="36393B"/>
                </a:solidFill>
              </a:rPr>
              <a:t>Kartika</a:t>
            </a:r>
          </a:p>
        </p:txBody>
      </p:sp>
      <p:cxnSp>
        <p:nvCxnSpPr>
          <p:cNvPr id="16" name="Connector 15"/>
          <p:cNvCxnSpPr/>
          <p:nvPr/>
        </p:nvCxnSpPr>
        <p:spPr>
          <a:xfrm>
            <a:off x="4745736" y="1463039"/>
            <a:ext cx="320039" cy="0"/>
          </a:xfrm>
          <a:prstGeom prst="line">
            <a:avLst/>
          </a:prstGeom>
          <a:ln w="38100">
            <a:solidFill>
              <a:srgbClr val="CA54F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129783" y="1325880"/>
            <a:ext cx="886968" cy="274320"/>
          </a:xfrm>
          <a:prstGeom prst="rect">
            <a:avLst/>
          </a:prstGeom>
          <a:noFill/>
        </p:spPr>
        <p:txBody>
          <a:bodyPr wrap="none" lIns="36576" tIns="18288" rIns="36576" bIns="18288" anchor="t">
            <a:spAutoFit/>
          </a:bodyPr>
          <a:lstStyle/>
          <a:p>
            <a:pPr algn="l">
              <a:spcAft>
                <a:spcPts val="400"/>
              </a:spcAft>
            </a:pPr>
            <a:r>
              <a:rPr sz="1050" b="0">
                <a:solidFill>
                  <a:srgbClr val="36393B"/>
                </a:solidFill>
              </a:rPr>
              <a:t>Ayushi</a:t>
            </a:r>
          </a:p>
        </p:txBody>
      </p:sp>
      <p:cxnSp>
        <p:nvCxnSpPr>
          <p:cNvPr id="18" name="Connector 17"/>
          <p:cNvCxnSpPr/>
          <p:nvPr/>
        </p:nvCxnSpPr>
        <p:spPr>
          <a:xfrm>
            <a:off x="6044183" y="1463039"/>
            <a:ext cx="320040" cy="0"/>
          </a:xfrm>
          <a:prstGeom prst="line">
            <a:avLst/>
          </a:prstGeom>
          <a:ln w="38100">
            <a:solidFill>
              <a:srgbClr val="D69E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28231" y="1325880"/>
            <a:ext cx="886968" cy="274320"/>
          </a:xfrm>
          <a:prstGeom prst="rect">
            <a:avLst/>
          </a:prstGeom>
          <a:noFill/>
        </p:spPr>
        <p:txBody>
          <a:bodyPr wrap="none" lIns="36576" tIns="18288" rIns="36576" bIns="18288" anchor="t">
            <a:spAutoFit/>
          </a:bodyPr>
          <a:lstStyle/>
          <a:p>
            <a:pPr algn="l">
              <a:spcAft>
                <a:spcPts val="400"/>
              </a:spcAft>
            </a:pPr>
            <a:r>
              <a:rPr sz="1050" b="0">
                <a:solidFill>
                  <a:srgbClr val="36393B"/>
                </a:solidFill>
              </a:rPr>
              <a:t>Adwaaiit</a:t>
            </a:r>
          </a:p>
        </p:txBody>
      </p:sp>
      <p:sp>
        <p:nvSpPr>
          <p:cNvPr id="20" name="TextBox 19"/>
          <p:cNvSpPr txBox="1"/>
          <p:nvPr/>
        </p:nvSpPr>
        <p:spPr>
          <a:xfrm>
            <a:off x="850392" y="5852160"/>
            <a:ext cx="6217920" cy="457200"/>
          </a:xfrm>
          <a:prstGeom prst="rect">
            <a:avLst/>
          </a:prstGeom>
          <a:noFill/>
        </p:spPr>
        <p:txBody>
          <a:bodyPr wrap="square" lIns="36576" tIns="18288" rIns="36576" bIns="18288" anchor="t">
            <a:spAutoFit/>
          </a:bodyPr>
          <a:lstStyle/>
          <a:p>
            <a:pPr algn="l">
              <a:spcAft>
                <a:spcPts val="400"/>
              </a:spcAft>
            </a:pPr>
            <a:r>
              <a:rPr sz="1100" b="0">
                <a:solidFill>
                  <a:srgbClr val="5F6266"/>
                </a:solidFill>
              </a:rPr>
              <a:t>Solid: long-only risky share · dashed: unclipped 2.5/γ · dots: our five (Kshitij at floored γ = 0.05; three overlap at γ ≈ 2.2)</a:t>
            </a:r>
          </a:p>
        </p:txBody>
      </p:sp>
      <p:sp>
        <p:nvSpPr>
          <p:cNvPr id="21" name="TextBox 20"/>
          <p:cNvSpPr txBox="1"/>
          <p:nvPr/>
        </p:nvSpPr>
        <p:spPr>
          <a:xfrm>
            <a:off x="7360920" y="1508760"/>
            <a:ext cx="3931920" cy="685800"/>
          </a:xfrm>
          <a:prstGeom prst="rect">
            <a:avLst/>
          </a:prstGeom>
          <a:noFill/>
        </p:spPr>
        <p:txBody>
          <a:bodyPr wrap="square" lIns="36576" tIns="18288" rIns="36576" bIns="18288" anchor="t">
            <a:spAutoFit/>
          </a:bodyPr>
          <a:lstStyle/>
          <a:p>
            <a:pPr algn="l">
              <a:spcAft>
                <a:spcPts val="400"/>
              </a:spcAft>
            </a:pPr>
            <a:r>
              <a:rPr sz="3400" b="0">
                <a:solidFill>
                  <a:srgbClr val="0E8C74"/>
                </a:solidFill>
                <a:latin typeface="+mj-lt"/>
              </a:rPr>
              <a:t>100%</a:t>
            </a:r>
          </a:p>
        </p:txBody>
      </p:sp>
      <p:sp>
        <p:nvSpPr>
          <p:cNvPr id="22" name="TextBox 21"/>
          <p:cNvSpPr txBox="1"/>
          <p:nvPr/>
        </p:nvSpPr>
        <p:spPr>
          <a:xfrm>
            <a:off x="7360920" y="2167128"/>
            <a:ext cx="3931920" cy="685800"/>
          </a:xfrm>
          <a:prstGeom prst="rect">
            <a:avLst/>
          </a:prstGeom>
          <a:noFill/>
        </p:spPr>
        <p:txBody>
          <a:bodyPr wrap="square" lIns="36576" tIns="18288" rIns="36576" bIns="18288" anchor="t">
            <a:spAutoFit/>
          </a:bodyPr>
          <a:lstStyle/>
          <a:p>
            <a:pPr algn="l">
              <a:spcAft>
                <a:spcPts val="400"/>
              </a:spcAft>
            </a:pPr>
            <a:r>
              <a:rPr sz="1300" b="0">
                <a:solidFill>
                  <a:srgbClr val="36393B"/>
                </a:solidFill>
              </a:rPr>
              <a:t>in equities for all five: the long-only cap binds for everyone</a:t>
            </a:r>
          </a:p>
        </p:txBody>
      </p:sp>
      <p:sp>
        <p:nvSpPr>
          <p:cNvPr id="23" name="TextBox 22"/>
          <p:cNvSpPr txBox="1"/>
          <p:nvPr/>
        </p:nvSpPr>
        <p:spPr>
          <a:xfrm>
            <a:off x="7360920" y="2880360"/>
            <a:ext cx="4295052" cy="560153"/>
          </a:xfrm>
          <a:prstGeom prst="rect">
            <a:avLst/>
          </a:prstGeom>
          <a:noFill/>
        </p:spPr>
        <p:txBody>
          <a:bodyPr wrap="square" lIns="36576" tIns="18288" rIns="36576" bIns="18288" anchor="t">
            <a:spAutoFit/>
          </a:bodyPr>
          <a:lstStyle/>
          <a:p>
            <a:pPr algn="l">
              <a:spcAft>
                <a:spcPts val="400"/>
              </a:spcAft>
            </a:pPr>
            <a:r>
              <a:rPr sz="3400" b="0" dirty="0">
                <a:solidFill>
                  <a:srgbClr val="0E8C74"/>
                </a:solidFill>
                <a:latin typeface="+mj-lt"/>
              </a:rPr>
              <a:t>13.21% / 16.08%</a:t>
            </a:r>
          </a:p>
        </p:txBody>
      </p:sp>
      <p:sp>
        <p:nvSpPr>
          <p:cNvPr id="24" name="TextBox 23"/>
          <p:cNvSpPr txBox="1"/>
          <p:nvPr/>
        </p:nvSpPr>
        <p:spPr>
          <a:xfrm>
            <a:off x="7360920" y="3538728"/>
            <a:ext cx="3931920" cy="685800"/>
          </a:xfrm>
          <a:prstGeom prst="rect">
            <a:avLst/>
          </a:prstGeom>
          <a:noFill/>
        </p:spPr>
        <p:txBody>
          <a:bodyPr wrap="square" lIns="36576" tIns="18288" rIns="36576" bIns="18288" anchor="t">
            <a:spAutoFit/>
          </a:bodyPr>
          <a:lstStyle/>
          <a:p>
            <a:pPr algn="l">
              <a:spcAft>
                <a:spcPts val="400"/>
              </a:spcAft>
            </a:pPr>
            <a:r>
              <a:rPr sz="1300" b="0">
                <a:solidFill>
                  <a:srgbClr val="36393B"/>
                </a:solidFill>
              </a:rPr>
              <a:t>same expected return and volatility for all (two-fund separation)</a:t>
            </a:r>
          </a:p>
        </p:txBody>
      </p:sp>
      <p:sp>
        <p:nvSpPr>
          <p:cNvPr id="25" name="TextBox 24"/>
          <p:cNvSpPr txBox="1"/>
          <p:nvPr/>
        </p:nvSpPr>
        <p:spPr>
          <a:xfrm>
            <a:off x="7360920" y="4251960"/>
            <a:ext cx="3931920" cy="685800"/>
          </a:xfrm>
          <a:prstGeom prst="rect">
            <a:avLst/>
          </a:prstGeom>
          <a:noFill/>
        </p:spPr>
        <p:txBody>
          <a:bodyPr wrap="square" lIns="36576" tIns="18288" rIns="36576" bIns="18288" anchor="t">
            <a:spAutoFit/>
          </a:bodyPr>
          <a:lstStyle/>
          <a:p>
            <a:pPr algn="l">
              <a:spcAft>
                <a:spcPts val="400"/>
              </a:spcAft>
            </a:pPr>
            <a:r>
              <a:rPr sz="3400" b="0">
                <a:solidFill>
                  <a:srgbClr val="0E8C74"/>
                </a:solidFill>
                <a:latin typeface="+mj-lt"/>
              </a:rPr>
              <a:t>γ &gt; 2.5</a:t>
            </a:r>
          </a:p>
        </p:txBody>
      </p:sp>
      <p:sp>
        <p:nvSpPr>
          <p:cNvPr id="26" name="TextBox 25"/>
          <p:cNvSpPr txBox="1"/>
          <p:nvPr/>
        </p:nvSpPr>
        <p:spPr>
          <a:xfrm>
            <a:off x="7360920" y="4910328"/>
            <a:ext cx="3931920" cy="685800"/>
          </a:xfrm>
          <a:prstGeom prst="rect">
            <a:avLst/>
          </a:prstGeom>
          <a:noFill/>
        </p:spPr>
        <p:txBody>
          <a:bodyPr wrap="square" lIns="36576" tIns="18288" rIns="36576" bIns="18288" anchor="t">
            <a:spAutoFit/>
          </a:bodyPr>
          <a:lstStyle/>
          <a:p>
            <a:pPr algn="l">
              <a:spcAft>
                <a:spcPts val="400"/>
              </a:spcAft>
            </a:pPr>
            <a:r>
              <a:rPr sz="1300" b="0">
                <a:solidFill>
                  <a:srgbClr val="36393B"/>
                </a:solidFill>
              </a:rPr>
              <a:t>needed before EUT holds any cash; our highest pooled γ is 2.21</a:t>
            </a:r>
          </a:p>
        </p:txBody>
      </p:sp>
      <p:sp>
        <p:nvSpPr>
          <p:cNvPr id="27" name="TextBox 26"/>
          <p:cNvSpPr txBox="1"/>
          <p:nvPr/>
        </p:nvSpPr>
        <p:spPr>
          <a:xfrm>
            <a:off x="7360920" y="5623560"/>
            <a:ext cx="3931920" cy="731520"/>
          </a:xfrm>
          <a:prstGeom prst="rect">
            <a:avLst/>
          </a:prstGeom>
          <a:noFill/>
        </p:spPr>
        <p:txBody>
          <a:bodyPr wrap="square" lIns="36576" tIns="18288" rIns="36576" bIns="18288" anchor="t">
            <a:spAutoFit/>
          </a:bodyPr>
          <a:lstStyle/>
          <a:p>
            <a:pPr algn="l">
              <a:spcAft>
                <a:spcPts val="400"/>
              </a:spcAft>
            </a:pPr>
            <a:r>
              <a:rPr sz="1100" b="0">
                <a:solidFill>
                  <a:srgbClr val="5F6266"/>
                </a:solidFill>
              </a:rPr>
              <a:t>Caveat: the engine identifies γ only as ≥ ~1; at γ = 3.0 the share would be 83%.</a:t>
            </a:r>
          </a:p>
        </p:txBody>
      </p:sp>
      <p:sp>
        <p:nvSpPr>
          <p:cNvPr id="28"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Tree>
    <p:extLst>
      <p:ext uri="{BB962C8B-B14F-4D97-AF65-F5344CB8AC3E}">
        <p14:creationId xmlns:p14="http://schemas.microsoft.com/office/powerpoint/2010/main" val="226339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a:t>SP/A-BPT: λ sets the mix</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10</a:t>
            </a:fld>
            <a:endParaRPr lang="en-US" dirty="0"/>
          </a:p>
        </p:txBody>
      </p:sp>
      <p:graphicFrame>
        <p:nvGraphicFramePr>
          <p:cNvPr id="9" name="Chart 8"/>
          <p:cNvGraphicFramePr>
            <a:graphicFrameLocks noGrp="1"/>
          </p:cNvGraphicFramePr>
          <p:nvPr/>
        </p:nvGraphicFramePr>
        <p:xfrm>
          <a:off x="777240" y="1463040"/>
          <a:ext cx="5394960" cy="4206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9"/>
          <p:cNvGraphicFramePr>
            <a:graphicFrameLocks noGrp="1"/>
          </p:cNvGraphicFramePr>
          <p:nvPr/>
        </p:nvGraphicFramePr>
        <p:xfrm>
          <a:off x="6400800" y="1600200"/>
          <a:ext cx="4846320" cy="2926080"/>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487680">
                <a:tc>
                  <a:txBody>
                    <a:bodyPr/>
                    <a:lstStyle/>
                    <a:p>
                      <a:pPr algn="l"/>
                      <a:r>
                        <a:rPr sz="1100" b="0">
                          <a:solidFill>
                            <a:srgbClr val="36393B"/>
                          </a:solidFill>
                          <a:latin typeface="+mj-lt"/>
                        </a:rPr>
                        <a:t>RESPONDENT</a:t>
                      </a:r>
                    </a:p>
                  </a:txBody>
                  <a:tcPr marL="54864" marR="54864" marT="27432" marB="27432" anchor="ctr">
                    <a:solidFill>
                      <a:schemeClr val="accent1">
                        <a:lumMod val="75000"/>
                      </a:schemeClr>
                    </a:solidFill>
                  </a:tcPr>
                </a:tc>
                <a:tc>
                  <a:txBody>
                    <a:bodyPr/>
                    <a:lstStyle/>
                    <a:p>
                      <a:pPr algn="ctr"/>
                      <a:r>
                        <a:rPr sz="1100" b="0">
                          <a:solidFill>
                            <a:srgbClr val="36393B"/>
                          </a:solidFill>
                          <a:latin typeface="+mj-lt"/>
                        </a:rPr>
                        <a:t>λ</a:t>
                      </a:r>
                    </a:p>
                  </a:txBody>
                  <a:tcPr marL="54864" marR="54864" marT="27432" marB="27432" anchor="ctr">
                    <a:solidFill>
                      <a:schemeClr val="accent1">
                        <a:lumMod val="75000"/>
                      </a:schemeClr>
                    </a:solidFill>
                  </a:tcPr>
                </a:tc>
                <a:tc>
                  <a:txBody>
                    <a:bodyPr/>
                    <a:lstStyle/>
                    <a:p>
                      <a:pPr algn="ctr"/>
                      <a:r>
                        <a:rPr sz="1100" b="0">
                          <a:solidFill>
                            <a:srgbClr val="36393B"/>
                          </a:solidFill>
                          <a:latin typeface="+mj-lt"/>
                        </a:rPr>
                        <a:t>SAFETY</a:t>
                      </a:r>
                    </a:p>
                  </a:txBody>
                  <a:tcPr marL="54864" marR="54864" marT="27432" marB="27432" anchor="ctr">
                    <a:solidFill>
                      <a:schemeClr val="accent1">
                        <a:lumMod val="75000"/>
                      </a:schemeClr>
                    </a:solidFill>
                  </a:tcPr>
                </a:tc>
                <a:tc>
                  <a:txBody>
                    <a:bodyPr/>
                    <a:lstStyle/>
                    <a:p>
                      <a:pPr algn="ctr"/>
                      <a:r>
                        <a:rPr sz="1100" b="0">
                          <a:solidFill>
                            <a:srgbClr val="36393B"/>
                          </a:solidFill>
                          <a:latin typeface="+mj-lt"/>
                        </a:rPr>
                        <a:t>RETURN</a:t>
                      </a:r>
                    </a:p>
                  </a:txBody>
                  <a:tcPr marL="54864" marR="54864" marT="27432" marB="27432" anchor="ctr">
                    <a:solidFill>
                      <a:schemeClr val="accent1">
                        <a:lumMod val="75000"/>
                      </a:schemeClr>
                    </a:solidFill>
                  </a:tcPr>
                </a:tc>
                <a:tc>
                  <a:txBody>
                    <a:bodyPr/>
                    <a:lstStyle/>
                    <a:p>
                      <a:pPr algn="ctr"/>
                      <a:r>
                        <a:rPr sz="1100" b="0">
                          <a:solidFill>
                            <a:srgbClr val="36393B"/>
                          </a:solidFill>
                          <a:latin typeface="+mj-lt"/>
                        </a:rPr>
                        <a:t>VOL.</a:t>
                      </a:r>
                    </a:p>
                  </a:txBody>
                  <a:tcPr marL="54864" marR="54864" marT="27432" marB="27432" anchor="ctr">
                    <a:solidFill>
                      <a:schemeClr val="accent1">
                        <a:lumMod val="75000"/>
                      </a:schemeClr>
                    </a:solidFill>
                  </a:tcPr>
                </a:tc>
                <a:extLst>
                  <a:ext uri="{0D108BD9-81ED-4DB2-BD59-A6C34878D82A}">
                    <a16:rowId xmlns:a16="http://schemas.microsoft.com/office/drawing/2014/main" val="10000"/>
                  </a:ext>
                </a:extLst>
              </a:tr>
              <a:tr h="487680">
                <a:tc>
                  <a:txBody>
                    <a:bodyPr/>
                    <a:lstStyle/>
                    <a:p>
                      <a:pPr algn="l"/>
                      <a:r>
                        <a:rPr sz="1200" b="1">
                          <a:solidFill>
                            <a:srgbClr val="36393B"/>
                          </a:solidFill>
                        </a:rPr>
                        <a:t>Shree Charan</a:t>
                      </a:r>
                    </a:p>
                  </a:txBody>
                  <a:tcPr marL="54864" marR="54864" marT="27432" marB="27432" anchor="ctr"/>
                </a:tc>
                <a:tc>
                  <a:txBody>
                    <a:bodyPr/>
                    <a:lstStyle/>
                    <a:p>
                      <a:pPr algn="ctr"/>
                      <a:r>
                        <a:rPr sz="1200" b="0">
                          <a:solidFill>
                            <a:srgbClr val="36393B"/>
                          </a:solidFill>
                        </a:rPr>
                        <a:t>1.000</a:t>
                      </a:r>
                    </a:p>
                  </a:txBody>
                  <a:tcPr marL="54864" marR="54864" marT="27432" marB="27432" anchor="ctr"/>
                </a:tc>
                <a:tc>
                  <a:txBody>
                    <a:bodyPr/>
                    <a:lstStyle/>
                    <a:p>
                      <a:pPr algn="ctr"/>
                      <a:r>
                        <a:rPr sz="1200" b="0">
                          <a:solidFill>
                            <a:srgbClr val="36393B"/>
                          </a:solidFill>
                        </a:rPr>
                        <a:t>30.0%</a:t>
                      </a:r>
                    </a:p>
                  </a:txBody>
                  <a:tcPr marL="54864" marR="54864" marT="27432" marB="27432" anchor="ctr"/>
                </a:tc>
                <a:tc>
                  <a:txBody>
                    <a:bodyPr/>
                    <a:lstStyle/>
                    <a:p>
                      <a:pPr algn="ctr"/>
                      <a:r>
                        <a:rPr sz="1200" b="0">
                          <a:solidFill>
                            <a:srgbClr val="36393B"/>
                          </a:solidFill>
                        </a:rPr>
                        <a:t>16.19%</a:t>
                      </a:r>
                    </a:p>
                  </a:txBody>
                  <a:tcPr marL="54864" marR="54864" marT="27432" marB="27432" anchor="ctr"/>
                </a:tc>
                <a:tc>
                  <a:txBody>
                    <a:bodyPr/>
                    <a:lstStyle/>
                    <a:p>
                      <a:pPr algn="ctr"/>
                      <a:r>
                        <a:rPr sz="1200" b="0">
                          <a:solidFill>
                            <a:srgbClr val="36393B"/>
                          </a:solidFill>
                        </a:rPr>
                        <a:t>29.46%</a:t>
                      </a:r>
                    </a:p>
                  </a:txBody>
                  <a:tcPr marL="54864" marR="54864" marT="27432" marB="27432" anchor="ctr"/>
                </a:tc>
                <a:extLst>
                  <a:ext uri="{0D108BD9-81ED-4DB2-BD59-A6C34878D82A}">
                    <a16:rowId xmlns:a16="http://schemas.microsoft.com/office/drawing/2014/main" val="10001"/>
                  </a:ext>
                </a:extLst>
              </a:tr>
              <a:tr h="487680">
                <a:tc>
                  <a:txBody>
                    <a:bodyPr/>
                    <a:lstStyle/>
                    <a:p>
                      <a:pPr algn="l"/>
                      <a:r>
                        <a:rPr sz="1200" b="1">
                          <a:solidFill>
                            <a:srgbClr val="36393B"/>
                          </a:solidFill>
                        </a:rPr>
                        <a:t>Kshitij</a:t>
                      </a:r>
                    </a:p>
                  </a:txBody>
                  <a:tcPr marL="54864" marR="54864" marT="27432" marB="27432" anchor="ctr"/>
                </a:tc>
                <a:tc>
                  <a:txBody>
                    <a:bodyPr/>
                    <a:lstStyle/>
                    <a:p>
                      <a:pPr algn="ctr"/>
                      <a:r>
                        <a:rPr sz="1200" b="0">
                          <a:solidFill>
                            <a:srgbClr val="36393B"/>
                          </a:solidFill>
                        </a:rPr>
                        <a:t>1.600</a:t>
                      </a:r>
                    </a:p>
                  </a:txBody>
                  <a:tcPr marL="54864" marR="54864" marT="27432" marB="27432" anchor="ctr"/>
                </a:tc>
                <a:tc>
                  <a:txBody>
                    <a:bodyPr/>
                    <a:lstStyle/>
                    <a:p>
                      <a:pPr algn="ctr"/>
                      <a:r>
                        <a:rPr sz="1200" b="0">
                          <a:solidFill>
                            <a:srgbClr val="36393B"/>
                          </a:solidFill>
                        </a:rPr>
                        <a:t>40.0%</a:t>
                      </a:r>
                    </a:p>
                  </a:txBody>
                  <a:tcPr marL="54864" marR="54864" marT="27432" marB="27432" anchor="ctr"/>
                </a:tc>
                <a:tc>
                  <a:txBody>
                    <a:bodyPr/>
                    <a:lstStyle/>
                    <a:p>
                      <a:pPr algn="ctr"/>
                      <a:r>
                        <a:rPr sz="1200" b="0">
                          <a:solidFill>
                            <a:srgbClr val="36393B"/>
                          </a:solidFill>
                        </a:rPr>
                        <a:t>15.77%</a:t>
                      </a:r>
                    </a:p>
                  </a:txBody>
                  <a:tcPr marL="54864" marR="54864" marT="27432" marB="27432" anchor="ctr"/>
                </a:tc>
                <a:tc>
                  <a:txBody>
                    <a:bodyPr/>
                    <a:lstStyle/>
                    <a:p>
                      <a:pPr algn="ctr"/>
                      <a:r>
                        <a:rPr sz="1200" b="0">
                          <a:solidFill>
                            <a:srgbClr val="36393B"/>
                          </a:solidFill>
                        </a:rPr>
                        <a:t>27.12%</a:t>
                      </a:r>
                    </a:p>
                  </a:txBody>
                  <a:tcPr marL="54864" marR="54864" marT="27432" marB="27432" anchor="ctr"/>
                </a:tc>
                <a:extLst>
                  <a:ext uri="{0D108BD9-81ED-4DB2-BD59-A6C34878D82A}">
                    <a16:rowId xmlns:a16="http://schemas.microsoft.com/office/drawing/2014/main" val="10002"/>
                  </a:ext>
                </a:extLst>
              </a:tr>
              <a:tr h="487680">
                <a:tc>
                  <a:txBody>
                    <a:bodyPr/>
                    <a:lstStyle/>
                    <a:p>
                      <a:pPr algn="l"/>
                      <a:r>
                        <a:rPr sz="1200" b="1">
                          <a:solidFill>
                            <a:srgbClr val="36393B"/>
                          </a:solidFill>
                        </a:rPr>
                        <a:t>Kartika</a:t>
                      </a:r>
                    </a:p>
                  </a:txBody>
                  <a:tcPr marL="54864" marR="54864" marT="27432" marB="27432" anchor="ctr"/>
                </a:tc>
                <a:tc>
                  <a:txBody>
                    <a:bodyPr/>
                    <a:lstStyle/>
                    <a:p>
                      <a:pPr algn="ctr"/>
                      <a:r>
                        <a:rPr sz="1200" b="0">
                          <a:solidFill>
                            <a:srgbClr val="36393B"/>
                          </a:solidFill>
                        </a:rPr>
                        <a:t>1.000</a:t>
                      </a:r>
                    </a:p>
                  </a:txBody>
                  <a:tcPr marL="54864" marR="54864" marT="27432" marB="27432" anchor="ctr"/>
                </a:tc>
                <a:tc>
                  <a:txBody>
                    <a:bodyPr/>
                    <a:lstStyle/>
                    <a:p>
                      <a:pPr algn="ctr"/>
                      <a:r>
                        <a:rPr sz="1200" b="0">
                          <a:solidFill>
                            <a:srgbClr val="36393B"/>
                          </a:solidFill>
                        </a:rPr>
                        <a:t>30.0%</a:t>
                      </a:r>
                    </a:p>
                  </a:txBody>
                  <a:tcPr marL="54864" marR="54864" marT="27432" marB="27432" anchor="ctr"/>
                </a:tc>
                <a:tc>
                  <a:txBody>
                    <a:bodyPr/>
                    <a:lstStyle/>
                    <a:p>
                      <a:pPr algn="ctr"/>
                      <a:r>
                        <a:rPr sz="1200" b="0">
                          <a:solidFill>
                            <a:srgbClr val="36393B"/>
                          </a:solidFill>
                        </a:rPr>
                        <a:t>16.19%</a:t>
                      </a:r>
                    </a:p>
                  </a:txBody>
                  <a:tcPr marL="54864" marR="54864" marT="27432" marB="27432" anchor="ctr"/>
                </a:tc>
                <a:tc>
                  <a:txBody>
                    <a:bodyPr/>
                    <a:lstStyle/>
                    <a:p>
                      <a:pPr algn="ctr"/>
                      <a:r>
                        <a:rPr sz="1200" b="0">
                          <a:solidFill>
                            <a:srgbClr val="36393B"/>
                          </a:solidFill>
                        </a:rPr>
                        <a:t>29.46%</a:t>
                      </a:r>
                    </a:p>
                  </a:txBody>
                  <a:tcPr marL="54864" marR="54864" marT="27432" marB="27432" anchor="ctr"/>
                </a:tc>
                <a:extLst>
                  <a:ext uri="{0D108BD9-81ED-4DB2-BD59-A6C34878D82A}">
                    <a16:rowId xmlns:a16="http://schemas.microsoft.com/office/drawing/2014/main" val="10003"/>
                  </a:ext>
                </a:extLst>
              </a:tr>
              <a:tr h="487680">
                <a:tc>
                  <a:txBody>
                    <a:bodyPr/>
                    <a:lstStyle/>
                    <a:p>
                      <a:pPr algn="l"/>
                      <a:r>
                        <a:rPr sz="1200" b="1">
                          <a:solidFill>
                            <a:srgbClr val="36393B"/>
                          </a:solidFill>
                        </a:rPr>
                        <a:t>Ayushi</a:t>
                      </a:r>
                    </a:p>
                  </a:txBody>
                  <a:tcPr marL="54864" marR="54864" marT="27432" marB="27432" anchor="ctr"/>
                </a:tc>
                <a:tc>
                  <a:txBody>
                    <a:bodyPr/>
                    <a:lstStyle/>
                    <a:p>
                      <a:pPr algn="ctr"/>
                      <a:r>
                        <a:rPr sz="1200" b="0">
                          <a:solidFill>
                            <a:srgbClr val="36393B"/>
                          </a:solidFill>
                        </a:rPr>
                        <a:t>1.009</a:t>
                      </a:r>
                    </a:p>
                  </a:txBody>
                  <a:tcPr marL="54864" marR="54864" marT="27432" marB="27432" anchor="ctr"/>
                </a:tc>
                <a:tc>
                  <a:txBody>
                    <a:bodyPr/>
                    <a:lstStyle/>
                    <a:p>
                      <a:pPr algn="ctr"/>
                      <a:r>
                        <a:rPr sz="1200" b="0">
                          <a:solidFill>
                            <a:srgbClr val="36393B"/>
                          </a:solidFill>
                        </a:rPr>
                        <a:t>30.2%</a:t>
                      </a:r>
                    </a:p>
                  </a:txBody>
                  <a:tcPr marL="54864" marR="54864" marT="27432" marB="27432" anchor="ctr"/>
                </a:tc>
                <a:tc>
                  <a:txBody>
                    <a:bodyPr/>
                    <a:lstStyle/>
                    <a:p>
                      <a:pPr algn="ctr"/>
                      <a:r>
                        <a:rPr sz="1200" b="0">
                          <a:solidFill>
                            <a:srgbClr val="36393B"/>
                          </a:solidFill>
                        </a:rPr>
                        <a:t>16.19%</a:t>
                      </a:r>
                    </a:p>
                  </a:txBody>
                  <a:tcPr marL="54864" marR="54864" marT="27432" marB="27432" anchor="ctr"/>
                </a:tc>
                <a:tc>
                  <a:txBody>
                    <a:bodyPr/>
                    <a:lstStyle/>
                    <a:p>
                      <a:pPr algn="ctr"/>
                      <a:r>
                        <a:rPr sz="1200" b="0">
                          <a:solidFill>
                            <a:srgbClr val="36393B"/>
                          </a:solidFill>
                        </a:rPr>
                        <a:t>29.42%</a:t>
                      </a:r>
                    </a:p>
                  </a:txBody>
                  <a:tcPr marL="54864" marR="54864" marT="27432" marB="27432" anchor="ctr"/>
                </a:tc>
                <a:extLst>
                  <a:ext uri="{0D108BD9-81ED-4DB2-BD59-A6C34878D82A}">
                    <a16:rowId xmlns:a16="http://schemas.microsoft.com/office/drawing/2014/main" val="10004"/>
                  </a:ext>
                </a:extLst>
              </a:tr>
              <a:tr h="487680">
                <a:tc>
                  <a:txBody>
                    <a:bodyPr/>
                    <a:lstStyle/>
                    <a:p>
                      <a:pPr algn="l"/>
                      <a:r>
                        <a:rPr sz="1200" b="1">
                          <a:solidFill>
                            <a:srgbClr val="36393B"/>
                          </a:solidFill>
                        </a:rPr>
                        <a:t>Adwaaiit</a:t>
                      </a:r>
                    </a:p>
                  </a:txBody>
                  <a:tcPr marL="54864" marR="54864" marT="27432" marB="27432" anchor="ctr"/>
                </a:tc>
                <a:tc>
                  <a:txBody>
                    <a:bodyPr/>
                    <a:lstStyle/>
                    <a:p>
                      <a:pPr algn="ctr"/>
                      <a:r>
                        <a:rPr sz="1200" b="0">
                          <a:solidFill>
                            <a:srgbClr val="36393B"/>
                          </a:solidFill>
                        </a:rPr>
                        <a:t>1.015</a:t>
                      </a:r>
                    </a:p>
                  </a:txBody>
                  <a:tcPr marL="54864" marR="54864" marT="27432" marB="27432" anchor="ctr"/>
                </a:tc>
                <a:tc>
                  <a:txBody>
                    <a:bodyPr/>
                    <a:lstStyle/>
                    <a:p>
                      <a:pPr algn="ctr"/>
                      <a:r>
                        <a:rPr sz="1200" b="0">
                          <a:solidFill>
                            <a:srgbClr val="36393B"/>
                          </a:solidFill>
                        </a:rPr>
                        <a:t>30.3%</a:t>
                      </a:r>
                    </a:p>
                  </a:txBody>
                  <a:tcPr marL="54864" marR="54864" marT="27432" marB="27432" anchor="ctr"/>
                </a:tc>
                <a:tc>
                  <a:txBody>
                    <a:bodyPr/>
                    <a:lstStyle/>
                    <a:p>
                      <a:pPr algn="ctr"/>
                      <a:r>
                        <a:rPr sz="1200" b="0">
                          <a:solidFill>
                            <a:srgbClr val="36393B"/>
                          </a:solidFill>
                        </a:rPr>
                        <a:t>16.18%</a:t>
                      </a:r>
                    </a:p>
                  </a:txBody>
                  <a:tcPr marL="54864" marR="54864" marT="27432" marB="27432" anchor="ctr"/>
                </a:tc>
                <a:tc>
                  <a:txBody>
                    <a:bodyPr/>
                    <a:lstStyle/>
                    <a:p>
                      <a:pPr algn="ctr"/>
                      <a:r>
                        <a:rPr sz="1200" b="0">
                          <a:solidFill>
                            <a:srgbClr val="36393B"/>
                          </a:solidFill>
                        </a:rPr>
                        <a:t>29.40%</a:t>
                      </a:r>
                    </a:p>
                  </a:txBody>
                  <a:tcPr marL="54864" marR="54864" marT="27432" marB="27432" anchor="ctr"/>
                </a:tc>
                <a:extLst>
                  <a:ext uri="{0D108BD9-81ED-4DB2-BD59-A6C34878D82A}">
                    <a16:rowId xmlns:a16="http://schemas.microsoft.com/office/drawing/2014/main" val="10005"/>
                  </a:ext>
                </a:extLst>
              </a:tr>
            </a:tbl>
          </a:graphicData>
        </a:graphic>
      </p:graphicFrame>
      <p:sp>
        <p:nvSpPr>
          <p:cNvPr id="11" name="TextBox 10"/>
          <p:cNvSpPr txBox="1"/>
          <p:nvPr/>
        </p:nvSpPr>
        <p:spPr>
          <a:xfrm>
            <a:off x="6400800" y="4709160"/>
            <a:ext cx="4846320" cy="1463040"/>
          </a:xfrm>
          <a:prstGeom prst="rect">
            <a:avLst/>
          </a:prstGeom>
          <a:noFill/>
        </p:spPr>
        <p:txBody>
          <a:bodyPr wrap="square" lIns="36576" tIns="18288" rIns="36576" bIns="18288" anchor="t">
            <a:spAutoFit/>
          </a:bodyPr>
          <a:lstStyle/>
          <a:p>
            <a:pPr algn="l">
              <a:spcAft>
                <a:spcPts val="400"/>
              </a:spcAft>
            </a:pPr>
            <a:r>
              <a:rPr sz="1300" b="1">
                <a:solidFill>
                  <a:srgbClr val="36393B"/>
                </a:solidFill>
              </a:rPr>
              <a:t>Safety layer: </a:t>
            </a:r>
            <a:r>
              <a:rPr sz="1300" b="0">
                <a:solidFill>
                  <a:srgbClr val="36393B"/>
                </a:solidFill>
              </a:rPr>
              <a:t>Roy safety-first above rf 6.75%</a:t>
            </a:r>
          </a:p>
          <a:p>
            <a:pPr algn="l">
              <a:spcAft>
                <a:spcPts val="400"/>
              </a:spcAft>
            </a:pPr>
            <a:r>
              <a:rPr sz="1300" b="1">
                <a:solidFill>
                  <a:srgbClr val="36393B"/>
                </a:solidFill>
              </a:rPr>
              <a:t>Aspiration layer: </a:t>
            </a:r>
            <a:r>
              <a:rPr sz="1300" b="0">
                <a:solidFill>
                  <a:srgbClr val="36393B"/>
                </a:solidFill>
              </a:rPr>
              <a:t>safety-first above the 75th percentile of μ</a:t>
            </a:r>
          </a:p>
          <a:p>
            <a:pPr algn="l">
              <a:spcAft>
                <a:spcPts val="400"/>
              </a:spcAft>
            </a:pPr>
            <a:r>
              <a:rPr sz="1200" b="0">
                <a:solidFill>
                  <a:srgbClr val="5F6266"/>
                </a:solidFill>
              </a:rPr>
              <a:t>Same two building blocks for everyone; only the mix is personal.</a:t>
            </a:r>
          </a:p>
        </p:txBody>
      </p:sp>
      <p:sp>
        <p:nvSpPr>
          <p:cNvPr id="12"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Tree>
    <p:extLst>
      <p:ext uri="{BB962C8B-B14F-4D97-AF65-F5344CB8AC3E}">
        <p14:creationId xmlns:p14="http://schemas.microsoft.com/office/powerpoint/2010/main" val="226339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7F8D88-DE22-2DE5-BF64-9FC10B8DC4E0}"/>
              </a:ext>
            </a:extLst>
          </p:cNvPr>
          <p:cNvSpPr>
            <a:spLocks noGrp="1"/>
          </p:cNvSpPr>
          <p:nvPr>
            <p:ph type="title"/>
          </p:nvPr>
        </p:nvSpPr>
        <p:spPr>
          <a:xfrm>
            <a:off x="850392" y="0"/>
            <a:ext cx="10122632" cy="1307592"/>
          </a:xfrm>
        </p:spPr>
        <p:txBody>
          <a:bodyPr/>
          <a:lstStyle/>
          <a:p>
            <a:r>
              <a:rPr lang="en-US" noProof="0" dirty="0"/>
              <a:t>Personality in the advice</a:t>
            </a:r>
            <a:endParaRPr lang="en-US" dirty="0"/>
          </a:p>
        </p:txBody>
      </p:sp>
      <p:sp>
        <p:nvSpPr>
          <p:cNvPr id="12" name="Slide Number Placeholder 11">
            <a:extLst>
              <a:ext uri="{FF2B5EF4-FFF2-40B4-BE49-F238E27FC236}">
                <a16:creationId xmlns:a16="http://schemas.microsoft.com/office/drawing/2014/main" id="{A8CBBE5F-9A1C-95FF-B955-8D818F3A20E6}"/>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11</a:t>
            </a:fld>
            <a:endParaRPr lang="en-US" dirty="0"/>
          </a:p>
        </p:txBody>
      </p:sp>
      <p:sp>
        <p:nvSpPr>
          <p:cNvPr id="13" name="TextBox 12"/>
          <p:cNvSpPr txBox="1"/>
          <p:nvPr/>
        </p:nvSpPr>
        <p:spPr>
          <a:xfrm>
            <a:off x="850392" y="1371600"/>
            <a:ext cx="10424160" cy="457200"/>
          </a:xfrm>
          <a:prstGeom prst="rect">
            <a:avLst/>
          </a:prstGeom>
          <a:noFill/>
        </p:spPr>
        <p:txBody>
          <a:bodyPr wrap="square" lIns="36576" tIns="18288" rIns="36576" bIns="18288" anchor="t">
            <a:spAutoFit/>
          </a:bodyPr>
          <a:lstStyle/>
          <a:p>
            <a:pPr algn="l">
              <a:spcAft>
                <a:spcPts val="400"/>
              </a:spcAft>
            </a:pPr>
            <a:r>
              <a:rPr sz="1500" b="1">
                <a:solidFill>
                  <a:srgbClr val="36393B"/>
                </a:solidFill>
              </a:rPr>
              <a:t>Principle: </a:t>
            </a:r>
            <a:r>
              <a:rPr sz="1500" b="0">
                <a:solidFill>
                  <a:srgbClr val="36393B"/>
                </a:solidFill>
              </a:rPr>
              <a:t>personality changes how we advise and how much we trust the numbers, never the portfolio weights (those stay driven by γ and λ).</a:t>
            </a:r>
          </a:p>
        </p:txBody>
      </p:sp>
      <p:sp>
        <p:nvSpPr>
          <p:cNvPr id="14" name="Card 1"/>
          <p:cNvSpPr/>
          <p:nvPr/>
        </p:nvSpPr>
        <p:spPr>
          <a:xfrm>
            <a:off x="850392" y="2011680"/>
            <a:ext cx="5029200" cy="19659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3272" y="2121408"/>
            <a:ext cx="4663440" cy="365760"/>
          </a:xfrm>
          <a:prstGeom prst="rect">
            <a:avLst/>
          </a:prstGeom>
          <a:noFill/>
        </p:spPr>
        <p:txBody>
          <a:bodyPr wrap="square" lIns="36576" tIns="18288" rIns="36576" bIns="18288" anchor="t">
            <a:spAutoFit/>
          </a:bodyPr>
          <a:lstStyle/>
          <a:p>
            <a:pPr algn="l">
              <a:spcAft>
                <a:spcPts val="400"/>
              </a:spcAft>
            </a:pPr>
            <a:r>
              <a:rPr sz="1300" b="1">
                <a:solidFill>
                  <a:srgbClr val="36393B"/>
                </a:solidFill>
                <a:latin typeface="+mj-lt"/>
              </a:rPr>
              <a:t>NEGATIVE EMOTIONALITY × λ</a:t>
            </a:r>
          </a:p>
        </p:txBody>
      </p:sp>
      <p:sp>
        <p:nvSpPr>
          <p:cNvPr id="16" name="TextBox 15"/>
          <p:cNvSpPr txBox="1"/>
          <p:nvPr/>
        </p:nvSpPr>
        <p:spPr>
          <a:xfrm>
            <a:off x="1033272" y="2514600"/>
            <a:ext cx="4663440" cy="868680"/>
          </a:xfrm>
          <a:prstGeom prst="rect">
            <a:avLst/>
          </a:prstGeom>
          <a:noFill/>
        </p:spPr>
        <p:txBody>
          <a:bodyPr wrap="square" lIns="36576" tIns="18288" rIns="36576" bIns="18288" anchor="t">
            <a:spAutoFit/>
          </a:bodyPr>
          <a:lstStyle/>
          <a:p>
            <a:pPr algn="l">
              <a:spcAft>
                <a:spcPts val="400"/>
              </a:spcAft>
            </a:pPr>
            <a:r>
              <a:rPr sz="1400" b="0">
                <a:solidFill>
                  <a:srgbClr val="36393B"/>
                </a:solidFill>
              </a:rPr>
              <a:t>Both high → lead with drawdown alerts and reassurance. They disagree → flag for a human follow-up.</a:t>
            </a:r>
          </a:p>
        </p:txBody>
      </p:sp>
      <p:sp>
        <p:nvSpPr>
          <p:cNvPr id="17" name="TextBox 16"/>
          <p:cNvSpPr txBox="1"/>
          <p:nvPr/>
        </p:nvSpPr>
        <p:spPr>
          <a:xfrm>
            <a:off x="1033272" y="3364992"/>
            <a:ext cx="4663440" cy="548640"/>
          </a:xfrm>
          <a:prstGeom prst="rect">
            <a:avLst/>
          </a:prstGeom>
          <a:noFill/>
        </p:spPr>
        <p:txBody>
          <a:bodyPr wrap="square" lIns="36576" tIns="18288" rIns="36576" bIns="18288" anchor="t">
            <a:spAutoFit/>
          </a:bodyPr>
          <a:lstStyle/>
          <a:p>
            <a:pPr algn="l">
              <a:spcAft>
                <a:spcPts val="400"/>
              </a:spcAft>
            </a:pPr>
            <a:r>
              <a:rPr sz="1200" b="0">
                <a:solidFill>
                  <a:srgbClr val="0E8C74"/>
                </a:solidFill>
              </a:rPr>
              <a:t>None of our five crosses the 3.5 threshold; the rule is built and tested for a larger cohort.</a:t>
            </a:r>
          </a:p>
        </p:txBody>
      </p:sp>
      <p:sp>
        <p:nvSpPr>
          <p:cNvPr id="18" name="Card 2"/>
          <p:cNvSpPr/>
          <p:nvPr/>
        </p:nvSpPr>
        <p:spPr>
          <a:xfrm>
            <a:off x="6153912" y="2011680"/>
            <a:ext cx="5029200" cy="19659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36792" y="2121408"/>
            <a:ext cx="4663440" cy="365760"/>
          </a:xfrm>
          <a:prstGeom prst="rect">
            <a:avLst/>
          </a:prstGeom>
          <a:noFill/>
        </p:spPr>
        <p:txBody>
          <a:bodyPr wrap="square" lIns="36576" tIns="18288" rIns="36576" bIns="18288" anchor="t">
            <a:spAutoFit/>
          </a:bodyPr>
          <a:lstStyle/>
          <a:p>
            <a:pPr algn="l">
              <a:spcAft>
                <a:spcPts val="400"/>
              </a:spcAft>
            </a:pPr>
            <a:r>
              <a:rPr sz="1300" b="1">
                <a:solidFill>
                  <a:srgbClr val="36393B"/>
                </a:solidFill>
                <a:latin typeface="+mj-lt"/>
              </a:rPr>
              <a:t>SAY VS. DO GAPS</a:t>
            </a:r>
          </a:p>
        </p:txBody>
      </p:sp>
      <p:sp>
        <p:nvSpPr>
          <p:cNvPr id="20" name="TextBox 19"/>
          <p:cNvSpPr txBox="1"/>
          <p:nvPr/>
        </p:nvSpPr>
        <p:spPr>
          <a:xfrm>
            <a:off x="6336792" y="2514600"/>
            <a:ext cx="4663440" cy="868680"/>
          </a:xfrm>
          <a:prstGeom prst="rect">
            <a:avLst/>
          </a:prstGeom>
          <a:noFill/>
        </p:spPr>
        <p:txBody>
          <a:bodyPr wrap="square" lIns="36576" tIns="18288" rIns="36576" bIns="18288" anchor="t">
            <a:spAutoFit/>
          </a:bodyPr>
          <a:lstStyle/>
          <a:p>
            <a:pPr algn="l">
              <a:spcAft>
                <a:spcPts val="400"/>
              </a:spcAft>
            </a:pPr>
            <a:r>
              <a:rPr sz="1400" b="0">
                <a:solidFill>
                  <a:srgbClr val="36393B"/>
                </a:solidFill>
              </a:rPr>
              <a:t>Self-report far from revealed γ → a short conversation before finalising, never a silent average.</a:t>
            </a:r>
          </a:p>
        </p:txBody>
      </p:sp>
      <p:sp>
        <p:nvSpPr>
          <p:cNvPr id="21" name="TextBox 20"/>
          <p:cNvSpPr txBox="1"/>
          <p:nvPr/>
        </p:nvSpPr>
        <p:spPr>
          <a:xfrm>
            <a:off x="6336792" y="3364992"/>
            <a:ext cx="4663440" cy="548640"/>
          </a:xfrm>
          <a:prstGeom prst="rect">
            <a:avLst/>
          </a:prstGeom>
          <a:noFill/>
        </p:spPr>
        <p:txBody>
          <a:bodyPr wrap="square" lIns="36576" tIns="18288" rIns="36576" bIns="18288" anchor="t">
            <a:spAutoFit/>
          </a:bodyPr>
          <a:lstStyle/>
          <a:p>
            <a:pPr algn="l">
              <a:spcAft>
                <a:spcPts val="400"/>
              </a:spcAft>
            </a:pPr>
            <a:r>
              <a:rPr sz="1200" b="0">
                <a:solidFill>
                  <a:srgbClr val="0E8C74"/>
                </a:solidFill>
              </a:rPr>
              <a:t>Adwaaiit: risk 10/10, top Grable-Lytton score (40), yet γ ≈ 2.2.</a:t>
            </a:r>
          </a:p>
        </p:txBody>
      </p:sp>
      <p:sp>
        <p:nvSpPr>
          <p:cNvPr id="22" name="Card 3"/>
          <p:cNvSpPr/>
          <p:nvPr/>
        </p:nvSpPr>
        <p:spPr>
          <a:xfrm>
            <a:off x="850392" y="4160520"/>
            <a:ext cx="5029200" cy="19659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33272" y="4270248"/>
            <a:ext cx="4663440" cy="365760"/>
          </a:xfrm>
          <a:prstGeom prst="rect">
            <a:avLst/>
          </a:prstGeom>
          <a:noFill/>
        </p:spPr>
        <p:txBody>
          <a:bodyPr wrap="square" lIns="36576" tIns="18288" rIns="36576" bIns="18288" anchor="t">
            <a:spAutoFit/>
          </a:bodyPr>
          <a:lstStyle/>
          <a:p>
            <a:pPr algn="l">
              <a:spcAft>
                <a:spcPts val="400"/>
              </a:spcAft>
            </a:pPr>
            <a:r>
              <a:rPr sz="1300" b="1">
                <a:solidFill>
                  <a:srgbClr val="36393B"/>
                </a:solidFill>
                <a:latin typeface="+mj-lt"/>
              </a:rPr>
              <a:t>DATA-QUALITY SIGNALS</a:t>
            </a:r>
          </a:p>
        </p:txBody>
      </p:sp>
      <p:sp>
        <p:nvSpPr>
          <p:cNvPr id="24" name="TextBox 23"/>
          <p:cNvSpPr txBox="1"/>
          <p:nvPr/>
        </p:nvSpPr>
        <p:spPr>
          <a:xfrm>
            <a:off x="1033272" y="4663440"/>
            <a:ext cx="4663440" cy="868680"/>
          </a:xfrm>
          <a:prstGeom prst="rect">
            <a:avLst/>
          </a:prstGeom>
          <a:noFill/>
        </p:spPr>
        <p:txBody>
          <a:bodyPr wrap="square" lIns="36576" tIns="18288" rIns="36576" bIns="18288" anchor="t">
            <a:spAutoFit/>
          </a:bodyPr>
          <a:lstStyle/>
          <a:p>
            <a:pPr algn="l">
              <a:spcAft>
                <a:spcPts val="400"/>
              </a:spcAft>
            </a:pPr>
            <a:r>
              <a:rPr sz="1400" b="0">
                <a:solidFill>
                  <a:srgbClr val="36393B"/>
                </a:solidFill>
              </a:rPr>
              <a:t>Flat BFI-2 profile or low retest → lower confidence: re-survey, or a more conservative default.</a:t>
            </a:r>
          </a:p>
        </p:txBody>
      </p:sp>
      <p:sp>
        <p:nvSpPr>
          <p:cNvPr id="25" name="TextBox 24"/>
          <p:cNvSpPr txBox="1"/>
          <p:nvPr/>
        </p:nvSpPr>
        <p:spPr>
          <a:xfrm>
            <a:off x="1033272" y="5513832"/>
            <a:ext cx="4663440" cy="548640"/>
          </a:xfrm>
          <a:prstGeom prst="rect">
            <a:avLst/>
          </a:prstGeom>
          <a:noFill/>
        </p:spPr>
        <p:txBody>
          <a:bodyPr wrap="square" lIns="36576" tIns="18288" rIns="36576" bIns="18288" anchor="t">
            <a:spAutoFit/>
          </a:bodyPr>
          <a:lstStyle/>
          <a:p>
            <a:pPr algn="l">
              <a:spcAft>
                <a:spcPts val="400"/>
              </a:spcAft>
            </a:pPr>
            <a:r>
              <a:rPr sz="1200" b="0">
                <a:solidFill>
                  <a:srgbClr val="0E8C74"/>
                </a:solidFill>
              </a:rPr>
              <a:t>Shree Charan: 3.00 on all five domains. Ayushi: retest 0.5.</a:t>
            </a:r>
          </a:p>
        </p:txBody>
      </p:sp>
      <p:sp>
        <p:nvSpPr>
          <p:cNvPr id="26" name="Card 4"/>
          <p:cNvSpPr/>
          <p:nvPr/>
        </p:nvSpPr>
        <p:spPr>
          <a:xfrm>
            <a:off x="6153912" y="4160520"/>
            <a:ext cx="5029200" cy="19659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36792" y="4270248"/>
            <a:ext cx="4663440" cy="365760"/>
          </a:xfrm>
          <a:prstGeom prst="rect">
            <a:avLst/>
          </a:prstGeom>
          <a:noFill/>
        </p:spPr>
        <p:txBody>
          <a:bodyPr wrap="square" lIns="36576" tIns="18288" rIns="36576" bIns="18288" anchor="t">
            <a:spAutoFit/>
          </a:bodyPr>
          <a:lstStyle/>
          <a:p>
            <a:pPr algn="l">
              <a:spcAft>
                <a:spcPts val="400"/>
              </a:spcAft>
            </a:pPr>
            <a:r>
              <a:rPr sz="1300" b="1">
                <a:solidFill>
                  <a:srgbClr val="36393B"/>
                </a:solidFill>
                <a:latin typeface="+mj-lt"/>
              </a:rPr>
              <a:t>OPENNESS &amp; CONSCIENTIOUSNESS</a:t>
            </a:r>
          </a:p>
        </p:txBody>
      </p:sp>
      <p:sp>
        <p:nvSpPr>
          <p:cNvPr id="28" name="TextBox 27"/>
          <p:cNvSpPr txBox="1"/>
          <p:nvPr/>
        </p:nvSpPr>
        <p:spPr>
          <a:xfrm>
            <a:off x="6336792" y="4663440"/>
            <a:ext cx="4663440" cy="868680"/>
          </a:xfrm>
          <a:prstGeom prst="rect">
            <a:avLst/>
          </a:prstGeom>
          <a:noFill/>
        </p:spPr>
        <p:txBody>
          <a:bodyPr wrap="square" lIns="36576" tIns="18288" rIns="36576" bIns="18288" anchor="t">
            <a:spAutoFit/>
          </a:bodyPr>
          <a:lstStyle/>
          <a:p>
            <a:pPr algn="l">
              <a:spcAft>
                <a:spcPts val="400"/>
              </a:spcAft>
            </a:pPr>
            <a:r>
              <a:rPr sz="1400" b="0">
                <a:solidFill>
                  <a:srgbClr val="36393B"/>
                </a:solidFill>
              </a:rPr>
              <a:t>Openness → comfort with two mental accounts. Conscientiousness → will they keep rebalancing?</a:t>
            </a:r>
          </a:p>
        </p:txBody>
      </p:sp>
      <p:sp>
        <p:nvSpPr>
          <p:cNvPr id="29" name="TextBox 28"/>
          <p:cNvSpPr txBox="1"/>
          <p:nvPr/>
        </p:nvSpPr>
        <p:spPr>
          <a:xfrm>
            <a:off x="6336792" y="5513832"/>
            <a:ext cx="4663440" cy="548640"/>
          </a:xfrm>
          <a:prstGeom prst="rect">
            <a:avLst/>
          </a:prstGeom>
          <a:noFill/>
        </p:spPr>
        <p:txBody>
          <a:bodyPr wrap="square" lIns="36576" tIns="18288" rIns="36576" bIns="18288" anchor="t">
            <a:spAutoFit/>
          </a:bodyPr>
          <a:lstStyle/>
          <a:p>
            <a:pPr algn="l">
              <a:spcAft>
                <a:spcPts val="400"/>
              </a:spcAft>
            </a:pPr>
            <a:r>
              <a:rPr sz="1200" b="0">
                <a:solidFill>
                  <a:srgbClr val="0E8C74"/>
                </a:solidFill>
              </a:rPr>
              <a:t>Kartika: open (3.17) but less conscientious (2.83) → automate her rebalancing.</a:t>
            </a:r>
          </a:p>
        </p:txBody>
      </p:sp>
      <p:sp>
        <p:nvSpPr>
          <p:cNvPr id="30"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Tree>
    <p:extLst>
      <p:ext uri="{BB962C8B-B14F-4D97-AF65-F5344CB8AC3E}">
        <p14:creationId xmlns:p14="http://schemas.microsoft.com/office/powerpoint/2010/main" val="1572098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a:t>The robo-advisory portal</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12</a:t>
            </a:fld>
            <a:endParaRPr lang="en-US" dirty="0"/>
          </a:p>
        </p:txBody>
      </p:sp>
      <p:pic>
        <p:nvPicPr>
          <p:cNvPr id="9" name="Screenshot 1" descr="s_question.png"/>
          <p:cNvPicPr>
            <a:picLocks noChangeAspect="1"/>
          </p:cNvPicPr>
          <p:nvPr/>
        </p:nvPicPr>
        <p:blipFill>
          <a:blip r:embed="rId3"/>
          <a:stretch>
            <a:fillRect/>
          </a:stretch>
        </p:blipFill>
        <p:spPr>
          <a:xfrm>
            <a:off x="850392" y="1463040"/>
            <a:ext cx="3246120" cy="1957977"/>
          </a:xfrm>
          <a:prstGeom prst="rect">
            <a:avLst/>
          </a:prstGeom>
          <a:ln w="9525">
            <a:solidFill>
              <a:srgbClr val="C9C6C8"/>
            </a:solidFill>
          </a:ln>
        </p:spPr>
      </p:pic>
      <p:sp>
        <p:nvSpPr>
          <p:cNvPr id="10" name="TextBox 9"/>
          <p:cNvSpPr txBox="1"/>
          <p:nvPr/>
        </p:nvSpPr>
        <p:spPr>
          <a:xfrm>
            <a:off x="850392" y="5029200"/>
            <a:ext cx="3246120" cy="640080"/>
          </a:xfrm>
          <a:prstGeom prst="rect">
            <a:avLst/>
          </a:prstGeom>
          <a:noFill/>
        </p:spPr>
        <p:txBody>
          <a:bodyPr wrap="square" lIns="36576" tIns="18288" rIns="36576" bIns="18288" anchor="t">
            <a:spAutoFit/>
          </a:bodyPr>
          <a:lstStyle/>
          <a:p>
            <a:pPr algn="l">
              <a:spcAft>
                <a:spcPts val="400"/>
              </a:spcAft>
            </a:pPr>
            <a:r>
              <a:rPr sz="1300" b="0">
                <a:solidFill>
                  <a:srgbClr val="36393B"/>
                </a:solidFill>
              </a:rPr>
              <a:t>1  Client answers 20 adaptive choices (plus 4 scales), ~15 min</a:t>
            </a:r>
          </a:p>
        </p:txBody>
      </p:sp>
      <p:pic>
        <p:nvPicPr>
          <p:cNvPr id="11" name="Screenshot 2" descr="s_results.png"/>
          <p:cNvPicPr>
            <a:picLocks noChangeAspect="1"/>
          </p:cNvPicPr>
          <p:nvPr/>
        </p:nvPicPr>
        <p:blipFill>
          <a:blip r:embed="rId4"/>
          <a:stretch>
            <a:fillRect/>
          </a:stretch>
        </p:blipFill>
        <p:spPr>
          <a:xfrm>
            <a:off x="4325112" y="1463040"/>
            <a:ext cx="3246120" cy="3349171"/>
          </a:xfrm>
          <a:prstGeom prst="rect">
            <a:avLst/>
          </a:prstGeom>
          <a:ln w="9525">
            <a:solidFill>
              <a:srgbClr val="C9C6C8"/>
            </a:solidFill>
          </a:ln>
        </p:spPr>
      </p:pic>
      <p:sp>
        <p:nvSpPr>
          <p:cNvPr id="12" name="TextBox 11"/>
          <p:cNvSpPr txBox="1"/>
          <p:nvPr/>
        </p:nvSpPr>
        <p:spPr>
          <a:xfrm>
            <a:off x="4325112" y="5029200"/>
            <a:ext cx="3246120" cy="640080"/>
          </a:xfrm>
          <a:prstGeom prst="rect">
            <a:avLst/>
          </a:prstGeom>
          <a:noFill/>
        </p:spPr>
        <p:txBody>
          <a:bodyPr wrap="square" lIns="36576" tIns="18288" rIns="36576" bIns="18288" anchor="t">
            <a:spAutoFit/>
          </a:bodyPr>
          <a:lstStyle/>
          <a:p>
            <a:pPr algn="l">
              <a:spcAft>
                <a:spcPts val="400"/>
              </a:spcAft>
            </a:pPr>
            <a:r>
              <a:rPr sz="1300" b="0">
                <a:solidFill>
                  <a:srgbClr val="36393B"/>
                </a:solidFill>
              </a:rPr>
              <a:t>2  Instant EUT + BPT portfolio, holdings and own curves</a:t>
            </a:r>
          </a:p>
        </p:txBody>
      </p:sp>
      <p:pic>
        <p:nvPicPr>
          <p:cNvPr id="13" name="Screenshot 3" descr="s_evaluate.png"/>
          <p:cNvPicPr>
            <a:picLocks noChangeAspect="1"/>
          </p:cNvPicPr>
          <p:nvPr/>
        </p:nvPicPr>
        <p:blipFill>
          <a:blip r:embed="rId5"/>
          <a:stretch>
            <a:fillRect/>
          </a:stretch>
        </p:blipFill>
        <p:spPr>
          <a:xfrm>
            <a:off x="7799831" y="1463040"/>
            <a:ext cx="3246120" cy="3349171"/>
          </a:xfrm>
          <a:prstGeom prst="rect">
            <a:avLst/>
          </a:prstGeom>
          <a:ln w="9525">
            <a:solidFill>
              <a:srgbClr val="C9C6C8"/>
            </a:solidFill>
          </a:ln>
        </p:spPr>
      </p:pic>
      <p:sp>
        <p:nvSpPr>
          <p:cNvPr id="14" name="TextBox 13"/>
          <p:cNvSpPr txBox="1"/>
          <p:nvPr/>
        </p:nvSpPr>
        <p:spPr>
          <a:xfrm>
            <a:off x="7799831" y="5029200"/>
            <a:ext cx="3246120" cy="640080"/>
          </a:xfrm>
          <a:prstGeom prst="rect">
            <a:avLst/>
          </a:prstGeom>
          <a:noFill/>
        </p:spPr>
        <p:txBody>
          <a:bodyPr wrap="square" lIns="36576" tIns="18288" rIns="36576" bIns="18288" anchor="t">
            <a:spAutoFit/>
          </a:bodyPr>
          <a:lstStyle/>
          <a:p>
            <a:pPr algn="l">
              <a:spcAft>
                <a:spcPts val="400"/>
              </a:spcAft>
            </a:pPr>
            <a:r>
              <a:rPr sz="1300" b="0">
                <a:solidFill>
                  <a:srgbClr val="36393B"/>
                </a:solidFill>
              </a:rPr>
              <a:t>3  Evaluator view: all 5 clients, instruments and maths pre-loaded</a:t>
            </a:r>
          </a:p>
        </p:txBody>
      </p:sp>
      <p:sp>
        <p:nvSpPr>
          <p:cNvPr id="15" name="TextBox 14"/>
          <p:cNvSpPr txBox="1"/>
          <p:nvPr/>
        </p:nvSpPr>
        <p:spPr>
          <a:xfrm>
            <a:off x="850392" y="5623560"/>
            <a:ext cx="10424160" cy="731520"/>
          </a:xfrm>
          <a:prstGeom prst="rect">
            <a:avLst/>
          </a:prstGeom>
          <a:noFill/>
        </p:spPr>
        <p:txBody>
          <a:bodyPr wrap="square" lIns="36576" tIns="18288" rIns="36576" bIns="18288" anchor="t">
            <a:spAutoFit/>
          </a:bodyPr>
          <a:lstStyle/>
          <a:p>
            <a:pPr algn="l">
              <a:spcAft>
                <a:spcPts val="400"/>
              </a:spcAft>
            </a:pPr>
            <a:r>
              <a:rPr sz="1200" b="0">
                <a:solidFill>
                  <a:srgbClr val="5F6266"/>
                </a:solidFill>
              </a:rPr>
              <a:t>Deployed on Vercel · runs fully in the browser · JavaScript checked against our Python pipeline (numbers match to 3+ decimals)</a:t>
            </a:r>
          </a:p>
          <a:p>
            <a:pPr algn="l">
              <a:spcAft>
                <a:spcPts val="400"/>
              </a:spcAft>
            </a:pPr>
            <a:r>
              <a:rPr sz="1200" b="0">
                <a:solidFill>
                  <a:srgbClr val="5F6266"/>
                </a:solidFill>
              </a:rPr>
              <a:t>Live at  </a:t>
            </a:r>
            <a:r>
              <a:rPr sz="1200" b="1">
                <a:solidFill>
                  <a:srgbClr val="0E8C74"/>
                </a:solidFill>
              </a:rPr>
              <a:t>mba680-robo-advisor.vercel.app</a:t>
            </a:r>
            <a:r>
              <a:rPr sz="1200" b="0">
                <a:solidFill>
                  <a:srgbClr val="5F6266"/>
                </a:solidFill>
              </a:rPr>
              <a:t>   (add #evaluate for the full project view)</a:t>
            </a:r>
          </a:p>
        </p:txBody>
      </p:sp>
      <p:sp>
        <p:nvSpPr>
          <p:cNvPr id="16"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a:solidFill>
                  <a:srgbClr val="5F6266"/>
                </a:solidFill>
              </a:rPr>
              <a:t>Ayushi</a:t>
            </a:r>
          </a:p>
        </p:txBody>
      </p:sp>
    </p:spTree>
    <p:extLst>
      <p:ext uri="{BB962C8B-B14F-4D97-AF65-F5344CB8AC3E}">
        <p14:creationId xmlns:p14="http://schemas.microsoft.com/office/powerpoint/2010/main" val="226339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BA8B96-A97F-34F3-6F87-24039CBE0C06}"/>
              </a:ext>
            </a:extLst>
          </p:cNvPr>
          <p:cNvSpPr>
            <a:spLocks noGrp="1"/>
          </p:cNvSpPr>
          <p:nvPr>
            <p:ph type="title"/>
          </p:nvPr>
        </p:nvSpPr>
        <p:spPr>
          <a:xfrm>
            <a:off x="850392" y="365760"/>
            <a:ext cx="10085832" cy="978408"/>
          </a:xfrm>
        </p:spPr>
        <p:txBody>
          <a:bodyPr/>
          <a:lstStyle/>
          <a:p>
            <a:r>
              <a:rPr lang="en-US" dirty="0"/>
              <a:t>Summary</a:t>
            </a:r>
          </a:p>
        </p:txBody>
      </p:sp>
      <p:sp>
        <p:nvSpPr>
          <p:cNvPr id="6" name="Content Placeholder 5">
            <a:extLst>
              <a:ext uri="{FF2B5EF4-FFF2-40B4-BE49-F238E27FC236}">
                <a16:creationId xmlns:a16="http://schemas.microsoft.com/office/drawing/2014/main" id="{8A235974-1A3D-2F95-9DA6-0B610F0E590B}"/>
              </a:ext>
            </a:extLst>
          </p:cNvPr>
          <p:cNvSpPr>
            <a:spLocks noGrp="1"/>
          </p:cNvSpPr>
          <p:nvPr>
            <p:ph sz="half" idx="2"/>
          </p:nvPr>
        </p:nvSpPr>
        <p:spPr>
          <a:xfrm>
            <a:off x="850392" y="1911096"/>
            <a:ext cx="4837176" cy="2898648"/>
          </a:xfrm>
        </p:spPr>
        <p:txBody>
          <a:bodyPr/>
          <a:lstStyle/>
          <a:p>
            <a:r>
              <a:rPr lang="en-US" dirty="0"/>
              <a:t>EUT alone can't personalise a young, risk-tolerant group: all five get 100% of the same tangency portfolio.</a:t>
            </a:r>
          </a:p>
          <a:p>
            <a:r>
              <a:rPr lang="en-US" dirty="0"/>
              <a:t>SP/A-BPT can: loss aversion sets each person's safety share, from 30% to 40%.</a:t>
            </a:r>
          </a:p>
          <a:p>
            <a:r>
              <a:rPr lang="en-US" dirty="0"/>
              <a:t>Personality belongs in the communication and trust layer around both models.</a:t>
            </a:r>
          </a:p>
        </p:txBody>
      </p:sp>
      <p:sp>
        <p:nvSpPr>
          <p:cNvPr id="25" name="Content Placeholder 24">
            <a:extLst>
              <a:ext uri="{FF2B5EF4-FFF2-40B4-BE49-F238E27FC236}">
                <a16:creationId xmlns:a16="http://schemas.microsoft.com/office/drawing/2014/main" id="{3E6AD0AA-58A6-5A6D-4BF7-5963B235CA74}"/>
              </a:ext>
            </a:extLst>
          </p:cNvPr>
          <p:cNvSpPr>
            <a:spLocks noGrp="1"/>
          </p:cNvSpPr>
          <p:nvPr>
            <p:ph sz="half" idx="36"/>
          </p:nvPr>
        </p:nvSpPr>
        <p:spPr>
          <a:xfrm>
            <a:off x="6812280" y="1911096"/>
            <a:ext cx="4453128" cy="1911096"/>
          </a:xfrm>
        </p:spPr>
        <p:txBody>
          <a:bodyPr/>
          <a:lstStyle/>
          <a:p>
            <a:r>
              <a:rPr lang="en-US" dirty="0"/>
              <a:t>Limits: 5 respondents</a:t>
            </a:r>
          </a:p>
          <a:p>
            <a:r>
              <a:rPr lang="en-US" dirty="0"/>
              <a:t>γ identified only as ≥ ~1</a:t>
            </a:r>
          </a:p>
          <a:p>
            <a:r>
              <a:rPr lang="en-US" dirty="0"/>
              <a:t>μ back-solved from the Markowitz covariance</a:t>
            </a:r>
          </a:p>
          <a:p>
            <a:r>
              <a:rPr lang="en-US" dirty="0"/>
              <a:t>Flags reported, not dropped</a:t>
            </a:r>
          </a:p>
        </p:txBody>
      </p:sp>
      <p:pic>
        <p:nvPicPr>
          <p:cNvPr id="32" name="Picture Placeholder 31" descr="Close up of skyscrapers">
            <a:extLst>
              <a:ext uri="{FF2B5EF4-FFF2-40B4-BE49-F238E27FC236}">
                <a16:creationId xmlns:a16="http://schemas.microsoft.com/office/drawing/2014/main" id="{24A9B74D-E2A1-3529-BC0C-6F3E582BA966}"/>
              </a:ext>
            </a:extLst>
          </p:cNvPr>
          <p:cNvPicPr>
            <a:picLocks noGrp="1" noChangeAspect="1"/>
          </p:cNvPicPr>
          <p:nvPr>
            <p:ph type="pic" sz="quarter" idx="10"/>
          </p:nvPr>
        </p:nvPicPr>
        <p:blipFill>
          <a:blip r:embed="rId3"/>
          <a:srcRect t="52" b="52"/>
          <a:stretch/>
        </p:blipFill>
        <p:spPr>
          <a:xfrm>
            <a:off x="6812280" y="4242816"/>
            <a:ext cx="4123944" cy="2615184"/>
          </a:xfrm>
        </p:spPr>
      </p:pic>
      <p:sp>
        <p:nvSpPr>
          <p:cNvPr id="4" name="Slide Number Placeholder 3">
            <a:extLst>
              <a:ext uri="{FF2B5EF4-FFF2-40B4-BE49-F238E27FC236}">
                <a16:creationId xmlns:a16="http://schemas.microsoft.com/office/drawing/2014/main" id="{54F1F300-07D0-6B39-2D9D-ACA25BCE9EC4}"/>
              </a:ext>
            </a:extLst>
          </p:cNvPr>
          <p:cNvSpPr>
            <a:spLocks noGrp="1"/>
          </p:cNvSpPr>
          <p:nvPr>
            <p:ph type="sldNum" sz="quarter" idx="35"/>
          </p:nvPr>
        </p:nvSpPr>
        <p:spPr>
          <a:xfrm rot="16200000">
            <a:off x="11716512" y="6382510"/>
            <a:ext cx="566928" cy="384048"/>
          </a:xfrm>
        </p:spPr>
        <p:txBody>
          <a:bodyPr/>
          <a:lstStyle/>
          <a:p>
            <a:fld id="{09A01C0A-2BB6-49E7-91A3-DCB9F9F59583}" type="slidenum">
              <a:rPr lang="en-US" smtClean="0"/>
              <a:pPr/>
              <a:t>13</a:t>
            </a:fld>
            <a:endParaRPr lang="en-US" dirty="0"/>
          </a:p>
        </p:txBody>
      </p:sp>
      <p:sp>
        <p:nvSpPr>
          <p:cNvPr id="33" name="Rectangle 32">
            <a:extLst>
              <a:ext uri="{FF2B5EF4-FFF2-40B4-BE49-F238E27FC236}">
                <a16:creationId xmlns:a16="http://schemas.microsoft.com/office/drawing/2014/main" id="{45A16232-26A5-5976-4EB0-BDA2944D376A}"/>
              </a:ext>
              <a:ext uri="{C183D7F6-B498-43B3-948B-1728B52AA6E4}">
                <adec:decorative xmlns:adec="http://schemas.microsoft.com/office/drawing/2017/decorative" val="1"/>
              </a:ext>
            </a:extLst>
          </p:cNvPr>
          <p:cNvSpPr/>
          <p:nvPr/>
        </p:nvSpPr>
        <p:spPr>
          <a:xfrm rot="5400000">
            <a:off x="3410144" y="2359060"/>
            <a:ext cx="1088802" cy="7909089"/>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34" name="Speaker tag"/>
          <p:cNvSpPr txBox="1"/>
          <p:nvPr/>
        </p:nvSpPr>
        <p:spPr>
          <a:xfrm>
            <a:off x="850392" y="6455664"/>
            <a:ext cx="2743200" cy="274320"/>
          </a:xfrm>
          <a:prstGeom prst="rect">
            <a:avLst/>
          </a:prstGeom>
          <a:noFill/>
        </p:spPr>
        <p:txBody>
          <a:bodyPr wrap="square" lIns="36576" tIns="18288" rIns="36576" bIns="18288" anchor="t">
            <a:spAutoFit/>
          </a:bodyPr>
          <a:lstStyle/>
          <a:p>
            <a:pPr algn="l">
              <a:spcAft>
                <a:spcPts val="400"/>
              </a:spcAft>
            </a:pPr>
            <a:r>
              <a:rPr sz="1000" b="0" dirty="0">
                <a:solidFill>
                  <a:srgbClr val="5F6266"/>
                </a:solidFill>
              </a:rPr>
              <a:t>Ayushi</a:t>
            </a:r>
          </a:p>
        </p:txBody>
      </p:sp>
    </p:spTree>
    <p:extLst>
      <p:ext uri="{BB962C8B-B14F-4D97-AF65-F5344CB8AC3E}">
        <p14:creationId xmlns:p14="http://schemas.microsoft.com/office/powerpoint/2010/main" val="121697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6A12F8-DD2F-AE73-677F-D5310D6D52B5}"/>
              </a:ext>
            </a:extLst>
          </p:cNvPr>
          <p:cNvSpPr>
            <a:spLocks noGrp="1"/>
          </p:cNvSpPr>
          <p:nvPr>
            <p:ph type="title"/>
          </p:nvPr>
        </p:nvSpPr>
        <p:spPr>
          <a:xfrm>
            <a:off x="1907196" y="2188196"/>
            <a:ext cx="5985159" cy="1594507"/>
          </a:xfrm>
        </p:spPr>
        <p:txBody>
          <a:bodyPr/>
          <a:lstStyle/>
          <a:p>
            <a:r>
              <a:rPr lang="en-US" dirty="0"/>
              <a:t>Thank you</a:t>
            </a:r>
          </a:p>
        </p:txBody>
      </p:sp>
      <p:sp>
        <p:nvSpPr>
          <p:cNvPr id="15" name="Text Placeholder 14">
            <a:extLst>
              <a:ext uri="{FF2B5EF4-FFF2-40B4-BE49-F238E27FC236}">
                <a16:creationId xmlns:a16="http://schemas.microsoft.com/office/drawing/2014/main" id="{791AF693-3675-52A5-9E8E-C071048A1A4D}"/>
              </a:ext>
            </a:extLst>
          </p:cNvPr>
          <p:cNvSpPr>
            <a:spLocks noGrp="1"/>
          </p:cNvSpPr>
          <p:nvPr>
            <p:ph type="body" idx="1"/>
          </p:nvPr>
        </p:nvSpPr>
        <p:spPr>
          <a:xfrm>
            <a:off x="1907196" y="4078224"/>
            <a:ext cx="5444517" cy="1731890"/>
          </a:xfrm>
        </p:spPr>
        <p:txBody>
          <a:bodyPr/>
          <a:lstStyle/>
          <a:p>
            <a:r>
              <a:rPr lang="en-US" dirty="0"/>
              <a:t>Adwaaiit Pande · Ayushi Mishra</a:t>
            </a:r>
          </a:p>
          <a:p>
            <a:r>
              <a:rPr lang="en-US" dirty="0"/>
              <a:t>Robo-advisory portal:</a:t>
            </a:r>
          </a:p>
          <a:p>
            <a:r>
              <a:rPr lang="en-US" dirty="0"/>
              <a:t>mba680-robo-advisor.vercel.app</a:t>
            </a:r>
          </a:p>
          <a:p>
            <a:r>
              <a:rPr lang="en-US" dirty="0"/>
              <a:t>Questions?</a:t>
            </a:r>
          </a:p>
        </p:txBody>
      </p:sp>
      <p:sp>
        <p:nvSpPr>
          <p:cNvPr id="16" name="QR card"/>
          <p:cNvSpPr/>
          <p:nvPr/>
        </p:nvSpPr>
        <p:spPr>
          <a:xfrm>
            <a:off x="9189720" y="2331720"/>
            <a:ext cx="2194560" cy="26060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QR evaluate view" descr="qr_evaluate.png"/>
          <p:cNvPicPr>
            <a:picLocks noChangeAspect="1"/>
          </p:cNvPicPr>
          <p:nvPr/>
        </p:nvPicPr>
        <p:blipFill>
          <a:blip r:embed="rId3"/>
          <a:stretch>
            <a:fillRect/>
          </a:stretch>
        </p:blipFill>
        <p:spPr>
          <a:xfrm>
            <a:off x="9372600" y="2468880"/>
            <a:ext cx="1828800" cy="1828800"/>
          </a:xfrm>
          <a:prstGeom prst="rect">
            <a:avLst/>
          </a:prstGeom>
        </p:spPr>
      </p:pic>
      <p:sp>
        <p:nvSpPr>
          <p:cNvPr id="18" name="TextBox 17"/>
          <p:cNvSpPr txBox="1"/>
          <p:nvPr/>
        </p:nvSpPr>
        <p:spPr>
          <a:xfrm>
            <a:off x="9235440" y="4389120"/>
            <a:ext cx="2103120" cy="411480"/>
          </a:xfrm>
          <a:prstGeom prst="rect">
            <a:avLst/>
          </a:prstGeom>
          <a:noFill/>
        </p:spPr>
        <p:txBody>
          <a:bodyPr wrap="square" lIns="36576" tIns="18288" rIns="36576" bIns="18288" anchor="t">
            <a:spAutoFit/>
          </a:bodyPr>
          <a:lstStyle/>
          <a:p>
            <a:pPr algn="ctr">
              <a:spcAft>
                <a:spcPts val="400"/>
              </a:spcAft>
            </a:pPr>
            <a:r>
              <a:rPr sz="1200" b="1">
                <a:solidFill>
                  <a:srgbClr val="36393B"/>
                </a:solidFill>
              </a:rPr>
              <a:t>Scan: full project view</a:t>
            </a:r>
          </a:p>
        </p:txBody>
      </p:sp>
    </p:spTree>
    <p:extLst>
      <p:ext uri="{BB962C8B-B14F-4D97-AF65-F5344CB8AC3E}">
        <p14:creationId xmlns:p14="http://schemas.microsoft.com/office/powerpoint/2010/main" val="1023783487"/>
      </p:ext>
    </p:extLst>
  </p:cSld>
  <p:clrMapOvr>
    <a:masterClrMapping/>
  </p:clrMapOvr>
</p:sld>
</file>

<file path=ppt/theme/theme1.xml><?xml version="1.0" encoding="utf-8"?>
<a:theme xmlns:a="http://schemas.openxmlformats.org/drawingml/2006/main" name="Custom">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051434_win32_KB_V3.potx" id="{43D84336-549C-4EAD-AE8D-BE1D65DE3314}" vid="{2C1BB0A5-2565-4EB8-A5F5-FF12201C5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D1C4F3-182B-4FFD-86F3-85933C0520B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A0E3FE2-6B9B-4C9A-84D9-AD118750DE60}">
  <ds:schemaRefs>
    <ds:schemaRef ds:uri="http://schemas.microsoft.com/sharepoint/v3/contenttype/forms"/>
  </ds:schemaRefs>
</ds:datastoreItem>
</file>

<file path=customXml/itemProps3.xml><?xml version="1.0" encoding="utf-8"?>
<ds:datastoreItem xmlns:ds="http://schemas.openxmlformats.org/officeDocument/2006/customXml" ds:itemID="{F6D4D42E-C7BD-4080-9A83-56BA58F91A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{6C685447-D573-4BD3-954E-4D2AB5ED6BB2}TFe33beb5d-e502-4448-a67e-cd378462b5dc44b6c264_win32-f98e54472961</Template>
  <TotalTime>2</TotalTime>
  <Words>3149</Words>
  <Application>Microsoft Office PowerPoint</Application>
  <PresentationFormat>Widescreen</PresentationFormat>
  <Paragraphs>295</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Avenir Next LT Pro</vt:lpstr>
      <vt:lpstr>Avenir Next LT Pro Light</vt:lpstr>
      <vt:lpstr>Calibri</vt:lpstr>
      <vt:lpstr>Custom</vt:lpstr>
      <vt:lpstr>Robo-advisory portfolio design</vt:lpstr>
      <vt:lpstr>Our approach</vt:lpstr>
      <vt:lpstr>Survey instruments</vt:lpstr>
      <vt:lpstr>Step 4: the elicitation engine</vt:lpstr>
      <vt:lpstr>Utility &amp; value functions</vt:lpstr>
      <vt:lpstr>Weighting &amp; discounting</vt:lpstr>
      <vt:lpstr>Results &amp; advice</vt:lpstr>
      <vt:lpstr>Survey outcomes</vt:lpstr>
      <vt:lpstr>EUT: one portfolio for all</vt:lpstr>
      <vt:lpstr>SP/A-BPT: λ sets the mix</vt:lpstr>
      <vt:lpstr>Personality in the advice</vt:lpstr>
      <vt:lpstr>The robo-advisory portal</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Adwaaiit Pande</dc:creator>
  <cp:lastModifiedBy>Adwaaiit Pande</cp:lastModifiedBy>
  <cp:revision>2</cp:revision>
  <dcterms:created xsi:type="dcterms:W3CDTF">2026-10-05T16:12:43Z</dcterms:created>
  <dcterms:modified xsi:type="dcterms:W3CDTF">2026-10-05T21:17:10Z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