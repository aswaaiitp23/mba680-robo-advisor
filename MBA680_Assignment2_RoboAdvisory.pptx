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310" r:id="rId5"/>
    <p:sldId id="311" r:id="rId26"/>
    <p:sldId id="307" r:id="rId13"/>
    <p:sldId id="308" r:id="rId14"/>
    <p:sldId id="302" r:id="rId12"/>
    <p:sldId id="300" r:id="rId15"/>
    <p:sldId id="306" r:id="rId11"/>
    <p:sldId id="312" r:id="rId27"/>
    <p:sldId id="313" r:id="rId28"/>
    <p:sldId id="314" r:id="rId29"/>
    <p:sldId id="315" r:id="rId30"/>
    <p:sldId id="279" r:id="rId10"/>
    <p:sldId id="316" r:id="rId31"/>
    <p:sldId id="309"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EE6"/>
    <a:srgbClr val="132BDC"/>
    <a:srgbClr val="DCE0FC"/>
    <a:srgbClr val="FDF200"/>
    <a:srgbClr val="80FBE5"/>
    <a:srgbClr val="3CF3D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26"/>
  </p:normalViewPr>
  <p:slideViewPr>
    <p:cSldViewPr snapToGrid="0">
      <p:cViewPr varScale="1">
        <p:scale>
          <a:sx n="121" d="100"/>
          <a:sy n="121" d="100"/>
        </p:scale>
        <p:origin x="80" y="84"/>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0" Type="http://schemas.openxmlformats.org/officeDocument/2006/relationships/slide" Target="slides/slide12.xml"/><Relationship Id="rId11" Type="http://schemas.openxmlformats.org/officeDocument/2006/relationships/slide" Target="slides/slide7.xml"/><Relationship Id="rId12" Type="http://schemas.openxmlformats.org/officeDocument/2006/relationships/slide" Target="slides/slide5.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6.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commentAuthors" Target="commentAuthor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 Id="rId26" Type="http://schemas.openxmlformats.org/officeDocument/2006/relationships/slide" Target="slides/slide2.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36393B"/>
                </a:solidFill>
              </a:rPr>
              <a:t>Utility (EUT, CRRA)</a:t>
            </a:r>
          </a:p>
          <a:p>
            <a:r>
              <a:rPr sz="1050" i="1" b="0">
                <a:solidFill>
                  <a:srgbClr val="5F6266"/>
                </a:solidFill>
              </a:rPr>
              <a:t>concave = risk-averse</a:t>
            </a:r>
          </a:p>
        </c:rich>
      </c:tx>
      <c:layout/>
      <c:overlay val="0"/>
    </c:title>
    <c:plotArea>
      <c:scatterChart>
        <c:scatterStyle val="lineMarker"/>
        <c:varyColors val="0"/>
        <c:ser>
          <c:idx val="0"/>
          <c:order val="0"/>
          <c:tx>
            <c:strRef>
              <c:f>Sheet1!$B$1</c:f>
              <c:strCache>
                <c:ptCount val="1"/>
                <c:pt idx="0">
                  <c:v>Shree Charan</c:v>
                </c:pt>
              </c:strCache>
            </c:strRef>
          </c:tx>
          <c:spPr>
            <a:ln w="28575">
              <a:solidFill>
                <a:srgbClr val="4D62EF"/>
              </a:solidFill>
            </a:ln>
          </c:spPr>
          <c:marker>
            <c:symbol val="none"/>
          </c:marker>
          <c:xVal>
            <c:numRef>
              <c:f>Sheet1!$A$2:$A$41</c:f>
              <c:numCache>
                <c:formatCode>General</c:formatCode>
                <c:ptCount val="40"/>
                <c:pt idx="0">
                  <c:v>0.35</c:v>
                </c:pt>
                <c:pt idx="1">
                  <c:v>0.40512820512820513</c:v>
                </c:pt>
                <c:pt idx="2">
                  <c:v>0.46025641025641023</c:v>
                </c:pt>
                <c:pt idx="3">
                  <c:v>0.5153846153846153</c:v>
                </c:pt>
                <c:pt idx="4">
                  <c:v>0.5705128205128205</c:v>
                </c:pt>
                <c:pt idx="5">
                  <c:v>0.6256410256410256</c:v>
                </c:pt>
                <c:pt idx="6">
                  <c:v>0.6807692307692308</c:v>
                </c:pt>
                <c:pt idx="7">
                  <c:v>0.7358974358974358</c:v>
                </c:pt>
                <c:pt idx="8">
                  <c:v>0.791025641025641</c:v>
                </c:pt>
                <c:pt idx="9">
                  <c:v>0.8461538461538461</c:v>
                </c:pt>
                <c:pt idx="10">
                  <c:v>0.9012820512820513</c:v>
                </c:pt>
                <c:pt idx="11">
                  <c:v>0.9564102564102563</c:v>
                </c:pt>
                <c:pt idx="12">
                  <c:v>1.0115384615384615</c:v>
                </c:pt>
                <c:pt idx="13">
                  <c:v>1.0666666666666667</c:v>
                </c:pt>
                <c:pt idx="14">
                  <c:v>1.1217948717948718</c:v>
                </c:pt>
                <c:pt idx="15">
                  <c:v>1.1769230769230767</c:v>
                </c:pt>
                <c:pt idx="16">
                  <c:v>1.2320512820512821</c:v>
                </c:pt>
                <c:pt idx="17">
                  <c:v>1.287179487179487</c:v>
                </c:pt>
                <c:pt idx="18">
                  <c:v>1.3423076923076924</c:v>
                </c:pt>
                <c:pt idx="19">
                  <c:v>1.3974358974358974</c:v>
                </c:pt>
                <c:pt idx="20">
                  <c:v>1.4525641025641027</c:v>
                </c:pt>
                <c:pt idx="21">
                  <c:v>1.5076923076923077</c:v>
                </c:pt>
                <c:pt idx="22">
                  <c:v>1.5628205128205126</c:v>
                </c:pt>
                <c:pt idx="23">
                  <c:v>1.617948717948718</c:v>
                </c:pt>
                <c:pt idx="24">
                  <c:v>1.673076923076923</c:v>
                </c:pt>
                <c:pt idx="25">
                  <c:v>1.7282051282051283</c:v>
                </c:pt>
                <c:pt idx="26">
                  <c:v>1.7833333333333332</c:v>
                </c:pt>
                <c:pt idx="27">
                  <c:v>1.8384615384615386</c:v>
                </c:pt>
                <c:pt idx="28">
                  <c:v>1.8935897435897435</c:v>
                </c:pt>
                <c:pt idx="29">
                  <c:v>1.9487179487179485</c:v>
                </c:pt>
                <c:pt idx="30">
                  <c:v>2.003846153846154</c:v>
                </c:pt>
                <c:pt idx="31">
                  <c:v>2.0589743589743588</c:v>
                </c:pt>
                <c:pt idx="32">
                  <c:v>2.114102564102564</c:v>
                </c:pt>
                <c:pt idx="33">
                  <c:v>2.169230769230769</c:v>
                </c:pt>
                <c:pt idx="34">
                  <c:v>2.2243589743589745</c:v>
                </c:pt>
                <c:pt idx="35">
                  <c:v>2.2794871794871794</c:v>
                </c:pt>
                <c:pt idx="36">
                  <c:v>2.3346153846153848</c:v>
                </c:pt>
                <c:pt idx="37">
                  <c:v>2.3897435897435897</c:v>
                </c:pt>
                <c:pt idx="38">
                  <c:v>2.444871794871795</c:v>
                </c:pt>
                <c:pt idx="39">
                  <c:v>2.5</c:v>
                </c:pt>
              </c:numCache>
            </c:numRef>
          </c:xVal>
          <c:yVal>
            <c:numRef>
              <c:f>Sheet1!$B$2:$B$41</c:f>
              <c:numCache>
                <c:formatCode>General</c:formatCode>
                <c:ptCount val="40"/>
                <c:pt idx="0">
                  <c:v>-2.1199284181368236</c:v>
                </c:pt>
                <c:pt idx="1">
                  <c:v>-1.6414979958009728</c:v>
                </c:pt>
                <c:pt idx="2">
                  <c:v>-1.288122186975478</c:v>
                </c:pt>
                <c:pt idx="3">
                  <c:v>-1.017360497697178</c:v>
                </c:pt>
                <c:pt idx="4">
                  <c:v>-0.8038523060186443</c:v>
                </c:pt>
                <c:pt idx="5">
                  <c:v>-0.6315540795444986</c:v>
                </c:pt>
                <c:pt idx="6">
                  <c:v>-0.48984399534248996</c:v>
                </c:pt>
                <c:pt idx="7">
                  <c:v>-0.371423338226004</c:v>
                </c:pt>
                <c:pt idx="8">
                  <c:v>-0.2711190619540164</c:v>
                </c:pt>
                <c:pt idx="9">
                  <c:v>-0.18516732807675587</c:v>
                </c:pt>
                <c:pt idx="10">
                  <c:v>-0.11076736250095431</c:v>
                </c:pt>
                <c:pt idx="11">
                  <c:v>-0.0457940081131176</c:v>
                </c:pt>
                <c:pt idx="12">
                  <c:v>0.011393010264129285</c:v>
                </c:pt>
                <c:pt idx="13">
                  <c:v>0.06207894317701683</c:v>
                </c:pt>
                <c:pt idx="14">
                  <c:v>0.10728445132371695</c:v>
                </c:pt>
                <c:pt idx="15">
                  <c:v>0.14782986453639554</c:v>
                </c:pt>
                <c:pt idx="16">
                  <c:v>0.1843816691417514</c:v>
                </c:pt>
                <c:pt idx="17">
                  <c:v>0.21748668647992409</c:v>
                </c:pt>
                <c:pt idx="18">
                  <c:v>0.2475975715525049</c:v>
                </c:pt>
                <c:pt idx="19">
                  <c:v>0.27509209038034543</c:v>
                </c:pt>
                <c:pt idx="20">
                  <c:v>0.3002878716816431</c:v>
                </c:pt>
                <c:pt idx="21">
                  <c:v>0.3234538214376371</c:v>
                </c:pt>
                <c:pt idx="22">
                  <c:v>0.3448190459767141</c:v>
                </c:pt>
                <c:pt idx="23">
                  <c:v>0.36457989349786896</c:v>
                </c:pt>
                <c:pt idx="24">
                  <c:v>0.3829055595258167</c:v>
                </c:pt>
                <c:pt idx="25">
                  <c:v>0.39994258550630923</c:v>
                </c:pt>
                <c:pt idx="26">
                  <c:v>0.41581849646586994</c:v>
                </c:pt>
                <c:pt idx="27">
                  <c:v>0.4306447633043788</c:v>
                </c:pt>
                <c:pt idx="28">
                  <c:v>0.444519231067289</c:v>
                </c:pt>
                <c:pt idx="29">
                  <c:v>0.45752812181053754</c:v>
                </c:pt>
                <c:pt idx="30">
                  <c:v>0.4697476962078696</c:v>
                </c:pt>
                <c:pt idx="31">
                  <c:v>0.4812456396028319</c:v>
                </c:pt>
                <c:pt idx="32">
                  <c:v>0.49208222417875846</c:v>
                </c:pt>
                <c:pt idx="33">
                  <c:v>0.5023112881662156</c:v>
                </c:pt>
                <c:pt idx="34">
                  <c:v>0.5119810647019825</c:v>
                </c:pt>
                <c:pt idx="35">
                  <c:v>0.5211348864936316</c:v>
                </c:pt>
                <c:pt idx="36">
                  <c:v>0.5298117873853313</c:v>
                </c:pt>
                <c:pt idx="37">
                  <c:v>0.5380470179342614</c:v>
                </c:pt>
                <c:pt idx="38">
                  <c:v>0.5458724889467625</c:v>
                </c:pt>
                <c:pt idx="39">
                  <c:v>0.5533171544034677</c:v>
                </c:pt>
              </c:numCache>
            </c:numRef>
          </c:yVal>
          <c:smooth val="0"/>
        </c:ser>
        <c:ser>
          <c:idx val="1"/>
          <c:order val="1"/>
          <c:tx>
            <c:strRef>
              <c:f>Sheet1!$B$43</c:f>
              <c:strCache>
                <c:ptCount val="1"/>
                <c:pt idx="0">
                  <c:v>Kshitij</c:v>
                </c:pt>
              </c:strCache>
            </c:strRef>
          </c:tx>
          <c:spPr>
            <a:ln w="28575">
              <a:solidFill>
                <a:srgbClr val="FD4C00"/>
              </a:solidFill>
            </a:ln>
          </c:spPr>
          <c:marker>
            <c:symbol val="none"/>
          </c:marker>
          <c:xVal>
            <c:numRef>
              <c:f>Sheet1!$A$44:$A$83</c:f>
              <c:numCache>
                <c:formatCode>General</c:formatCode>
                <c:ptCount val="40"/>
                <c:pt idx="0">
                  <c:v>0.35</c:v>
                </c:pt>
                <c:pt idx="1">
                  <c:v>0.40512820512820513</c:v>
                </c:pt>
                <c:pt idx="2">
                  <c:v>0.46025641025641023</c:v>
                </c:pt>
                <c:pt idx="3">
                  <c:v>0.5153846153846153</c:v>
                </c:pt>
                <c:pt idx="4">
                  <c:v>0.5705128205128205</c:v>
                </c:pt>
                <c:pt idx="5">
                  <c:v>0.6256410256410256</c:v>
                </c:pt>
                <c:pt idx="6">
                  <c:v>0.6807692307692308</c:v>
                </c:pt>
                <c:pt idx="7">
                  <c:v>0.7358974358974358</c:v>
                </c:pt>
                <c:pt idx="8">
                  <c:v>0.791025641025641</c:v>
                </c:pt>
                <c:pt idx="9">
                  <c:v>0.8461538461538461</c:v>
                </c:pt>
                <c:pt idx="10">
                  <c:v>0.9012820512820513</c:v>
                </c:pt>
                <c:pt idx="11">
                  <c:v>0.9564102564102563</c:v>
                </c:pt>
                <c:pt idx="12">
                  <c:v>1.0115384615384615</c:v>
                </c:pt>
                <c:pt idx="13">
                  <c:v>1.0666666666666667</c:v>
                </c:pt>
                <c:pt idx="14">
                  <c:v>1.1217948717948718</c:v>
                </c:pt>
                <c:pt idx="15">
                  <c:v>1.1769230769230767</c:v>
                </c:pt>
                <c:pt idx="16">
                  <c:v>1.2320512820512821</c:v>
                </c:pt>
                <c:pt idx="17">
                  <c:v>1.287179487179487</c:v>
                </c:pt>
                <c:pt idx="18">
                  <c:v>1.3423076923076924</c:v>
                </c:pt>
                <c:pt idx="19">
                  <c:v>1.3974358974358974</c:v>
                </c:pt>
                <c:pt idx="20">
                  <c:v>1.4525641025641027</c:v>
                </c:pt>
                <c:pt idx="21">
                  <c:v>1.5076923076923077</c:v>
                </c:pt>
                <c:pt idx="22">
                  <c:v>1.5628205128205126</c:v>
                </c:pt>
                <c:pt idx="23">
                  <c:v>1.617948717948718</c:v>
                </c:pt>
                <c:pt idx="24">
                  <c:v>1.673076923076923</c:v>
                </c:pt>
                <c:pt idx="25">
                  <c:v>1.7282051282051283</c:v>
                </c:pt>
                <c:pt idx="26">
                  <c:v>1.7833333333333332</c:v>
                </c:pt>
                <c:pt idx="27">
                  <c:v>1.8384615384615386</c:v>
                </c:pt>
                <c:pt idx="28">
                  <c:v>1.8935897435897435</c:v>
                </c:pt>
                <c:pt idx="29">
                  <c:v>1.9487179487179485</c:v>
                </c:pt>
                <c:pt idx="30">
                  <c:v>2.003846153846154</c:v>
                </c:pt>
                <c:pt idx="31">
                  <c:v>2.0589743589743588</c:v>
                </c:pt>
                <c:pt idx="32">
                  <c:v>2.114102564102564</c:v>
                </c:pt>
                <c:pt idx="33">
                  <c:v>2.169230769230769</c:v>
                </c:pt>
                <c:pt idx="34">
                  <c:v>2.2243589743589745</c:v>
                </c:pt>
                <c:pt idx="35">
                  <c:v>2.2794871794871794</c:v>
                </c:pt>
                <c:pt idx="36">
                  <c:v>2.3346153846153848</c:v>
                </c:pt>
                <c:pt idx="37">
                  <c:v>2.3897435897435897</c:v>
                </c:pt>
                <c:pt idx="38">
                  <c:v>2.444871794871795</c:v>
                </c:pt>
                <c:pt idx="39">
                  <c:v>2.5</c:v>
                </c:pt>
              </c:numCache>
            </c:numRef>
          </c:xVal>
          <c:yVal>
            <c:numRef>
              <c:f>Sheet1!$B$44:$B$83</c:f>
              <c:numCache>
                <c:formatCode>General</c:formatCode>
                <c:ptCount val="40"/>
                <c:pt idx="0">
                  <c:v>-0.528624805061009</c:v>
                </c:pt>
                <c:pt idx="1">
                  <c:v>-0.4947581231378046</c:v>
                </c:pt>
                <c:pt idx="2">
                  <c:v>-0.4585012837216948</c:v>
                </c:pt>
                <c:pt idx="3">
                  <c:v>-0.4200025833888927</c:v>
                </c:pt>
                <c:pt idx="4">
                  <c:v>-0.37938570005975586</c:v>
                </c:pt>
                <c:pt idx="5">
                  <c:v>-0.33675583854623575</c:v>
                </c:pt>
                <c:pt idx="6">
                  <c:v>-0.29220391997848155</c:v>
                </c:pt>
                <c:pt idx="7">
                  <c:v>-0.24580954996133175</c:v>
                </c:pt>
                <c:pt idx="8">
                  <c:v>-0.1976431885204386</c:v>
                </c:pt>
                <c:pt idx="9">
                  <c:v>-0.1477677784058565</c:v>
                </c:pt>
                <c:pt idx="10">
                  <c:v>-0.09623999415935917</c:v>
                </c:pt>
                <c:pt idx="11">
                  <c:v>-0.04311121850730637</c:v>
                </c:pt>
                <c:pt idx="12">
                  <c:v>0.011571681829761685</c:v>
                </c:pt>
                <c:pt idx="13">
                  <c:v>0.06776573083636943</c:v>
                </c:pt>
                <c:pt idx="14">
                  <c:v>0.12543133281974672</c:v>
                </c:pt>
                <c:pt idx="15">
                  <c:v>0.18453185113314538</c:v>
                </c:pt>
                <c:pt idx="16">
                  <c:v>0.24503325694481828</c:v>
                </c:pt>
                <c:pt idx="17">
                  <c:v>0.30690383375157265</c:v>
                </c:pt>
                <c:pt idx="18">
                  <c:v>0.3701139267509436</c:v>
                </c:pt>
                <c:pt idx="19">
                  <c:v>0.4346357286770968</c:v>
                </c:pt>
                <c:pt idx="20">
                  <c:v>0.500443095549687</c:v>
                </c:pt>
                <c:pt idx="21">
                  <c:v>0.5675113871684555</c:v>
                </c:pt>
                <c:pt idx="22">
                  <c:v>0.6358173282372986</c:v>
                </c:pt>
                <c:pt idx="23">
                  <c:v>0.7053388868087621</c:v>
                </c:pt>
                <c:pt idx="24">
                  <c:v>0.7760551673664896</c:v>
                </c:pt>
                <c:pt idx="25">
                  <c:v>0.8479463163541435</c:v>
                </c:pt>
                <c:pt idx="26">
                  <c:v>0.9209934383474693</c:v>
                </c:pt>
                <c:pt idx="27">
                  <c:v>0.9951785213756402</c:v>
                </c:pt>
                <c:pt idx="28">
                  <c:v>1.0704843701465647</c:v>
                </c:pt>
                <c:pt idx="29">
                  <c:v>1.1468945461319848</c:v>
                </c:pt>
                <c:pt idx="30">
                  <c:v>1.2243933136319856</c:v>
                </c:pt>
                <c:pt idx="31">
                  <c:v>1.3029655910728388</c:v>
                </c:pt>
                <c:pt idx="32">
                  <c:v>1.382596906902834</c:v>
                </c:pt>
                <c:pt idx="33">
                  <c:v>1.4632733595425373</c:v>
                </c:pt>
                <c:pt idx="34">
                  <c:v>1.5449815809224863</c:v>
                </c:pt>
                <c:pt idx="35">
                  <c:v>1.6277087032054098</c:v>
                </c:pt>
                <c:pt idx="36">
                  <c:v>1.711442328344057</c:v>
                </c:pt>
                <c:pt idx="37">
                  <c:v>1.7961705001713064</c:v>
                </c:pt>
                <c:pt idx="38">
                  <c:v>1.8818816787580086</c:v>
                </c:pt>
                <c:pt idx="39">
                  <c:v>1.9685647168069826</c:v>
                </c:pt>
              </c:numCache>
            </c:numRef>
          </c:yVal>
          <c:smooth val="0"/>
        </c:ser>
        <c:ser>
          <c:idx val="2"/>
          <c:order val="2"/>
          <c:tx>
            <c:strRef>
              <c:f>Sheet1!$B$85</c:f>
              <c:strCache>
                <c:ptCount val="1"/>
                <c:pt idx="0">
                  <c:v>Kartika</c:v>
                </c:pt>
              </c:strCache>
            </c:strRef>
          </c:tx>
          <c:spPr>
            <a:ln w="28575">
              <a:solidFill>
                <a:srgbClr val="12A385"/>
              </a:solidFill>
            </a:ln>
          </c:spPr>
          <c:marker>
            <c:symbol val="none"/>
          </c:marker>
          <c:xVal>
            <c:numRef>
              <c:f>Sheet1!$A$86:$A$125</c:f>
              <c:numCache>
                <c:formatCode>General</c:formatCode>
                <c:ptCount val="40"/>
                <c:pt idx="0">
                  <c:v>0.35</c:v>
                </c:pt>
                <c:pt idx="1">
                  <c:v>0.40512820512820513</c:v>
                </c:pt>
                <c:pt idx="2">
                  <c:v>0.46025641025641023</c:v>
                </c:pt>
                <c:pt idx="3">
                  <c:v>0.5153846153846153</c:v>
                </c:pt>
                <c:pt idx="4">
                  <c:v>0.5705128205128205</c:v>
                </c:pt>
                <c:pt idx="5">
                  <c:v>0.6256410256410256</c:v>
                </c:pt>
                <c:pt idx="6">
                  <c:v>0.6807692307692308</c:v>
                </c:pt>
                <c:pt idx="7">
                  <c:v>0.7358974358974358</c:v>
                </c:pt>
                <c:pt idx="8">
                  <c:v>0.791025641025641</c:v>
                </c:pt>
                <c:pt idx="9">
                  <c:v>0.8461538461538461</c:v>
                </c:pt>
                <c:pt idx="10">
                  <c:v>0.9012820512820513</c:v>
                </c:pt>
                <c:pt idx="11">
                  <c:v>0.9564102564102563</c:v>
                </c:pt>
                <c:pt idx="12">
                  <c:v>1.0115384615384615</c:v>
                </c:pt>
                <c:pt idx="13">
                  <c:v>1.0666666666666667</c:v>
                </c:pt>
                <c:pt idx="14">
                  <c:v>1.1217948717948718</c:v>
                </c:pt>
                <c:pt idx="15">
                  <c:v>1.1769230769230767</c:v>
                </c:pt>
                <c:pt idx="16">
                  <c:v>1.2320512820512821</c:v>
                </c:pt>
                <c:pt idx="17">
                  <c:v>1.287179487179487</c:v>
                </c:pt>
                <c:pt idx="18">
                  <c:v>1.3423076923076924</c:v>
                </c:pt>
                <c:pt idx="19">
                  <c:v>1.3974358974358974</c:v>
                </c:pt>
                <c:pt idx="20">
                  <c:v>1.4525641025641027</c:v>
                </c:pt>
                <c:pt idx="21">
                  <c:v>1.5076923076923077</c:v>
                </c:pt>
                <c:pt idx="22">
                  <c:v>1.5628205128205126</c:v>
                </c:pt>
                <c:pt idx="23">
                  <c:v>1.617948717948718</c:v>
                </c:pt>
                <c:pt idx="24">
                  <c:v>1.673076923076923</c:v>
                </c:pt>
                <c:pt idx="25">
                  <c:v>1.7282051282051283</c:v>
                </c:pt>
                <c:pt idx="26">
                  <c:v>1.7833333333333332</c:v>
                </c:pt>
                <c:pt idx="27">
                  <c:v>1.8384615384615386</c:v>
                </c:pt>
                <c:pt idx="28">
                  <c:v>1.8935897435897435</c:v>
                </c:pt>
                <c:pt idx="29">
                  <c:v>1.9487179487179485</c:v>
                </c:pt>
                <c:pt idx="30">
                  <c:v>2.003846153846154</c:v>
                </c:pt>
                <c:pt idx="31">
                  <c:v>2.0589743589743588</c:v>
                </c:pt>
                <c:pt idx="32">
                  <c:v>2.114102564102564</c:v>
                </c:pt>
                <c:pt idx="33">
                  <c:v>2.169230769230769</c:v>
                </c:pt>
                <c:pt idx="34">
                  <c:v>2.2243589743589745</c:v>
                </c:pt>
                <c:pt idx="35">
                  <c:v>2.2794871794871794</c:v>
                </c:pt>
                <c:pt idx="36">
                  <c:v>2.3346153846153848</c:v>
                </c:pt>
                <c:pt idx="37">
                  <c:v>2.3897435897435897</c:v>
                </c:pt>
                <c:pt idx="38">
                  <c:v>2.444871794871795</c:v>
                </c:pt>
                <c:pt idx="39">
                  <c:v>2.5</c:v>
                </c:pt>
              </c:numCache>
            </c:numRef>
          </c:xVal>
          <c:yVal>
            <c:numRef>
              <c:f>Sheet1!$B$86:$B$125</c:f>
              <c:numCache>
                <c:formatCode>General</c:formatCode>
                <c:ptCount val="40"/>
                <c:pt idx="0">
                  <c:v>-0.7102850495239346</c:v>
                </c:pt>
                <c:pt idx="1">
                  <c:v>-0.6432860272525187</c:v>
                </c:pt>
                <c:pt idx="2">
                  <c:v>-0.5780918797612951</c:v>
                </c:pt>
                <c:pt idx="3">
                  <c:v>-0.5144449638569496</c:v>
                </c:pt>
                <c:pt idx="4">
                  <c:v>-0.4521479970541076</c:v>
                </c:pt>
                <c:pt idx="5">
                  <c:v>-0.39104544226220533</c:v>
                </c:pt>
                <c:pt idx="6">
                  <c:v>-0.33101177306145907</c:v>
                </c:pt>
                <c:pt idx="7">
                  <c:v>-0.27194372272514755</c:v>
                </c:pt>
                <c:pt idx="8">
                  <c:v>-0.21375496650197723</c:v>
                </c:pt>
                <c:pt idx="9">
                  <c:v>-0.156372356552745</c:v>
                </c:pt>
                <c:pt idx="10">
                  <c:v>-0.099733184415597</c:v>
                </c:pt>
                <c:pt idx="11">
                  <c:v>-0.043783144810652236</c:v>
                </c:pt>
                <c:pt idx="12">
                  <c:v>0.011525208989324187</c:v>
                </c:pt>
                <c:pt idx="13">
                  <c:v>0.06623365722321334</c:v>
                </c:pt>
                <c:pt idx="14">
                  <c:v>0.1203792476768778</c:v>
                </c:pt>
                <c:pt idx="15">
                  <c:v>0.17399503747389217</c:v>
                </c:pt>
                <c:pt idx="16">
                  <c:v>0.22711068933740114</c:v>
                </c:pt>
                <c:pt idx="17">
                  <c:v>0.2797529561041878</c:v>
                </c:pt>
                <c:pt idx="18">
                  <c:v>0.3319460783196665</c:v>
                </c:pt>
                <c:pt idx="19">
                  <c:v>0.3837121134329885</c:v>
                </c:pt>
                <c:pt idx="20">
                  <c:v>0.43507121059105536</c:v>
                </c:pt>
                <c:pt idx="21">
                  <c:v>0.4860418417428894</c:v>
                </c:pt>
                <c:pt idx="22">
                  <c:v>0.5366409973424521</c:v>
                </c:pt>
                <c:pt idx="23">
                  <c:v>0.5868843531289732</c:v>
                </c:pt>
                <c:pt idx="24">
                  <c:v>0.6367864130979031</c:v>
                </c:pt>
                <c:pt idx="25">
                  <c:v>0.6863606327330912</c:v>
                </c:pt>
                <c:pt idx="26">
                  <c:v>0.7356195257673162</c:v>
                </c:pt>
                <c:pt idx="27">
                  <c:v>0.7845747571133396</c:v>
                </c:pt>
                <c:pt idx="28">
                  <c:v>0.8332372241173671</c:v>
                </c:pt>
                <c:pt idx="29">
                  <c:v>0.8816171278991447</c:v>
                </c:pt>
                <c:pt idx="30">
                  <c:v>0.9297240362340409</c:v>
                </c:pt>
                <c:pt idx="31">
                  <c:v>0.9775669391846975</c:v>
                </c:pt>
                <c:pt idx="32">
                  <c:v>1.0251542984897446</c:v>
                </c:pt>
                <c:pt idx="33">
                  <c:v>1.0724940915544585</c:v>
                </c:pt>
                <c:pt idx="34">
                  <c:v>1.1195938507553909</c:v>
                </c:pt>
                <c:pt idx="35">
                  <c:v>1.1664606986617398</c:v>
                </c:pt>
                <c:pt idx="36">
                  <c:v>1.2131013796860473</c:v>
                </c:pt>
                <c:pt idx="37">
                  <c:v>1.2595222886018576</c:v>
                </c:pt>
                <c:pt idx="38">
                  <c:v>1.3057294963035087</c:v>
                </c:pt>
                <c:pt idx="39">
                  <c:v>1.3517287731308536</c:v>
                </c:pt>
              </c:numCache>
            </c:numRef>
          </c:yVal>
          <c:smooth val="0"/>
        </c:ser>
        <c:ser>
          <c:idx val="3"/>
          <c:order val="3"/>
          <c:tx>
            <c:strRef>
              <c:f>Sheet1!$B$127</c:f>
              <c:strCache>
                <c:ptCount val="1"/>
                <c:pt idx="0">
                  <c:v>Ayushi</c:v>
                </c:pt>
              </c:strCache>
            </c:strRef>
          </c:tx>
          <c:spPr>
            <a:ln w="28575">
              <a:solidFill>
                <a:srgbClr val="CA54FB"/>
              </a:solidFill>
            </a:ln>
          </c:spPr>
          <c:marker>
            <c:symbol val="none"/>
          </c:marker>
          <c:xVal>
            <c:numRef>
              <c:f>Sheet1!$A$128:$A$167</c:f>
              <c:numCache>
                <c:formatCode>General</c:formatCode>
                <c:ptCount val="40"/>
                <c:pt idx="0">
                  <c:v>0.35</c:v>
                </c:pt>
                <c:pt idx="1">
                  <c:v>0.40512820512820513</c:v>
                </c:pt>
                <c:pt idx="2">
                  <c:v>0.46025641025641023</c:v>
                </c:pt>
                <c:pt idx="3">
                  <c:v>0.5153846153846153</c:v>
                </c:pt>
                <c:pt idx="4">
                  <c:v>0.5705128205128205</c:v>
                </c:pt>
                <c:pt idx="5">
                  <c:v>0.6256410256410256</c:v>
                </c:pt>
                <c:pt idx="6">
                  <c:v>0.6807692307692308</c:v>
                </c:pt>
                <c:pt idx="7">
                  <c:v>0.7358974358974358</c:v>
                </c:pt>
                <c:pt idx="8">
                  <c:v>0.791025641025641</c:v>
                </c:pt>
                <c:pt idx="9">
                  <c:v>0.8461538461538461</c:v>
                </c:pt>
                <c:pt idx="10">
                  <c:v>0.9012820512820513</c:v>
                </c:pt>
                <c:pt idx="11">
                  <c:v>0.9564102564102563</c:v>
                </c:pt>
                <c:pt idx="12">
                  <c:v>1.0115384615384615</c:v>
                </c:pt>
                <c:pt idx="13">
                  <c:v>1.0666666666666667</c:v>
                </c:pt>
                <c:pt idx="14">
                  <c:v>1.1217948717948718</c:v>
                </c:pt>
                <c:pt idx="15">
                  <c:v>1.1769230769230767</c:v>
                </c:pt>
                <c:pt idx="16">
                  <c:v>1.2320512820512821</c:v>
                </c:pt>
                <c:pt idx="17">
                  <c:v>1.287179487179487</c:v>
                </c:pt>
                <c:pt idx="18">
                  <c:v>1.3423076923076924</c:v>
                </c:pt>
                <c:pt idx="19">
                  <c:v>1.3974358974358974</c:v>
                </c:pt>
                <c:pt idx="20">
                  <c:v>1.4525641025641027</c:v>
                </c:pt>
                <c:pt idx="21">
                  <c:v>1.5076923076923077</c:v>
                </c:pt>
                <c:pt idx="22">
                  <c:v>1.5628205128205126</c:v>
                </c:pt>
                <c:pt idx="23">
                  <c:v>1.617948717948718</c:v>
                </c:pt>
                <c:pt idx="24">
                  <c:v>1.673076923076923</c:v>
                </c:pt>
                <c:pt idx="25">
                  <c:v>1.7282051282051283</c:v>
                </c:pt>
                <c:pt idx="26">
                  <c:v>1.7833333333333332</c:v>
                </c:pt>
                <c:pt idx="27">
                  <c:v>1.8384615384615386</c:v>
                </c:pt>
                <c:pt idx="28">
                  <c:v>1.8935897435897435</c:v>
                </c:pt>
                <c:pt idx="29">
                  <c:v>1.9487179487179485</c:v>
                </c:pt>
                <c:pt idx="30">
                  <c:v>2.003846153846154</c:v>
                </c:pt>
                <c:pt idx="31">
                  <c:v>2.0589743589743588</c:v>
                </c:pt>
                <c:pt idx="32">
                  <c:v>2.114102564102564</c:v>
                </c:pt>
                <c:pt idx="33">
                  <c:v>2.169230769230769</c:v>
                </c:pt>
                <c:pt idx="34">
                  <c:v>2.2243589743589745</c:v>
                </c:pt>
                <c:pt idx="35">
                  <c:v>2.2794871794871794</c:v>
                </c:pt>
                <c:pt idx="36">
                  <c:v>2.3346153846153848</c:v>
                </c:pt>
                <c:pt idx="37">
                  <c:v>2.3897435897435897</c:v>
                </c:pt>
                <c:pt idx="38">
                  <c:v>2.444871794871795</c:v>
                </c:pt>
                <c:pt idx="39">
                  <c:v>2.5</c:v>
                </c:pt>
              </c:numCache>
            </c:numRef>
          </c:xVal>
          <c:yVal>
            <c:numRef>
              <c:f>Sheet1!$B$128:$B$167</c:f>
              <c:numCache>
                <c:formatCode>General</c:formatCode>
                <c:ptCount val="40"/>
                <c:pt idx="0">
                  <c:v>-2.1118912007724617</c:v>
                </c:pt>
                <c:pt idx="1">
                  <c:v>-1.6362623882503253</c:v>
                </c:pt>
                <c:pt idx="2">
                  <c:v>-1.2846660680834843</c:v>
                </c:pt>
                <c:pt idx="3">
                  <c:v>-1.0150726717624599</c:v>
                </c:pt>
                <c:pt idx="4">
                  <c:v>-0.8023484113708937</c:v>
                </c:pt>
                <c:pt idx="5">
                  <c:v>-0.630582750079027</c:v>
                </c:pt>
                <c:pt idx="6">
                  <c:v>-0.4892356640406953</c:v>
                </c:pt>
                <c:pt idx="7">
                  <c:v>-0.3710607413937761</c:v>
                </c:pt>
                <c:pt idx="8">
                  <c:v>-0.27091946965832947</c:v>
                </c:pt>
                <c:pt idx="9">
                  <c:v>-0.1850714324231103</c:v>
                </c:pt>
                <c:pt idx="10">
                  <c:v>-0.11073210646154667</c:v>
                </c:pt>
                <c:pt idx="11">
                  <c:v>-0.04578783065984514</c:v>
                </c:pt>
                <c:pt idx="12">
                  <c:v>0.01139340147995233</c:v>
                </c:pt>
                <c:pt idx="13">
                  <c:v>0.0620908074689431</c:v>
                </c:pt>
                <c:pt idx="14">
                  <c:v>0.10732059163775245</c:v>
                </c:pt>
                <c:pt idx="15">
                  <c:v>0.14789975710099235</c:v>
                </c:pt>
                <c:pt idx="16">
                  <c:v>0.18449228426737377</c:v>
                </c:pt>
                <c:pt idx="17">
                  <c:v>0.21764309243707275</c:v>
                </c:pt>
                <c:pt idx="18">
                  <c:v>0.2478033838288635</c:v>
                </c:pt>
                <c:pt idx="19">
                  <c:v>0.2753498092462744</c:v>
                </c:pt>
                <c:pt idx="20">
                  <c:v>0.30059913809455624</c:v>
                </c:pt>
                <c:pt idx="21">
                  <c:v>0.323819612583218</c:v>
                </c:pt>
                <c:pt idx="22">
                  <c:v>0.34523982574248907</c:v>
                </c:pt>
                <c:pt idx="23">
                  <c:v>0.3650557289910157</c:v>
                </c:pt>
                <c:pt idx="24">
                  <c:v>0.38343621179359544</c:v>
                </c:pt>
                <c:pt idx="25">
                  <c:v>0.4005275805076924</c:v>
                </c:pt>
                <c:pt idx="26">
                  <c:v>0.41645718081927746</c:v>
                </c:pt>
                <c:pt idx="27">
                  <c:v>0.4313363482248611</c:v>
                </c:pt>
                <c:pt idx="28">
                  <c:v>0.44526282708792153</c:v>
                </c:pt>
                <c:pt idx="29">
                  <c:v>0.45832276627466606</c:v>
                </c:pt>
                <c:pt idx="30">
                  <c:v>0.4705923750633727</c:v>
                </c:pt>
                <c:pt idx="31">
                  <c:v>0.4821393046858056</c:v>
                </c:pt>
                <c:pt idx="32">
                  <c:v>0.49302380691273145</c:v>
                </c:pt>
                <c:pt idx="33">
                  <c:v>0.5032997104030484</c:v>
                </c:pt>
                <c:pt idx="34">
                  <c:v>0.5130152472766405</c:v>
                </c:pt>
                <c:pt idx="35">
                  <c:v>0.5222137559457602</c:v>
                </c:pt>
                <c:pt idx="36">
                  <c:v>0.530934281207681</c:v>
                </c:pt>
                <c:pt idx="37">
                  <c:v>0.5392120886352914</c:v>
                </c:pt>
                <c:pt idx="38">
                  <c:v>0.5470791071575458</c:v>
                </c:pt>
                <c:pt idx="39">
                  <c:v>0.5545643112138112</c:v>
                </c:pt>
              </c:numCache>
            </c:numRef>
          </c:yVal>
          <c:smooth val="0"/>
        </c:ser>
        <c:ser>
          <c:idx val="4"/>
          <c:order val="4"/>
          <c:tx>
            <c:strRef>
              <c:f>Sheet1!$B$169</c:f>
              <c:strCache>
                <c:ptCount val="1"/>
                <c:pt idx="0">
                  <c:v>Adwaaiit Pande</c:v>
                </c:pt>
              </c:strCache>
            </c:strRef>
          </c:tx>
          <c:spPr>
            <a:ln w="28575">
              <a:solidFill>
                <a:srgbClr val="D69E00"/>
              </a:solidFill>
            </a:ln>
          </c:spPr>
          <c:marker>
            <c:symbol val="none"/>
          </c:marker>
          <c:xVal>
            <c:numRef>
              <c:f>Sheet1!$A$170:$A$209</c:f>
              <c:numCache>
                <c:formatCode>General</c:formatCode>
                <c:ptCount val="40"/>
                <c:pt idx="0">
                  <c:v>0.35</c:v>
                </c:pt>
                <c:pt idx="1">
                  <c:v>0.40512820512820513</c:v>
                </c:pt>
                <c:pt idx="2">
                  <c:v>0.46025641025641023</c:v>
                </c:pt>
                <c:pt idx="3">
                  <c:v>0.5153846153846153</c:v>
                </c:pt>
                <c:pt idx="4">
                  <c:v>0.5705128205128205</c:v>
                </c:pt>
                <c:pt idx="5">
                  <c:v>0.6256410256410256</c:v>
                </c:pt>
                <c:pt idx="6">
                  <c:v>0.6807692307692308</c:v>
                </c:pt>
                <c:pt idx="7">
                  <c:v>0.7358974358974358</c:v>
                </c:pt>
                <c:pt idx="8">
                  <c:v>0.791025641025641</c:v>
                </c:pt>
                <c:pt idx="9">
                  <c:v>0.8461538461538461</c:v>
                </c:pt>
                <c:pt idx="10">
                  <c:v>0.9012820512820513</c:v>
                </c:pt>
                <c:pt idx="11">
                  <c:v>0.9564102564102563</c:v>
                </c:pt>
                <c:pt idx="12">
                  <c:v>1.0115384615384615</c:v>
                </c:pt>
                <c:pt idx="13">
                  <c:v>1.0666666666666667</c:v>
                </c:pt>
                <c:pt idx="14">
                  <c:v>1.1217948717948718</c:v>
                </c:pt>
                <c:pt idx="15">
                  <c:v>1.1769230769230767</c:v>
                </c:pt>
                <c:pt idx="16">
                  <c:v>1.2320512820512821</c:v>
                </c:pt>
                <c:pt idx="17">
                  <c:v>1.287179487179487</c:v>
                </c:pt>
                <c:pt idx="18">
                  <c:v>1.3423076923076924</c:v>
                </c:pt>
                <c:pt idx="19">
                  <c:v>1.3974358974358974</c:v>
                </c:pt>
                <c:pt idx="20">
                  <c:v>1.4525641025641027</c:v>
                </c:pt>
                <c:pt idx="21">
                  <c:v>1.5076923076923077</c:v>
                </c:pt>
                <c:pt idx="22">
                  <c:v>1.5628205128205126</c:v>
                </c:pt>
                <c:pt idx="23">
                  <c:v>1.617948717948718</c:v>
                </c:pt>
                <c:pt idx="24">
                  <c:v>1.673076923076923</c:v>
                </c:pt>
                <c:pt idx="25">
                  <c:v>1.7282051282051283</c:v>
                </c:pt>
                <c:pt idx="26">
                  <c:v>1.7833333333333332</c:v>
                </c:pt>
                <c:pt idx="27">
                  <c:v>1.8384615384615386</c:v>
                </c:pt>
                <c:pt idx="28">
                  <c:v>1.8935897435897435</c:v>
                </c:pt>
                <c:pt idx="29">
                  <c:v>1.9487179487179485</c:v>
                </c:pt>
                <c:pt idx="30">
                  <c:v>2.003846153846154</c:v>
                </c:pt>
                <c:pt idx="31">
                  <c:v>2.0589743589743588</c:v>
                </c:pt>
                <c:pt idx="32">
                  <c:v>2.114102564102564</c:v>
                </c:pt>
                <c:pt idx="33">
                  <c:v>2.169230769230769</c:v>
                </c:pt>
                <c:pt idx="34">
                  <c:v>2.2243589743589745</c:v>
                </c:pt>
                <c:pt idx="35">
                  <c:v>2.2794871794871794</c:v>
                </c:pt>
                <c:pt idx="36">
                  <c:v>2.3346153846153848</c:v>
                </c:pt>
                <c:pt idx="37">
                  <c:v>2.3897435897435897</c:v>
                </c:pt>
                <c:pt idx="38">
                  <c:v>2.444871794871795</c:v>
                </c:pt>
                <c:pt idx="39">
                  <c:v>2.5</c:v>
                </c:pt>
              </c:numCache>
            </c:numRef>
          </c:xVal>
          <c:yVal>
            <c:numRef>
              <c:f>Sheet1!$B$170:$B$209</c:f>
              <c:numCache>
                <c:formatCode>General</c:formatCode>
                <c:ptCount val="40"/>
                <c:pt idx="0">
                  <c:v>-2.0866825990801283</c:v>
                </c:pt>
                <c:pt idx="1">
                  <c:v>-1.6198175780550492</c:v>
                </c:pt>
                <c:pt idx="2">
                  <c:v>-1.2737972913359583</c:v>
                </c:pt>
                <c:pt idx="3">
                  <c:v>-1.007870269021604</c:v>
                </c:pt>
                <c:pt idx="4">
                  <c:v>-0.797609476042067</c:v>
                </c:pt>
                <c:pt idx="5">
                  <c:v>-0.6275194068566468</c:v>
                </c:pt>
                <c:pt idx="6">
                  <c:v>-0.4873156722060821</c:v>
                </c:pt>
                <c:pt idx="7">
                  <c:v>-0.3699155355931139</c:v>
                </c:pt>
                <c:pt idx="8">
                  <c:v>-0.2702886890581887</c:v>
                </c:pt>
                <c:pt idx="9">
                  <c:v>-0.18476819221615853</c:v>
                </c:pt>
                <c:pt idx="10">
                  <c:v>-0.11062055998427188</c:v>
                </c:pt>
                <c:pt idx="11">
                  <c:v>-0.04576827602054949</c:v>
                </c:pt>
                <c:pt idx="12">
                  <c:v>0.011394640448367197</c:v>
                </c:pt>
                <c:pt idx="13">
                  <c:v>0.06212839780781909</c:v>
                </c:pt>
                <c:pt idx="14">
                  <c:v>0.10743514436178278</c:v>
                </c:pt>
                <c:pt idx="15">
                  <c:v>0.14812137927997876</c:v>
                </c:pt>
                <c:pt idx="16">
                  <c:v>0.18484316229747458</c:v>
                </c:pt>
                <c:pt idx="17">
                  <c:v>0.218139394300889</c:v>
                </c:pt>
                <c:pt idx="18">
                  <c:v>0.24845667553984319</c:v>
                </c:pt>
                <c:pt idx="19">
                  <c:v>0.2761681200818293</c:v>
                </c:pt>
                <c:pt idx="20">
                  <c:v>0.30158776884794986</c:v>
                </c:pt>
                <c:pt idx="21">
                  <c:v>0.324981753711254</c:v>
                </c:pt>
                <c:pt idx="22">
                  <c:v>0.3465770334718153</c:v>
                </c:pt>
                <c:pt idx="23">
                  <c:v>0.36656829432386967</c:v>
                </c:pt>
                <c:pt idx="24">
                  <c:v>0.38512344808417065</c:v>
                </c:pt>
                <c:pt idx="25">
                  <c:v>0.40238804865439215</c:v>
                </c:pt>
                <c:pt idx="26">
                  <c:v>0.4184888663300087</c:v>
                </c:pt>
                <c:pt idx="27">
                  <c:v>0.43353680091730834</c:v>
                </c:pt>
                <c:pt idx="28">
                  <c:v>0.4476292716112254</c:v>
                </c:pt>
                <c:pt idx="29">
                  <c:v>0.4608521897244462</c:v>
                </c:pt>
                <c:pt idx="30">
                  <c:v>0.4732815965272495</c:v>
                </c:pt>
                <c:pt idx="31">
                  <c:v>0.4849850304730834</c:v>
                </c:pt>
                <c:pt idx="32">
                  <c:v>0.4960226743978222</c:v>
                </c:pt>
                <c:pt idx="33">
                  <c:v>0.5064483227812552</c:v>
                </c:pt>
                <c:pt idx="34">
                  <c:v>0.5163102010447653</c:v>
                </c:pt>
                <c:pt idx="35">
                  <c:v>0.525651662543242</c:v>
                </c:pt>
                <c:pt idx="36">
                  <c:v>0.5345117839603444</c:v>
                </c:pt>
                <c:pt idx="37">
                  <c:v>0.5429258759137869</c:v>
                </c:pt>
                <c:pt idx="38">
                  <c:v>0.5509259224815108</c:v>
                </c:pt>
                <c:pt idx="39">
                  <c:v>0.5585409608896044</c:v>
                </c:pt>
              </c:numCache>
            </c:numRef>
          </c:yVal>
          <c:smooth val="0"/>
        </c:ser>
        <c:axId val="-2128940872"/>
        <c:axId val="-2129643912"/>
      </c:scatterChart>
      <c:valAx>
        <c:axId val="-2128940872"/>
        <c:scaling>
          <c:orientation val="minMax"/>
          <c:max val="2.5"/>
          <c:min val="0.25"/>
        </c:scaling>
        <c:delete val="0"/>
        <c:axPos val="b"/>
        <c:title>
          <c:tx>
            <c:rich>
              <a:bodyPr/>
              <a:lstStyle/>
              <a:p>
                <a:r>
                  <a:rPr sz="900" b="0">
                    <a:solidFill>
                      <a:srgbClr val="5F6266"/>
                    </a:solidFill>
                  </a:rPr>
                  <a:t>Wealth / today</a:t>
                </a:r>
              </a:p>
            </c:rich>
          </c:tx>
          <c:layout/>
          <c:overlay val="0"/>
        </c:title>
        <c:numFmt formatCode="0.0#" sourceLinked="0"/>
        <c:majorTickMark val="out"/>
        <c:minorTickMark val="none"/>
        <c:tickLblPos val="low"/>
        <c:spPr>
          <a:ln>
            <a:solidFill>
              <a:srgbClr val="B9B6B8"/>
            </a:solidFill>
          </a:ln>
        </c:spPr>
        <c:txPr>
          <a:bodyPr/>
          <a:lstStyle/>
          <a:p>
            <a:pPr>
              <a:defRPr sz="900">
                <a:solidFill>
                  <a:srgbClr val="5F6266"/>
                </a:solidFill>
              </a:defRPr>
            </a:pPr>
          </a:p>
        </c:txPr>
        <c:crossAx val="-2129643912"/>
        <c:crosses val="autoZero"/>
        <c:crossBetween val="midCat"/>
        <c:majorUnit val="0.5"/>
      </c:valAx>
      <c:valAx>
        <c:axId val="-2129643912"/>
        <c:scaling>
          <c:orientation val="minMax"/>
          <c:max val="2.2"/>
          <c:min val="-2.2"/>
        </c:scaling>
        <c:delete val="0"/>
        <c:axPos val="l"/>
        <c:majorGridlines>
          <c:spPr>
            <a:ln w="9525">
              <a:solidFill>
                <a:srgbClr val="E7E4E6"/>
              </a:solidFill>
            </a:ln>
          </c:spPr>
        </c:majorGridlines>
        <c:numFmt formatCode="0" sourceLinked="0"/>
        <c:majorTickMark val="out"/>
        <c:minorTickMark val="none"/>
        <c:tickLblPos val="low"/>
        <c:spPr>
          <a:ln>
            <a:solidFill>
              <a:srgbClr val="B9B6B8"/>
            </a:solidFill>
          </a:ln>
        </c:spPr>
        <c:txPr>
          <a:bodyPr/>
          <a:lstStyle/>
          <a:p>
            <a:pPr>
              <a:defRPr sz="900">
                <a:solidFill>
                  <a:srgbClr val="5F6266"/>
                </a:solidFill>
              </a:defRPr>
            </a:pPr>
          </a:p>
        </c:txPr>
        <c:crossAx val="-2128940872"/>
        <c:crosses val="autoZero"/>
        <c:crossBetween val="midCat"/>
        <c:majorUnit val="1.0"/>
      </c:valAx>
    </c:plotArea>
    <c:plotVisOnly val="1"/>
    <c:dispBlanksAs val="gap"/>
    <c:showDLblsOverMax val="0"/>
  </c:chart>
  <c:txPr>
    <a:bodyPr/>
    <a:lstStyle/>
    <a:p>
      <a:pPr>
        <a:defRPr sz="900">
          <a:solidFill>
            <a:srgbClr val="36393B"/>
          </a:solidFill>
          <a:latin typeface="+mn-l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36393B"/>
                </a:solidFill>
              </a:rPr>
              <a:t>Value (prospect theory)</a:t>
            </a:r>
          </a:p>
          <a:p>
            <a:r>
              <a:rPr sz="1050" i="1" b="0">
                <a:solidFill>
                  <a:srgbClr val="5F6266"/>
                </a:solidFill>
              </a:rPr>
              <a:t>steeper for losses = loss-averse</a:t>
            </a:r>
          </a:p>
        </c:rich>
      </c:tx>
      <c:layout/>
      <c:overlay val="0"/>
    </c:title>
    <c:plotArea>
      <c:scatterChart>
        <c:scatterStyle val="lineMarker"/>
        <c:varyColors val="0"/>
        <c:ser>
          <c:idx val="0"/>
          <c:order val="0"/>
          <c:tx>
            <c:strRef>
              <c:f>Sheet1!$B$1</c:f>
              <c:strCache>
                <c:ptCount val="1"/>
                <c:pt idx="0">
                  <c:v>Shree Charan</c:v>
                </c:pt>
              </c:strCache>
            </c:strRef>
          </c:tx>
          <c:spPr>
            <a:ln w="28575">
              <a:solidFill>
                <a:srgbClr val="4D62EF"/>
              </a:solidFill>
            </a:ln>
          </c:spPr>
          <c:marker>
            <c:symbol val="none"/>
          </c:marker>
          <c:xVal>
            <c:numRef>
              <c:f>Sheet1!$A$2:$A$46</c:f>
              <c:numCache>
                <c:formatCode>General</c:formatCode>
                <c:ptCount val="45"/>
                <c:pt idx="0">
                  <c:v>-1.0</c:v>
                </c:pt>
                <c:pt idx="1">
                  <c:v>-0.719685673001152</c:v>
                </c:pt>
                <c:pt idx="2">
                  <c:v>-0.5179474679231211</c:v>
                </c:pt>
                <c:pt idx="3">
                  <c:v>-0.37275937203149406</c:v>
                </c:pt>
                <c:pt idx="4">
                  <c:v>-0.2682695795279726</c:v>
                </c:pt>
                <c:pt idx="5">
                  <c:v>-0.19306977288832505</c:v>
                </c:pt>
                <c:pt idx="6">
                  <c:v>-0.13894954943731377</c:v>
                </c:pt>
                <c:pt idx="7">
                  <c:v>-0.1</c:v>
                </c:pt>
                <c:pt idx="8">
                  <c:v>-0.07196856730011521</c:v>
                </c:pt>
                <c:pt idx="9">
                  <c:v>-0.05179474679231213</c:v>
                </c:pt>
                <c:pt idx="10">
                  <c:v>-0.037275937203149416</c:v>
                </c:pt>
                <c:pt idx="11">
                  <c:v>-0.02682695795279726</c:v>
                </c:pt>
                <c:pt idx="12">
                  <c:v>-0.019306977288832506</c:v>
                </c:pt>
                <c:pt idx="13">
                  <c:v>-0.01389495494373138</c:v>
                </c:pt>
                <c:pt idx="14">
                  <c:v>-0.01</c:v>
                </c:pt>
                <c:pt idx="15">
                  <c:v>-0.0071968567300115215</c:v>
                </c:pt>
                <c:pt idx="16">
                  <c:v>-0.005179474679231213</c:v>
                </c:pt>
                <c:pt idx="17">
                  <c:v>-0.0037275937203149418</c:v>
                </c:pt>
                <c:pt idx="18">
                  <c:v>-0.002682695795279727</c:v>
                </c:pt>
                <c:pt idx="19">
                  <c:v>-0.0019306977288832516</c:v>
                </c:pt>
                <c:pt idx="20">
                  <c:v>-0.001389495494373139</c:v>
                </c:pt>
                <c:pt idx="21">
                  <c:v>-0.001</c:v>
                </c:pt>
                <c:pt idx="22">
                  <c:v>0.0</c:v>
                </c:pt>
                <c:pt idx="23">
                  <c:v>0.001</c:v>
                </c:pt>
                <c:pt idx="24">
                  <c:v>0.0013894954943731374</c:v>
                </c:pt>
                <c:pt idx="25">
                  <c:v>0.0019306977288832496</c:v>
                </c:pt>
                <c:pt idx="26">
                  <c:v>0.0026826957952797246</c:v>
                </c:pt>
                <c:pt idx="27">
                  <c:v>0.003727593720314938</c:v>
                </c:pt>
                <c:pt idx="28">
                  <c:v>0.005179474679231213</c:v>
                </c:pt>
                <c:pt idx="29">
                  <c:v>0.0071968567300115215</c:v>
                </c:pt>
                <c:pt idx="30">
                  <c:v>0.01</c:v>
                </c:pt>
                <c:pt idx="31">
                  <c:v>0.013894954943731374</c:v>
                </c:pt>
                <c:pt idx="32">
                  <c:v>0.019306977288832496</c:v>
                </c:pt>
                <c:pt idx="33">
                  <c:v>0.026826957952797246</c:v>
                </c:pt>
                <c:pt idx="34">
                  <c:v>0.037275937203149395</c:v>
                </c:pt>
                <c:pt idx="35">
                  <c:v>0.0517947467923121</c:v>
                </c:pt>
                <c:pt idx="36">
                  <c:v>0.07196856730011518</c:v>
                </c:pt>
                <c:pt idx="37">
                  <c:v>0.1</c:v>
                </c:pt>
                <c:pt idx="38">
                  <c:v>0.13894954943731375</c:v>
                </c:pt>
                <c:pt idx="39">
                  <c:v>0.19306977288832497</c:v>
                </c:pt>
                <c:pt idx="40">
                  <c:v>0.2682695795279725</c:v>
                </c:pt>
                <c:pt idx="41">
                  <c:v>0.3727593720314938</c:v>
                </c:pt>
                <c:pt idx="42">
                  <c:v>0.5179474679231207</c:v>
                </c:pt>
                <c:pt idx="43">
                  <c:v>0.7196856730011514</c:v>
                </c:pt>
                <c:pt idx="44">
                  <c:v>1.0</c:v>
                </c:pt>
              </c:numCache>
            </c:numRef>
          </c:xVal>
          <c:yVal>
            <c:numRef>
              <c:f>Sheet1!$B$2:$B$46</c:f>
              <c:numCache>
                <c:formatCode>General</c:formatCode>
                <c:ptCount val="45"/>
                <c:pt idx="0">
                  <c:v>-1.0</c:v>
                </c:pt>
                <c:pt idx="1">
                  <c:v>-0.9836874776622164</c:v>
                </c:pt>
                <c:pt idx="2">
                  <c:v>-0.9676410537094535</c:v>
                </c:pt>
                <c:pt idx="3">
                  <c:v>-0.9518563874058616</c:v>
                </c:pt>
                <c:pt idx="4">
                  <c:v>-0.9363292088239414</c:v>
                </c:pt>
                <c:pt idx="5">
                  <c:v>-0.9210553176894817</c:v>
                </c:pt>
                <c:pt idx="6">
                  <c:v>-0.9060305822453377</c:v>
                </c:pt>
                <c:pt idx="7">
                  <c:v>-0.8912509381337456</c:v>
                </c:pt>
                <c:pt idx="8">
                  <c:v>-0.8767123872968682</c:v>
                </c:pt>
                <c:pt idx="9">
                  <c:v>-0.8624109968952764</c:v>
                </c:pt>
                <c:pt idx="10">
                  <c:v>-0.848342898244072</c:v>
                </c:pt>
                <c:pt idx="11">
                  <c:v>-0.8345042857663656</c:v>
                </c:pt>
                <c:pt idx="12">
                  <c:v>-0.8208914159638256</c:v>
                </c:pt>
                <c:pt idx="13">
                  <c:v>-0.8075006064040209</c:v>
                </c:pt>
                <c:pt idx="14">
                  <c:v>-0.7943282347242815</c:v>
                </c:pt>
                <c:pt idx="15">
                  <c:v>-0.7813707376518094</c:v>
                </c:pt>
                <c:pt idx="16">
                  <c:v>-0.7686246100397739</c:v>
                </c:pt>
                <c:pt idx="17">
                  <c:v>-0.7560864039191298</c:v>
                </c:pt>
                <c:pt idx="18">
                  <c:v>-0.7437527275659046</c:v>
                </c:pt>
                <c:pt idx="19">
                  <c:v>-0.7316202445836983</c:v>
                </c:pt>
                <c:pt idx="20">
                  <c:v>-0.719685673001152</c:v>
                </c:pt>
                <c:pt idx="21">
                  <c:v>-0.7079457843841379</c:v>
                </c:pt>
                <c:pt idx="22">
                  <c:v>0.0</c:v>
                </c:pt>
                <c:pt idx="23">
                  <c:v>0.7079457843841379</c:v>
                </c:pt>
                <c:pt idx="24">
                  <c:v>0.719685673001152</c:v>
                </c:pt>
                <c:pt idx="25">
                  <c:v>0.7316202445836982</c:v>
                </c:pt>
                <c:pt idx="26">
                  <c:v>0.7437527275659046</c:v>
                </c:pt>
                <c:pt idx="27">
                  <c:v>0.7560864039191298</c:v>
                </c:pt>
                <c:pt idx="28">
                  <c:v>0.7686246100397739</c:v>
                </c:pt>
                <c:pt idx="29">
                  <c:v>0.7813707376518094</c:v>
                </c:pt>
                <c:pt idx="30">
                  <c:v>0.7943282347242815</c:v>
                </c:pt>
                <c:pt idx="31">
                  <c:v>0.8075006064040209</c:v>
                </c:pt>
                <c:pt idx="32">
                  <c:v>0.8208914159638255</c:v>
                </c:pt>
                <c:pt idx="33">
                  <c:v>0.8345042857663656</c:v>
                </c:pt>
                <c:pt idx="34">
                  <c:v>0.848342898244072</c:v>
                </c:pt>
                <c:pt idx="35">
                  <c:v>0.8624109968952764</c:v>
                </c:pt>
                <c:pt idx="36">
                  <c:v>0.8767123872968682</c:v>
                </c:pt>
                <c:pt idx="37">
                  <c:v>0.8912509381337456</c:v>
                </c:pt>
                <c:pt idx="38">
                  <c:v>0.9060305822453376</c:v>
                </c:pt>
                <c:pt idx="39">
                  <c:v>0.9210553176894817</c:v>
                </c:pt>
                <c:pt idx="40">
                  <c:v>0.9363292088239414</c:v>
                </c:pt>
                <c:pt idx="41">
                  <c:v>0.9518563874058615</c:v>
                </c:pt>
                <c:pt idx="42">
                  <c:v>0.9676410537094535</c:v>
                </c:pt>
                <c:pt idx="43">
                  <c:v>0.9836874776622163</c:v>
                </c:pt>
                <c:pt idx="44">
                  <c:v>1.0</c:v>
                </c:pt>
              </c:numCache>
            </c:numRef>
          </c:yVal>
          <c:smooth val="0"/>
        </c:ser>
        <c:ser>
          <c:idx val="1"/>
          <c:order val="1"/>
          <c:tx>
            <c:strRef>
              <c:f>Sheet1!$B$48</c:f>
              <c:strCache>
                <c:ptCount val="1"/>
                <c:pt idx="0">
                  <c:v>Kshitij</c:v>
                </c:pt>
              </c:strCache>
            </c:strRef>
          </c:tx>
          <c:spPr>
            <a:ln w="28575">
              <a:solidFill>
                <a:srgbClr val="FD4C00"/>
              </a:solidFill>
            </a:ln>
          </c:spPr>
          <c:marker>
            <c:symbol val="none"/>
          </c:marker>
          <c:xVal>
            <c:numRef>
              <c:f>Sheet1!$A$49:$A$93</c:f>
              <c:numCache>
                <c:formatCode>General</c:formatCode>
                <c:ptCount val="45"/>
                <c:pt idx="0">
                  <c:v>-1.0</c:v>
                </c:pt>
                <c:pt idx="1">
                  <c:v>-0.719685673001152</c:v>
                </c:pt>
                <c:pt idx="2">
                  <c:v>-0.5179474679231211</c:v>
                </c:pt>
                <c:pt idx="3">
                  <c:v>-0.37275937203149406</c:v>
                </c:pt>
                <c:pt idx="4">
                  <c:v>-0.2682695795279726</c:v>
                </c:pt>
                <c:pt idx="5">
                  <c:v>-0.19306977288832505</c:v>
                </c:pt>
                <c:pt idx="6">
                  <c:v>-0.13894954943731377</c:v>
                </c:pt>
                <c:pt idx="7">
                  <c:v>-0.1</c:v>
                </c:pt>
                <c:pt idx="8">
                  <c:v>-0.07196856730011521</c:v>
                </c:pt>
                <c:pt idx="9">
                  <c:v>-0.05179474679231213</c:v>
                </c:pt>
                <c:pt idx="10">
                  <c:v>-0.037275937203149416</c:v>
                </c:pt>
                <c:pt idx="11">
                  <c:v>-0.02682695795279726</c:v>
                </c:pt>
                <c:pt idx="12">
                  <c:v>-0.019306977288832506</c:v>
                </c:pt>
                <c:pt idx="13">
                  <c:v>-0.01389495494373138</c:v>
                </c:pt>
                <c:pt idx="14">
                  <c:v>-0.01</c:v>
                </c:pt>
                <c:pt idx="15">
                  <c:v>-0.0071968567300115215</c:v>
                </c:pt>
                <c:pt idx="16">
                  <c:v>-0.005179474679231213</c:v>
                </c:pt>
                <c:pt idx="17">
                  <c:v>-0.0037275937203149418</c:v>
                </c:pt>
                <c:pt idx="18">
                  <c:v>-0.002682695795279727</c:v>
                </c:pt>
                <c:pt idx="19">
                  <c:v>-0.0019306977288832516</c:v>
                </c:pt>
                <c:pt idx="20">
                  <c:v>-0.001389495494373139</c:v>
                </c:pt>
                <c:pt idx="21">
                  <c:v>-0.001</c:v>
                </c:pt>
                <c:pt idx="22">
                  <c:v>0.0</c:v>
                </c:pt>
                <c:pt idx="23">
                  <c:v>0.001</c:v>
                </c:pt>
                <c:pt idx="24">
                  <c:v>0.0013894954943731374</c:v>
                </c:pt>
                <c:pt idx="25">
                  <c:v>0.0019306977288832496</c:v>
                </c:pt>
                <c:pt idx="26">
                  <c:v>0.0026826957952797246</c:v>
                </c:pt>
                <c:pt idx="27">
                  <c:v>0.003727593720314938</c:v>
                </c:pt>
                <c:pt idx="28">
                  <c:v>0.005179474679231213</c:v>
                </c:pt>
                <c:pt idx="29">
                  <c:v>0.0071968567300115215</c:v>
                </c:pt>
                <c:pt idx="30">
                  <c:v>0.01</c:v>
                </c:pt>
                <c:pt idx="31">
                  <c:v>0.013894954943731374</c:v>
                </c:pt>
                <c:pt idx="32">
                  <c:v>0.019306977288832496</c:v>
                </c:pt>
                <c:pt idx="33">
                  <c:v>0.026826957952797246</c:v>
                </c:pt>
                <c:pt idx="34">
                  <c:v>0.037275937203149395</c:v>
                </c:pt>
                <c:pt idx="35">
                  <c:v>0.0517947467923121</c:v>
                </c:pt>
                <c:pt idx="36">
                  <c:v>0.07196856730011518</c:v>
                </c:pt>
                <c:pt idx="37">
                  <c:v>0.1</c:v>
                </c:pt>
                <c:pt idx="38">
                  <c:v>0.13894954943731375</c:v>
                </c:pt>
                <c:pt idx="39">
                  <c:v>0.19306977288832497</c:v>
                </c:pt>
                <c:pt idx="40">
                  <c:v>0.2682695795279725</c:v>
                </c:pt>
                <c:pt idx="41">
                  <c:v>0.3727593720314938</c:v>
                </c:pt>
                <c:pt idx="42">
                  <c:v>0.5179474679231207</c:v>
                </c:pt>
                <c:pt idx="43">
                  <c:v>0.7196856730011514</c:v>
                </c:pt>
                <c:pt idx="44">
                  <c:v>1.0</c:v>
                </c:pt>
              </c:numCache>
            </c:numRef>
          </c:xVal>
          <c:yVal>
            <c:numRef>
              <c:f>Sheet1!$B$49:$B$93</c:f>
              <c:numCache>
                <c:formatCode>General</c:formatCode>
                <c:ptCount val="45"/>
                <c:pt idx="0">
                  <c:v>-1.6</c:v>
                </c:pt>
                <c:pt idx="1">
                  <c:v>-0.9768643674536526</c:v>
                </c:pt>
                <c:pt idx="2">
                  <c:v>-0.5964149952503903</c:v>
                </c:pt>
                <c:pt idx="3">
                  <c:v>-0.36413534817196624</c:v>
                </c:pt>
                <c:pt idx="4">
                  <c:v>-0.22231927909970206</c:v>
                </c:pt>
                <c:pt idx="5">
                  <c:v>-0.13573486371905158</c:v>
                </c:pt>
                <c:pt idx="6">
                  <c:v>-0.08287159486769939</c:v>
                </c:pt>
                <c:pt idx="7">
                  <c:v>-0.05059644256269408</c:v>
                </c:pt>
                <c:pt idx="8">
                  <c:v>-0.030891163662132005</c:v>
                </c:pt>
                <c:pt idx="9">
                  <c:v>-0.018860298156697406</c:v>
                </c:pt>
                <c:pt idx="10">
                  <c:v>-0.01151497076801844</c:v>
                </c:pt>
                <c:pt idx="11">
                  <c:v>-0.007030352897217267</c:v>
                </c:pt>
                <c:pt idx="12">
                  <c:v>-0.004292313272447563</c:v>
                </c:pt>
                <c:pt idx="13">
                  <c:v>-0.0026206299311265038</c:v>
                </c:pt>
                <c:pt idx="14">
                  <c:v>-0.0016</c:v>
                </c:pt>
                <c:pt idx="15">
                  <c:v>-0.0009768643674536528</c:v>
                </c:pt>
                <c:pt idx="16">
                  <c:v>-0.0005964149952503908</c:v>
                </c:pt>
                <c:pt idx="17">
                  <c:v>-0.0003641353481719664</c:v>
                </c:pt>
                <c:pt idx="18">
                  <c:v>-0.0002223192790997022</c:v>
                </c:pt>
                <c:pt idx="19">
                  <c:v>-0.0001357348637190517</c:v>
                </c:pt>
                <c:pt idx="20">
                  <c:v>-8.28715948676995e-05</c:v>
                </c:pt>
                <c:pt idx="21">
                  <c:v>-5.0596442562694074e-05</c:v>
                </c:pt>
                <c:pt idx="22">
                  <c:v>0.0</c:v>
                </c:pt>
                <c:pt idx="23">
                  <c:v>3.1622776601683795e-05</c:v>
                </c:pt>
                <c:pt idx="24">
                  <c:v>5.17947467923121e-05</c:v>
                </c:pt>
                <c:pt idx="25">
                  <c:v>8.483428982440717e-05</c:v>
                </c:pt>
                <c:pt idx="26">
                  <c:v>0.00013894954943731368</c:v>
                </c:pt>
                <c:pt idx="27">
                  <c:v>0.00022758459260747863</c:v>
                </c:pt>
                <c:pt idx="28">
                  <c:v>0.0003727593720314942</c:v>
                </c:pt>
                <c:pt idx="29">
                  <c:v>0.000610540229658533</c:v>
                </c:pt>
                <c:pt idx="30">
                  <c:v>0.001</c:v>
                </c:pt>
                <c:pt idx="31">
                  <c:v>0.0016378937069540637</c:v>
                </c:pt>
                <c:pt idx="32">
                  <c:v>0.0026826957952797246</c:v>
                </c:pt>
                <c:pt idx="33">
                  <c:v>0.004393970560760788</c:v>
                </c:pt>
                <c:pt idx="34">
                  <c:v>0.007196856730011518</c:v>
                </c:pt>
                <c:pt idx="35">
                  <c:v>0.01178768634793587</c:v>
                </c:pt>
                <c:pt idx="36">
                  <c:v>0.019306977288832492</c:v>
                </c:pt>
                <c:pt idx="37">
                  <c:v>0.0316227766016838</c:v>
                </c:pt>
                <c:pt idx="38">
                  <c:v>0.0517947467923121</c:v>
                </c:pt>
                <c:pt idx="39">
                  <c:v>0.08483428982440717</c:v>
                </c:pt>
                <c:pt idx="40">
                  <c:v>0.1389495494373137</c:v>
                </c:pt>
                <c:pt idx="41">
                  <c:v>0.22758459260747863</c:v>
                </c:pt>
                <c:pt idx="42">
                  <c:v>0.3727593720314936</c:v>
                </c:pt>
                <c:pt idx="43">
                  <c:v>0.610540229658532</c:v>
                </c:pt>
                <c:pt idx="44">
                  <c:v>1.0</c:v>
                </c:pt>
              </c:numCache>
            </c:numRef>
          </c:yVal>
          <c:smooth val="0"/>
        </c:ser>
        <c:ser>
          <c:idx val="2"/>
          <c:order val="2"/>
          <c:tx>
            <c:strRef>
              <c:f>Sheet1!$B$95</c:f>
              <c:strCache>
                <c:ptCount val="1"/>
                <c:pt idx="0">
                  <c:v>Kartika</c:v>
                </c:pt>
              </c:strCache>
            </c:strRef>
          </c:tx>
          <c:spPr>
            <a:ln w="28575">
              <a:solidFill>
                <a:srgbClr val="12A385"/>
              </a:solidFill>
            </a:ln>
          </c:spPr>
          <c:marker>
            <c:symbol val="none"/>
          </c:marker>
          <c:xVal>
            <c:numRef>
              <c:f>Sheet1!$A$96:$A$140</c:f>
              <c:numCache>
                <c:formatCode>General</c:formatCode>
                <c:ptCount val="45"/>
                <c:pt idx="0">
                  <c:v>-1.0</c:v>
                </c:pt>
                <c:pt idx="1">
                  <c:v>-0.719685673001152</c:v>
                </c:pt>
                <c:pt idx="2">
                  <c:v>-0.5179474679231211</c:v>
                </c:pt>
                <c:pt idx="3">
                  <c:v>-0.37275937203149406</c:v>
                </c:pt>
                <c:pt idx="4">
                  <c:v>-0.2682695795279726</c:v>
                </c:pt>
                <c:pt idx="5">
                  <c:v>-0.19306977288832505</c:v>
                </c:pt>
                <c:pt idx="6">
                  <c:v>-0.13894954943731377</c:v>
                </c:pt>
                <c:pt idx="7">
                  <c:v>-0.1</c:v>
                </c:pt>
                <c:pt idx="8">
                  <c:v>-0.07196856730011521</c:v>
                </c:pt>
                <c:pt idx="9">
                  <c:v>-0.05179474679231213</c:v>
                </c:pt>
                <c:pt idx="10">
                  <c:v>-0.037275937203149416</c:v>
                </c:pt>
                <c:pt idx="11">
                  <c:v>-0.02682695795279726</c:v>
                </c:pt>
                <c:pt idx="12">
                  <c:v>-0.019306977288832506</c:v>
                </c:pt>
                <c:pt idx="13">
                  <c:v>-0.01389495494373138</c:v>
                </c:pt>
                <c:pt idx="14">
                  <c:v>-0.01</c:v>
                </c:pt>
                <c:pt idx="15">
                  <c:v>-0.0071968567300115215</c:v>
                </c:pt>
                <c:pt idx="16">
                  <c:v>-0.005179474679231213</c:v>
                </c:pt>
                <c:pt idx="17">
                  <c:v>-0.0037275937203149418</c:v>
                </c:pt>
                <c:pt idx="18">
                  <c:v>-0.002682695795279727</c:v>
                </c:pt>
                <c:pt idx="19">
                  <c:v>-0.0019306977288832516</c:v>
                </c:pt>
                <c:pt idx="20">
                  <c:v>-0.001389495494373139</c:v>
                </c:pt>
                <c:pt idx="21">
                  <c:v>-0.001</c:v>
                </c:pt>
                <c:pt idx="22">
                  <c:v>0.0</c:v>
                </c:pt>
                <c:pt idx="23">
                  <c:v>0.001</c:v>
                </c:pt>
                <c:pt idx="24">
                  <c:v>0.0013894954943731374</c:v>
                </c:pt>
                <c:pt idx="25">
                  <c:v>0.0019306977288832496</c:v>
                </c:pt>
                <c:pt idx="26">
                  <c:v>0.0026826957952797246</c:v>
                </c:pt>
                <c:pt idx="27">
                  <c:v>0.003727593720314938</c:v>
                </c:pt>
                <c:pt idx="28">
                  <c:v>0.005179474679231213</c:v>
                </c:pt>
                <c:pt idx="29">
                  <c:v>0.0071968567300115215</c:v>
                </c:pt>
                <c:pt idx="30">
                  <c:v>0.01</c:v>
                </c:pt>
                <c:pt idx="31">
                  <c:v>0.013894954943731374</c:v>
                </c:pt>
                <c:pt idx="32">
                  <c:v>0.019306977288832496</c:v>
                </c:pt>
                <c:pt idx="33">
                  <c:v>0.026826957952797246</c:v>
                </c:pt>
                <c:pt idx="34">
                  <c:v>0.037275937203149395</c:v>
                </c:pt>
                <c:pt idx="35">
                  <c:v>0.0517947467923121</c:v>
                </c:pt>
                <c:pt idx="36">
                  <c:v>0.07196856730011518</c:v>
                </c:pt>
                <c:pt idx="37">
                  <c:v>0.1</c:v>
                </c:pt>
                <c:pt idx="38">
                  <c:v>0.13894954943731375</c:v>
                </c:pt>
                <c:pt idx="39">
                  <c:v>0.19306977288832497</c:v>
                </c:pt>
                <c:pt idx="40">
                  <c:v>0.2682695795279725</c:v>
                </c:pt>
                <c:pt idx="41">
                  <c:v>0.3727593720314938</c:v>
                </c:pt>
                <c:pt idx="42">
                  <c:v>0.5179474679231207</c:v>
                </c:pt>
                <c:pt idx="43">
                  <c:v>0.7196856730011514</c:v>
                </c:pt>
                <c:pt idx="44">
                  <c:v>1.0</c:v>
                </c:pt>
              </c:numCache>
            </c:numRef>
          </c:xVal>
          <c:yVal>
            <c:numRef>
              <c:f>Sheet1!$B$96:$B$140</c:f>
              <c:numCache>
                <c:formatCode>General</c:formatCode>
                <c:ptCount val="45"/>
                <c:pt idx="0">
                  <c:v>-1.0</c:v>
                </c:pt>
                <c:pt idx="1">
                  <c:v>-0.7686246100397739</c:v>
                </c:pt>
                <c:pt idx="2">
                  <c:v>-0.5907837911587944</c:v>
                </c:pt>
                <c:pt idx="3">
                  <c:v>-0.4540909610972476</c:v>
                </c:pt>
                <c:pt idx="4">
                  <c:v>-0.34902548789595805</c:v>
                </c:pt>
                <c:pt idx="5">
                  <c:v>-0.2682695795279726</c:v>
                </c:pt>
                <c:pt idx="6">
                  <c:v>-0.20619860095022202</c:v>
                </c:pt>
                <c:pt idx="7">
                  <c:v>-0.15848931924611134</c:v>
                </c:pt>
                <c:pt idx="8">
                  <c:v>-0.12181879120101155</c:v>
                </c:pt>
                <c:pt idx="9">
                  <c:v>-0.09363292088239417</c:v>
                </c:pt>
                <c:pt idx="10">
                  <c:v>-0.07196856730011521</c:v>
                </c:pt>
                <c:pt idx="11">
                  <c:v>-0.05531681197617226</c:v>
                </c:pt>
                <c:pt idx="12">
                  <c:v>-0.0425178630338289</c:v>
                </c:pt>
                <c:pt idx="13">
                  <c:v>-0.03268027589410126</c:v>
                </c:pt>
                <c:pt idx="14">
                  <c:v>-0.025118864315095798</c:v>
                </c:pt>
                <c:pt idx="15">
                  <c:v>-0.0193069772888325</c:v>
                </c:pt>
                <c:pt idx="16">
                  <c:v>-0.014839817889675653</c:v>
                </c:pt>
                <c:pt idx="17">
                  <c:v>-0.01140624923851321</c:v>
                </c:pt>
                <c:pt idx="18">
                  <c:v>-0.008767123872968683</c:v>
                </c:pt>
                <c:pt idx="19">
                  <c:v>-0.006738627168030947</c:v>
                </c:pt>
                <c:pt idx="20">
                  <c:v>-0.005179474679231214</c:v>
                </c:pt>
                <c:pt idx="21">
                  <c:v>-0.003981071705534972</c:v>
                </c:pt>
                <c:pt idx="22">
                  <c:v>0.0</c:v>
                </c:pt>
                <c:pt idx="23">
                  <c:v>0.003981071705534972</c:v>
                </c:pt>
                <c:pt idx="24">
                  <c:v>0.0051794746792312085</c:v>
                </c:pt>
                <c:pt idx="25">
                  <c:v>0.006738627168030942</c:v>
                </c:pt>
                <c:pt idx="26">
                  <c:v>0.008767123872968676</c:v>
                </c:pt>
                <c:pt idx="27">
                  <c:v>0.011406249238513199</c:v>
                </c:pt>
                <c:pt idx="28">
                  <c:v>0.014839817889675653</c:v>
                </c:pt>
                <c:pt idx="29">
                  <c:v>0.0193069772888325</c:v>
                </c:pt>
                <c:pt idx="30">
                  <c:v>0.025118864315095798</c:v>
                </c:pt>
                <c:pt idx="31">
                  <c:v>0.032680275894101246</c:v>
                </c:pt>
                <c:pt idx="32">
                  <c:v>0.04251786303382889</c:v>
                </c:pt>
                <c:pt idx="33">
                  <c:v>0.05531681197617224</c:v>
                </c:pt>
                <c:pt idx="34">
                  <c:v>0.07196856730011518</c:v>
                </c:pt>
                <c:pt idx="35">
                  <c:v>0.09363292088239412</c:v>
                </c:pt>
                <c:pt idx="36">
                  <c:v>0.12181879120101152</c:v>
                </c:pt>
                <c:pt idx="37">
                  <c:v>0.15848931924611134</c:v>
                </c:pt>
                <c:pt idx="38">
                  <c:v>0.206198600950222</c:v>
                </c:pt>
                <c:pt idx="39">
                  <c:v>0.2682695795279725</c:v>
                </c:pt>
                <c:pt idx="40">
                  <c:v>0.34902548789595794</c:v>
                </c:pt>
                <c:pt idx="41">
                  <c:v>0.45409096109724734</c:v>
                </c:pt>
                <c:pt idx="42">
                  <c:v>0.5907837911587941</c:v>
                </c:pt>
                <c:pt idx="43">
                  <c:v>0.7686246100397733</c:v>
                </c:pt>
                <c:pt idx="44">
                  <c:v>1.0</c:v>
                </c:pt>
              </c:numCache>
            </c:numRef>
          </c:yVal>
          <c:smooth val="0"/>
        </c:ser>
        <c:ser>
          <c:idx val="3"/>
          <c:order val="3"/>
          <c:tx>
            <c:strRef>
              <c:f>Sheet1!$B$142</c:f>
              <c:strCache>
                <c:ptCount val="1"/>
                <c:pt idx="0">
                  <c:v>Ayushi</c:v>
                </c:pt>
              </c:strCache>
            </c:strRef>
          </c:tx>
          <c:spPr>
            <a:ln w="28575">
              <a:solidFill>
                <a:srgbClr val="CA54FB"/>
              </a:solidFill>
            </a:ln>
          </c:spPr>
          <c:marker>
            <c:symbol val="none"/>
          </c:marker>
          <c:xVal>
            <c:numRef>
              <c:f>Sheet1!$A$143:$A$187</c:f>
              <c:numCache>
                <c:formatCode>General</c:formatCode>
                <c:ptCount val="45"/>
                <c:pt idx="0">
                  <c:v>-1.0</c:v>
                </c:pt>
                <c:pt idx="1">
                  <c:v>-0.719685673001152</c:v>
                </c:pt>
                <c:pt idx="2">
                  <c:v>-0.5179474679231211</c:v>
                </c:pt>
                <c:pt idx="3">
                  <c:v>-0.37275937203149406</c:v>
                </c:pt>
                <c:pt idx="4">
                  <c:v>-0.2682695795279726</c:v>
                </c:pt>
                <c:pt idx="5">
                  <c:v>-0.19306977288832505</c:v>
                </c:pt>
                <c:pt idx="6">
                  <c:v>-0.13894954943731377</c:v>
                </c:pt>
                <c:pt idx="7">
                  <c:v>-0.1</c:v>
                </c:pt>
                <c:pt idx="8">
                  <c:v>-0.07196856730011521</c:v>
                </c:pt>
                <c:pt idx="9">
                  <c:v>-0.05179474679231213</c:v>
                </c:pt>
                <c:pt idx="10">
                  <c:v>-0.037275937203149416</c:v>
                </c:pt>
                <c:pt idx="11">
                  <c:v>-0.02682695795279726</c:v>
                </c:pt>
                <c:pt idx="12">
                  <c:v>-0.019306977288832506</c:v>
                </c:pt>
                <c:pt idx="13">
                  <c:v>-0.01389495494373138</c:v>
                </c:pt>
                <c:pt idx="14">
                  <c:v>-0.01</c:v>
                </c:pt>
                <c:pt idx="15">
                  <c:v>-0.0071968567300115215</c:v>
                </c:pt>
                <c:pt idx="16">
                  <c:v>-0.005179474679231213</c:v>
                </c:pt>
                <c:pt idx="17">
                  <c:v>-0.0037275937203149418</c:v>
                </c:pt>
                <c:pt idx="18">
                  <c:v>-0.002682695795279727</c:v>
                </c:pt>
                <c:pt idx="19">
                  <c:v>-0.0019306977288832516</c:v>
                </c:pt>
                <c:pt idx="20">
                  <c:v>-0.001389495494373139</c:v>
                </c:pt>
                <c:pt idx="21">
                  <c:v>-0.001</c:v>
                </c:pt>
                <c:pt idx="22">
                  <c:v>0.0</c:v>
                </c:pt>
                <c:pt idx="23">
                  <c:v>0.001</c:v>
                </c:pt>
                <c:pt idx="24">
                  <c:v>0.0013894954943731374</c:v>
                </c:pt>
                <c:pt idx="25">
                  <c:v>0.0019306977288832496</c:v>
                </c:pt>
                <c:pt idx="26">
                  <c:v>0.0026826957952797246</c:v>
                </c:pt>
                <c:pt idx="27">
                  <c:v>0.003727593720314938</c:v>
                </c:pt>
                <c:pt idx="28">
                  <c:v>0.005179474679231213</c:v>
                </c:pt>
                <c:pt idx="29">
                  <c:v>0.0071968567300115215</c:v>
                </c:pt>
                <c:pt idx="30">
                  <c:v>0.01</c:v>
                </c:pt>
                <c:pt idx="31">
                  <c:v>0.013894954943731374</c:v>
                </c:pt>
                <c:pt idx="32">
                  <c:v>0.019306977288832496</c:v>
                </c:pt>
                <c:pt idx="33">
                  <c:v>0.026826957952797246</c:v>
                </c:pt>
                <c:pt idx="34">
                  <c:v>0.037275937203149395</c:v>
                </c:pt>
                <c:pt idx="35">
                  <c:v>0.0517947467923121</c:v>
                </c:pt>
                <c:pt idx="36">
                  <c:v>0.07196856730011518</c:v>
                </c:pt>
                <c:pt idx="37">
                  <c:v>0.1</c:v>
                </c:pt>
                <c:pt idx="38">
                  <c:v>0.13894954943731375</c:v>
                </c:pt>
                <c:pt idx="39">
                  <c:v>0.19306977288832497</c:v>
                </c:pt>
                <c:pt idx="40">
                  <c:v>0.2682695795279725</c:v>
                </c:pt>
                <c:pt idx="41">
                  <c:v>0.3727593720314938</c:v>
                </c:pt>
                <c:pt idx="42">
                  <c:v>0.5179474679231207</c:v>
                </c:pt>
                <c:pt idx="43">
                  <c:v>0.7196856730011514</c:v>
                </c:pt>
                <c:pt idx="44">
                  <c:v>1.0</c:v>
                </c:pt>
              </c:numCache>
            </c:numRef>
          </c:xVal>
          <c:yVal>
            <c:numRef>
              <c:f>Sheet1!$B$143:$B$187</c:f>
              <c:numCache>
                <c:formatCode>General</c:formatCode>
                <c:ptCount val="45"/>
                <c:pt idx="0">
                  <c:v>-1.009</c:v>
                </c:pt>
                <c:pt idx="1">
                  <c:v>-0.9925406649611763</c:v>
                </c:pt>
                <c:pt idx="2">
                  <c:v>-0.9763498231928385</c:v>
                </c:pt>
                <c:pt idx="3">
                  <c:v>-0.9604230948925143</c:v>
                </c:pt>
                <c:pt idx="4">
                  <c:v>-0.9447561717033568</c:v>
                </c:pt>
                <c:pt idx="5">
                  <c:v>-0.9293448155486869</c:v>
                </c:pt>
                <c:pt idx="6">
                  <c:v>-0.9141848574855457</c:v>
                </c:pt>
                <c:pt idx="7">
                  <c:v>-0.8992721965769492</c:v>
                </c:pt>
                <c:pt idx="8">
                  <c:v>-0.8846027987825399</c:v>
                </c:pt>
                <c:pt idx="9">
                  <c:v>-0.8701726958673338</c:v>
                </c:pt>
                <c:pt idx="10">
                  <c:v>-0.8559779843282687</c:v>
                </c:pt>
                <c:pt idx="11">
                  <c:v>-0.8420148243382628</c:v>
                </c:pt>
                <c:pt idx="12">
                  <c:v>-0.8282794387075</c:v>
                </c:pt>
                <c:pt idx="13">
                  <c:v>-0.814768111861657</c:v>
                </c:pt>
                <c:pt idx="14">
                  <c:v>-0.8014771888368</c:v>
                </c:pt>
                <c:pt idx="15">
                  <c:v>-0.7884030742906756</c:v>
                </c:pt>
                <c:pt idx="16">
                  <c:v>-0.7755422315301318</c:v>
                </c:pt>
                <c:pt idx="17">
                  <c:v>-0.7628911815544019</c:v>
                </c:pt>
                <c:pt idx="18">
                  <c:v>-0.7504465021139977</c:v>
                </c:pt>
                <c:pt idx="19">
                  <c:v>-0.7382048267849516</c:v>
                </c:pt>
                <c:pt idx="20">
                  <c:v>-0.7261628440581623</c:v>
                </c:pt>
                <c:pt idx="21">
                  <c:v>-0.7143172964435951</c:v>
                </c:pt>
                <c:pt idx="22">
                  <c:v>0.0</c:v>
                </c:pt>
                <c:pt idx="23">
                  <c:v>0.7079457843841379</c:v>
                </c:pt>
                <c:pt idx="24">
                  <c:v>0.719685673001152</c:v>
                </c:pt>
                <c:pt idx="25">
                  <c:v>0.7316202445836982</c:v>
                </c:pt>
                <c:pt idx="26">
                  <c:v>0.7437527275659046</c:v>
                </c:pt>
                <c:pt idx="27">
                  <c:v>0.7560864039191298</c:v>
                </c:pt>
                <c:pt idx="28">
                  <c:v>0.7686246100397739</c:v>
                </c:pt>
                <c:pt idx="29">
                  <c:v>0.7813707376518094</c:v>
                </c:pt>
                <c:pt idx="30">
                  <c:v>0.7943282347242815</c:v>
                </c:pt>
                <c:pt idx="31">
                  <c:v>0.8075006064040209</c:v>
                </c:pt>
                <c:pt idx="32">
                  <c:v>0.8208914159638255</c:v>
                </c:pt>
                <c:pt idx="33">
                  <c:v>0.8345042857663656</c:v>
                </c:pt>
                <c:pt idx="34">
                  <c:v>0.848342898244072</c:v>
                </c:pt>
                <c:pt idx="35">
                  <c:v>0.8624109968952764</c:v>
                </c:pt>
                <c:pt idx="36">
                  <c:v>0.8767123872968682</c:v>
                </c:pt>
                <c:pt idx="37">
                  <c:v>0.8912509381337456</c:v>
                </c:pt>
                <c:pt idx="38">
                  <c:v>0.9060305822453376</c:v>
                </c:pt>
                <c:pt idx="39">
                  <c:v>0.9210553176894817</c:v>
                </c:pt>
                <c:pt idx="40">
                  <c:v>0.9363292088239414</c:v>
                </c:pt>
                <c:pt idx="41">
                  <c:v>0.9518563874058615</c:v>
                </c:pt>
                <c:pt idx="42">
                  <c:v>0.9676410537094535</c:v>
                </c:pt>
                <c:pt idx="43">
                  <c:v>0.9836874776622163</c:v>
                </c:pt>
                <c:pt idx="44">
                  <c:v>1.0</c:v>
                </c:pt>
              </c:numCache>
            </c:numRef>
          </c:yVal>
          <c:smooth val="0"/>
        </c:ser>
        <c:ser>
          <c:idx val="4"/>
          <c:order val="4"/>
          <c:tx>
            <c:strRef>
              <c:f>Sheet1!$B$189</c:f>
              <c:strCache>
                <c:ptCount val="1"/>
                <c:pt idx="0">
                  <c:v>Adwaaiit Pande</c:v>
                </c:pt>
              </c:strCache>
            </c:strRef>
          </c:tx>
          <c:spPr>
            <a:ln w="28575">
              <a:solidFill>
                <a:srgbClr val="D69E00"/>
              </a:solidFill>
            </a:ln>
          </c:spPr>
          <c:marker>
            <c:symbol val="none"/>
          </c:marker>
          <c:xVal>
            <c:numRef>
              <c:f>Sheet1!$A$190:$A$234</c:f>
              <c:numCache>
                <c:formatCode>General</c:formatCode>
                <c:ptCount val="45"/>
                <c:pt idx="0">
                  <c:v>-1.0</c:v>
                </c:pt>
                <c:pt idx="1">
                  <c:v>-0.719685673001152</c:v>
                </c:pt>
                <c:pt idx="2">
                  <c:v>-0.5179474679231211</c:v>
                </c:pt>
                <c:pt idx="3">
                  <c:v>-0.37275937203149406</c:v>
                </c:pt>
                <c:pt idx="4">
                  <c:v>-0.2682695795279726</c:v>
                </c:pt>
                <c:pt idx="5">
                  <c:v>-0.19306977288832505</c:v>
                </c:pt>
                <c:pt idx="6">
                  <c:v>-0.13894954943731377</c:v>
                </c:pt>
                <c:pt idx="7">
                  <c:v>-0.1</c:v>
                </c:pt>
                <c:pt idx="8">
                  <c:v>-0.07196856730011521</c:v>
                </c:pt>
                <c:pt idx="9">
                  <c:v>-0.05179474679231213</c:v>
                </c:pt>
                <c:pt idx="10">
                  <c:v>-0.037275937203149416</c:v>
                </c:pt>
                <c:pt idx="11">
                  <c:v>-0.02682695795279726</c:v>
                </c:pt>
                <c:pt idx="12">
                  <c:v>-0.019306977288832506</c:v>
                </c:pt>
                <c:pt idx="13">
                  <c:v>-0.01389495494373138</c:v>
                </c:pt>
                <c:pt idx="14">
                  <c:v>-0.01</c:v>
                </c:pt>
                <c:pt idx="15">
                  <c:v>-0.0071968567300115215</c:v>
                </c:pt>
                <c:pt idx="16">
                  <c:v>-0.005179474679231213</c:v>
                </c:pt>
                <c:pt idx="17">
                  <c:v>-0.0037275937203149418</c:v>
                </c:pt>
                <c:pt idx="18">
                  <c:v>-0.002682695795279727</c:v>
                </c:pt>
                <c:pt idx="19">
                  <c:v>-0.0019306977288832516</c:v>
                </c:pt>
                <c:pt idx="20">
                  <c:v>-0.001389495494373139</c:v>
                </c:pt>
                <c:pt idx="21">
                  <c:v>-0.001</c:v>
                </c:pt>
                <c:pt idx="22">
                  <c:v>0.0</c:v>
                </c:pt>
                <c:pt idx="23">
                  <c:v>0.001</c:v>
                </c:pt>
                <c:pt idx="24">
                  <c:v>0.0013894954943731374</c:v>
                </c:pt>
                <c:pt idx="25">
                  <c:v>0.0019306977288832496</c:v>
                </c:pt>
                <c:pt idx="26">
                  <c:v>0.0026826957952797246</c:v>
                </c:pt>
                <c:pt idx="27">
                  <c:v>0.003727593720314938</c:v>
                </c:pt>
                <c:pt idx="28">
                  <c:v>0.005179474679231213</c:v>
                </c:pt>
                <c:pt idx="29">
                  <c:v>0.0071968567300115215</c:v>
                </c:pt>
                <c:pt idx="30">
                  <c:v>0.01</c:v>
                </c:pt>
                <c:pt idx="31">
                  <c:v>0.013894954943731374</c:v>
                </c:pt>
                <c:pt idx="32">
                  <c:v>0.019306977288832496</c:v>
                </c:pt>
                <c:pt idx="33">
                  <c:v>0.026826957952797246</c:v>
                </c:pt>
                <c:pt idx="34">
                  <c:v>0.037275937203149395</c:v>
                </c:pt>
                <c:pt idx="35">
                  <c:v>0.0517947467923121</c:v>
                </c:pt>
                <c:pt idx="36">
                  <c:v>0.07196856730011518</c:v>
                </c:pt>
                <c:pt idx="37">
                  <c:v>0.1</c:v>
                </c:pt>
                <c:pt idx="38">
                  <c:v>0.13894954943731375</c:v>
                </c:pt>
                <c:pt idx="39">
                  <c:v>0.19306977288832497</c:v>
                </c:pt>
                <c:pt idx="40">
                  <c:v>0.2682695795279725</c:v>
                </c:pt>
                <c:pt idx="41">
                  <c:v>0.3727593720314938</c:v>
                </c:pt>
                <c:pt idx="42">
                  <c:v>0.5179474679231207</c:v>
                </c:pt>
                <c:pt idx="43">
                  <c:v>0.7196856730011514</c:v>
                </c:pt>
                <c:pt idx="44">
                  <c:v>1.0</c:v>
                </c:pt>
              </c:numCache>
            </c:numRef>
          </c:xVal>
          <c:yVal>
            <c:numRef>
              <c:f>Sheet1!$B$190:$B$234</c:f>
              <c:numCache>
                <c:formatCode>General</c:formatCode>
                <c:ptCount val="45"/>
                <c:pt idx="0">
                  <c:v>-1.015</c:v>
                </c:pt>
                <c:pt idx="1">
                  <c:v>-0.9984427898271496</c:v>
                </c:pt>
                <c:pt idx="2">
                  <c:v>-0.9821556695150953</c:v>
                </c:pt>
                <c:pt idx="3">
                  <c:v>-0.9661342332169495</c:v>
                </c:pt>
                <c:pt idx="4">
                  <c:v>-0.9503741469563005</c:v>
                </c:pt>
                <c:pt idx="5">
                  <c:v>-0.9348711474548238</c:v>
                </c:pt>
                <c:pt idx="6">
                  <c:v>-0.9196210409790176</c:v>
                </c:pt>
                <c:pt idx="7">
                  <c:v>-0.9046197022057516</c:v>
                </c:pt>
                <c:pt idx="8">
                  <c:v>-0.8898630731063211</c:v>
                </c:pt>
                <c:pt idx="9">
                  <c:v>-0.8753471618487055</c:v>
                </c:pt>
                <c:pt idx="10">
                  <c:v>-0.8610680417177331</c:v>
                </c:pt>
                <c:pt idx="11">
                  <c:v>-0.847021850052861</c:v>
                </c:pt>
                <c:pt idx="12">
                  <c:v>-0.833204787203283</c:v>
                </c:pt>
                <c:pt idx="13">
                  <c:v>-0.8196131155000811</c:v>
                </c:pt>
                <c:pt idx="14">
                  <c:v>-0.8062431582451456</c:v>
                </c:pt>
                <c:pt idx="15">
                  <c:v>-0.7930912987165865</c:v>
                </c:pt>
                <c:pt idx="16">
                  <c:v>-0.7801539791903704</c:v>
                </c:pt>
                <c:pt idx="17">
                  <c:v>-0.7674276999779167</c:v>
                </c:pt>
                <c:pt idx="18">
                  <c:v>-0.7549090184793931</c:v>
                </c:pt>
                <c:pt idx="19">
                  <c:v>-0.7425945482524537</c:v>
                </c:pt>
                <c:pt idx="20">
                  <c:v>-0.7304809580961693</c:v>
                </c:pt>
                <c:pt idx="21">
                  <c:v>-0.7185649711498999</c:v>
                </c:pt>
                <c:pt idx="22">
                  <c:v>0.0</c:v>
                </c:pt>
                <c:pt idx="23">
                  <c:v>0.7079457843841379</c:v>
                </c:pt>
                <c:pt idx="24">
                  <c:v>0.719685673001152</c:v>
                </c:pt>
                <c:pt idx="25">
                  <c:v>0.7316202445836982</c:v>
                </c:pt>
                <c:pt idx="26">
                  <c:v>0.7437527275659046</c:v>
                </c:pt>
                <c:pt idx="27">
                  <c:v>0.7560864039191298</c:v>
                </c:pt>
                <c:pt idx="28">
                  <c:v>0.7686246100397739</c:v>
                </c:pt>
                <c:pt idx="29">
                  <c:v>0.7813707376518094</c:v>
                </c:pt>
                <c:pt idx="30">
                  <c:v>0.7943282347242815</c:v>
                </c:pt>
                <c:pt idx="31">
                  <c:v>0.8075006064040209</c:v>
                </c:pt>
                <c:pt idx="32">
                  <c:v>0.8208914159638255</c:v>
                </c:pt>
                <c:pt idx="33">
                  <c:v>0.8345042857663656</c:v>
                </c:pt>
                <c:pt idx="34">
                  <c:v>0.848342898244072</c:v>
                </c:pt>
                <c:pt idx="35">
                  <c:v>0.8624109968952764</c:v>
                </c:pt>
                <c:pt idx="36">
                  <c:v>0.8767123872968682</c:v>
                </c:pt>
                <c:pt idx="37">
                  <c:v>0.8912509381337456</c:v>
                </c:pt>
                <c:pt idx="38">
                  <c:v>0.9060305822453376</c:v>
                </c:pt>
                <c:pt idx="39">
                  <c:v>0.9210553176894817</c:v>
                </c:pt>
                <c:pt idx="40">
                  <c:v>0.9363292088239414</c:v>
                </c:pt>
                <c:pt idx="41">
                  <c:v>0.9518563874058615</c:v>
                </c:pt>
                <c:pt idx="42">
                  <c:v>0.9676410537094535</c:v>
                </c:pt>
                <c:pt idx="43">
                  <c:v>0.9836874776622163</c:v>
                </c:pt>
                <c:pt idx="44">
                  <c:v>1.0</c:v>
                </c:pt>
              </c:numCache>
            </c:numRef>
          </c:yVal>
          <c:smooth val="0"/>
        </c:ser>
        <c:axId val="-2128940872"/>
        <c:axId val="-2129643912"/>
      </c:scatterChart>
      <c:valAx>
        <c:axId val="-2128940872"/>
        <c:scaling>
          <c:orientation val="minMax"/>
          <c:max val="1.0"/>
          <c:min val="-1.0"/>
        </c:scaling>
        <c:delete val="0"/>
        <c:axPos val="b"/>
        <c:title>
          <c:tx>
            <c:rich>
              <a:bodyPr/>
              <a:lstStyle/>
              <a:p>
                <a:r>
                  <a:rPr sz="900" b="0">
                    <a:solidFill>
                      <a:srgbClr val="5F6266"/>
                    </a:solidFill>
                  </a:rPr>
                  <a:t>Gain / loss (stakes)</a:t>
                </a:r>
              </a:p>
            </c:rich>
          </c:tx>
          <c:layout/>
          <c:overlay val="0"/>
        </c:title>
        <c:numFmt formatCode="0.0" sourceLinked="0"/>
        <c:majorTickMark val="out"/>
        <c:minorTickMark val="none"/>
        <c:tickLblPos val="low"/>
        <c:spPr>
          <a:ln>
            <a:solidFill>
              <a:srgbClr val="B9B6B8"/>
            </a:solidFill>
          </a:ln>
        </c:spPr>
        <c:txPr>
          <a:bodyPr/>
          <a:lstStyle/>
          <a:p>
            <a:pPr>
              <a:defRPr sz="900">
                <a:solidFill>
                  <a:srgbClr val="5F6266"/>
                </a:solidFill>
              </a:defRPr>
            </a:pPr>
          </a:p>
        </c:txPr>
        <c:crossAx val="-2129643912"/>
        <c:crosses val="autoZero"/>
        <c:crossBetween val="midCat"/>
        <c:majorUnit val="0.5"/>
      </c:valAx>
      <c:valAx>
        <c:axId val="-2129643912"/>
        <c:scaling>
          <c:orientation val="minMax"/>
          <c:max val="1.5"/>
          <c:min val="-2.0"/>
        </c:scaling>
        <c:delete val="0"/>
        <c:axPos val="l"/>
        <c:majorGridlines>
          <c:spPr>
            <a:ln w="9525">
              <a:solidFill>
                <a:srgbClr val="E7E4E6"/>
              </a:solidFill>
            </a:ln>
          </c:spPr>
        </c:majorGridlines>
        <c:numFmt formatCode="0" sourceLinked="0"/>
        <c:majorTickMark val="out"/>
        <c:minorTickMark val="none"/>
        <c:tickLblPos val="low"/>
        <c:spPr>
          <a:ln>
            <a:solidFill>
              <a:srgbClr val="B9B6B8"/>
            </a:solidFill>
          </a:ln>
        </c:spPr>
        <c:txPr>
          <a:bodyPr/>
          <a:lstStyle/>
          <a:p>
            <a:pPr>
              <a:defRPr sz="900">
                <a:solidFill>
                  <a:srgbClr val="5F6266"/>
                </a:solidFill>
              </a:defRPr>
            </a:pPr>
          </a:p>
        </c:txPr>
        <c:crossAx val="-2128940872"/>
        <c:crosses val="autoZero"/>
        <c:crossBetween val="midCat"/>
        <c:majorUnit val="1.0"/>
      </c:valAx>
    </c:plotArea>
    <c:plotVisOnly val="1"/>
    <c:dispBlanksAs val="gap"/>
    <c:showDLblsOverMax val="0"/>
  </c:chart>
  <c:txPr>
    <a:bodyPr/>
    <a:lstStyle/>
    <a:p>
      <a:pPr>
        <a:defRPr sz="900">
          <a:solidFill>
            <a:srgbClr val="36393B"/>
          </a:solidFill>
          <a:latin typeface="+mn-l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36393B"/>
                </a:solidFill>
              </a:rPr>
              <a:t>Probability weighting (Prelec)</a:t>
            </a:r>
          </a:p>
          <a:p>
            <a:r>
              <a:rPr sz="1050" i="1" b="0">
                <a:solidFill>
                  <a:srgbClr val="5F6266"/>
                </a:solidFill>
              </a:rPr>
              <a:t>dashed = objective probability</a:t>
            </a:r>
          </a:p>
        </c:rich>
      </c:tx>
      <c:layout/>
      <c:overlay val="0"/>
    </c:title>
    <c:plotArea>
      <c:scatterChart>
        <c:scatterStyle val="lineMarker"/>
        <c:varyColors val="0"/>
        <c:ser>
          <c:idx val="0"/>
          <c:order val="0"/>
          <c:tx>
            <c:strRef>
              <c:f>Sheet1!$B$1</c:f>
              <c:strCache>
                <c:ptCount val="1"/>
                <c:pt idx="0">
                  <c:v>w = p</c:v>
                </c:pt>
              </c:strCache>
            </c:strRef>
          </c:tx>
          <c:spPr>
            <a:ln w="12700">
              <a:solidFill>
                <a:srgbClr val="9A9C9E"/>
              </a:solidFill>
              <a:prstDash val="dash"/>
            </a:ln>
          </c:spPr>
          <c:marker>
            <c:symbol val="none"/>
          </c:marker>
          <c:xVal>
            <c:numRef>
              <c:f>Sheet1!$A$2:$A$3</c:f>
              <c:numCache>
                <c:formatCode>General</c:formatCode>
                <c:ptCount val="2"/>
                <c:pt idx="0">
                  <c:v>0.0</c:v>
                </c:pt>
                <c:pt idx="1">
                  <c:v>1.0</c:v>
                </c:pt>
              </c:numCache>
            </c:numRef>
          </c:xVal>
          <c:yVal>
            <c:numRef>
              <c:f>Sheet1!$B$2:$B$3</c:f>
              <c:numCache>
                <c:formatCode>General</c:formatCode>
                <c:ptCount val="2"/>
                <c:pt idx="0">
                  <c:v>0.0</c:v>
                </c:pt>
                <c:pt idx="1">
                  <c:v>1.0</c:v>
                </c:pt>
              </c:numCache>
            </c:numRef>
          </c:yVal>
          <c:smooth val="0"/>
        </c:ser>
        <c:ser>
          <c:idx val="1"/>
          <c:order val="1"/>
          <c:tx>
            <c:strRef>
              <c:f>Sheet1!$B$5</c:f>
              <c:strCache>
                <c:ptCount val="1"/>
                <c:pt idx="0">
                  <c:v>Shree Charan</c:v>
                </c:pt>
              </c:strCache>
            </c:strRef>
          </c:tx>
          <c:spPr>
            <a:ln w="25400">
              <a:solidFill>
                <a:srgbClr val="4D62EF"/>
              </a:solidFill>
            </a:ln>
          </c:spPr>
          <c:marker>
            <c:symbol val="none"/>
          </c:marker>
          <c:xVal>
            <c:numRef>
              <c:f>Sheet1!$A$6:$A$40</c:f>
              <c:numCache>
                <c:formatCode>General</c:formatCode>
                <c:ptCount val="35"/>
                <c:pt idx="0">
                  <c:v>0.001</c:v>
                </c:pt>
                <c:pt idx="1">
                  <c:v>0.005</c:v>
                </c:pt>
                <c:pt idx="2">
                  <c:v>0.01</c:v>
                </c:pt>
                <c:pt idx="3">
                  <c:v>0.02</c:v>
                </c:pt>
                <c:pt idx="4">
                  <c:v>0.03</c:v>
                </c:pt>
                <c:pt idx="5">
                  <c:v>0.05</c:v>
                </c:pt>
                <c:pt idx="6">
                  <c:v>0.08275862068965517</c:v>
                </c:pt>
                <c:pt idx="7">
                  <c:v>0.11551724137931034</c:v>
                </c:pt>
                <c:pt idx="8">
                  <c:v>0.1482758620689655</c:v>
                </c:pt>
                <c:pt idx="9">
                  <c:v>0.18103448275862066</c:v>
                </c:pt>
                <c:pt idx="10">
                  <c:v>0.21379310344827585</c:v>
                </c:pt>
                <c:pt idx="11">
                  <c:v>0.24655172413793103</c:v>
                </c:pt>
                <c:pt idx="12">
                  <c:v>0.27931034482758615</c:v>
                </c:pt>
                <c:pt idx="13">
                  <c:v>0.31206896551724134</c:v>
                </c:pt>
                <c:pt idx="14">
                  <c:v>0.3448275862068965</c:v>
                </c:pt>
                <c:pt idx="15">
                  <c:v>0.3775862068965517</c:v>
                </c:pt>
                <c:pt idx="16">
                  <c:v>0.41034482758620683</c:v>
                </c:pt>
                <c:pt idx="17">
                  <c:v>0.443103448275862</c:v>
                </c:pt>
                <c:pt idx="18">
                  <c:v>0.4758620689655172</c:v>
                </c:pt>
                <c:pt idx="19">
                  <c:v>0.5086206896551724</c:v>
                </c:pt>
                <c:pt idx="20">
                  <c:v>0.5413793103448276</c:v>
                </c:pt>
                <c:pt idx="21">
                  <c:v>0.5741379310344827</c:v>
                </c:pt>
                <c:pt idx="22">
                  <c:v>0.6068965517241379</c:v>
                </c:pt>
                <c:pt idx="23">
                  <c:v>0.6396551724137931</c:v>
                </c:pt>
                <c:pt idx="24">
                  <c:v>0.6724137931034483</c:v>
                </c:pt>
                <c:pt idx="25">
                  <c:v>0.7051724137931035</c:v>
                </c:pt>
                <c:pt idx="26">
                  <c:v>0.7379310344827585</c:v>
                </c:pt>
                <c:pt idx="27">
                  <c:v>0.7706896551724137</c:v>
                </c:pt>
                <c:pt idx="28">
                  <c:v>0.8034482758620689</c:v>
                </c:pt>
                <c:pt idx="29">
                  <c:v>0.8362068965517241</c:v>
                </c:pt>
                <c:pt idx="30">
                  <c:v>0.8689655172413793</c:v>
                </c:pt>
                <c:pt idx="31">
                  <c:v>0.9017241379310345</c:v>
                </c:pt>
                <c:pt idx="32">
                  <c:v>0.9344827586206896</c:v>
                </c:pt>
                <c:pt idx="33">
                  <c:v>0.9672413793103447</c:v>
                </c:pt>
                <c:pt idx="34">
                  <c:v>1.0</c:v>
                </c:pt>
              </c:numCache>
            </c:numRef>
          </c:xVal>
          <c:yVal>
            <c:numRef>
              <c:f>Sheet1!$B$6:$B$40</c:f>
              <c:numCache>
                <c:formatCode>General</c:formatCode>
                <c:ptCount val="35"/>
                <c:pt idx="0">
                  <c:v>0.04962853099488575</c:v>
                </c:pt>
                <c:pt idx="1">
                  <c:v>0.07558742417277184</c:v>
                </c:pt>
                <c:pt idx="2">
                  <c:v>0.09214036366658379</c:v>
                </c:pt>
                <c:pt idx="3">
                  <c:v>0.11382610250345014</c:v>
                </c:pt>
                <c:pt idx="4">
                  <c:v>0.12978016537747356</c:v>
                </c:pt>
                <c:pt idx="5">
                  <c:v>0.15459610540267107</c:v>
                </c:pt>
                <c:pt idx="6">
                  <c:v>0.18615096170986384</c:v>
                </c:pt>
                <c:pt idx="7">
                  <c:v>0.2124131462551493</c:v>
                </c:pt>
                <c:pt idx="8">
                  <c:v>0.2358485204184389</c:v>
                </c:pt>
                <c:pt idx="9">
                  <c:v>0.257544387279493</c:v>
                </c:pt>
                <c:pt idx="10">
                  <c:v>0.2780949536431092</c:v>
                </c:pt>
                <c:pt idx="11">
                  <c:v>0.29787008165710205</c:v>
                </c:pt>
                <c:pt idx="12">
                  <c:v>0.31712217409283444</c:v>
                </c:pt>
                <c:pt idx="13">
                  <c:v>0.3360363651430995</c:v>
                </c:pt>
                <c:pt idx="14">
                  <c:v>0.35475701274791854</c:v>
                </c:pt>
                <c:pt idx="15">
                  <c:v>0.37340302091448774</c:v>
                </c:pt>
                <c:pt idx="16">
                  <c:v>0.3920774367400413</c:v>
                </c:pt>
                <c:pt idx="17">
                  <c:v>0.41087395026519835</c:v>
                </c:pt>
                <c:pt idx="18">
                  <c:v>0.4298816877335885</c:v>
                </c:pt>
                <c:pt idx="19">
                  <c:v>0.44918910799680695</c:v>
                </c:pt>
                <c:pt idx="20">
                  <c:v>0.46888753460508403</c:v>
                </c:pt>
                <c:pt idx="21">
                  <c:v>0.48907473820987635</c:v>
                </c:pt>
                <c:pt idx="22">
                  <c:v>0.5098589681776436</c:v>
                </c:pt>
                <c:pt idx="23">
                  <c:v>0.5313639067047755</c:v>
                </c:pt>
                <c:pt idx="24">
                  <c:v>0.5537352063802751</c:v>
                </c:pt>
                <c:pt idx="25">
                  <c:v>0.5771496434007062</c:v>
                </c:pt>
                <c:pt idx="26">
                  <c:v>0.6018286343472737</c:v>
                </c:pt>
                <c:pt idx="27">
                  <c:v>0.6280592917830943</c:v>
                </c:pt>
                <c:pt idx="28">
                  <c:v>0.6562292258433807</c:v>
                </c:pt>
                <c:pt idx="29">
                  <c:v>0.6868883245425028</c:v>
                </c:pt>
                <c:pt idx="30">
                  <c:v>0.7208690279283941</c:v>
                </c:pt>
                <c:pt idx="31">
                  <c:v>0.75955243631927</c:v>
                </c:pt>
                <c:pt idx="32">
                  <c:v>0.8055838598099443</c:v>
                </c:pt>
                <c:pt idx="33">
                  <c:v>0.8656113819425174</c:v>
                </c:pt>
                <c:pt idx="34">
                  <c:v>1.0</c:v>
                </c:pt>
              </c:numCache>
            </c:numRef>
          </c:yVal>
          <c:smooth val="0"/>
        </c:ser>
        <c:ser>
          <c:idx val="2"/>
          <c:order val="2"/>
          <c:tx>
            <c:strRef>
              <c:f>Sheet1!$B$42</c:f>
              <c:strCache>
                <c:ptCount val="1"/>
                <c:pt idx="0">
                  <c:v>Kshitij</c:v>
                </c:pt>
              </c:strCache>
            </c:strRef>
          </c:tx>
          <c:spPr>
            <a:ln w="25400">
              <a:solidFill>
                <a:srgbClr val="FD4C00"/>
              </a:solidFill>
            </a:ln>
          </c:spPr>
          <c:marker>
            <c:symbol val="none"/>
          </c:marker>
          <c:xVal>
            <c:numRef>
              <c:f>Sheet1!$A$43:$A$77</c:f>
              <c:numCache>
                <c:formatCode>General</c:formatCode>
                <c:ptCount val="35"/>
                <c:pt idx="0">
                  <c:v>0.001</c:v>
                </c:pt>
                <c:pt idx="1">
                  <c:v>0.005</c:v>
                </c:pt>
                <c:pt idx="2">
                  <c:v>0.01</c:v>
                </c:pt>
                <c:pt idx="3">
                  <c:v>0.02</c:v>
                </c:pt>
                <c:pt idx="4">
                  <c:v>0.03</c:v>
                </c:pt>
                <c:pt idx="5">
                  <c:v>0.05</c:v>
                </c:pt>
                <c:pt idx="6">
                  <c:v>0.08275862068965517</c:v>
                </c:pt>
                <c:pt idx="7">
                  <c:v>0.11551724137931034</c:v>
                </c:pt>
                <c:pt idx="8">
                  <c:v>0.1482758620689655</c:v>
                </c:pt>
                <c:pt idx="9">
                  <c:v>0.18103448275862066</c:v>
                </c:pt>
                <c:pt idx="10">
                  <c:v>0.21379310344827585</c:v>
                </c:pt>
                <c:pt idx="11">
                  <c:v>0.24655172413793103</c:v>
                </c:pt>
                <c:pt idx="12">
                  <c:v>0.27931034482758615</c:v>
                </c:pt>
                <c:pt idx="13">
                  <c:v>0.31206896551724134</c:v>
                </c:pt>
                <c:pt idx="14">
                  <c:v>0.3448275862068965</c:v>
                </c:pt>
                <c:pt idx="15">
                  <c:v>0.3775862068965517</c:v>
                </c:pt>
                <c:pt idx="16">
                  <c:v>0.41034482758620683</c:v>
                </c:pt>
                <c:pt idx="17">
                  <c:v>0.443103448275862</c:v>
                </c:pt>
                <c:pt idx="18">
                  <c:v>0.4758620689655172</c:v>
                </c:pt>
                <c:pt idx="19">
                  <c:v>0.5086206896551724</c:v>
                </c:pt>
                <c:pt idx="20">
                  <c:v>0.5413793103448276</c:v>
                </c:pt>
                <c:pt idx="21">
                  <c:v>0.5741379310344827</c:v>
                </c:pt>
                <c:pt idx="22">
                  <c:v>0.6068965517241379</c:v>
                </c:pt>
                <c:pt idx="23">
                  <c:v>0.6396551724137931</c:v>
                </c:pt>
                <c:pt idx="24">
                  <c:v>0.6724137931034483</c:v>
                </c:pt>
                <c:pt idx="25">
                  <c:v>0.7051724137931035</c:v>
                </c:pt>
                <c:pt idx="26">
                  <c:v>0.7379310344827585</c:v>
                </c:pt>
                <c:pt idx="27">
                  <c:v>0.7706896551724137</c:v>
                </c:pt>
                <c:pt idx="28">
                  <c:v>0.8034482758620689</c:v>
                </c:pt>
                <c:pt idx="29">
                  <c:v>0.8362068965517241</c:v>
                </c:pt>
                <c:pt idx="30">
                  <c:v>0.8689655172413793</c:v>
                </c:pt>
                <c:pt idx="31">
                  <c:v>0.9017241379310345</c:v>
                </c:pt>
                <c:pt idx="32">
                  <c:v>0.9344827586206896</c:v>
                </c:pt>
                <c:pt idx="33">
                  <c:v>0.9672413793103447</c:v>
                </c:pt>
                <c:pt idx="34">
                  <c:v>1.0</c:v>
                </c:pt>
              </c:numCache>
            </c:numRef>
          </c:xVal>
          <c:yVal>
            <c:numRef>
              <c:f>Sheet1!$B$43:$B$77</c:f>
              <c:numCache>
                <c:formatCode>General</c:formatCode>
                <c:ptCount val="35"/>
                <c:pt idx="0">
                  <c:v>0.11459160902090942</c:v>
                </c:pt>
                <c:pt idx="1">
                  <c:v>0.14251655432434135</c:v>
                </c:pt>
                <c:pt idx="2">
                  <c:v>0.1584942951318027</c:v>
                </c:pt>
                <c:pt idx="3">
                  <c:v>0.17805172712795753</c:v>
                </c:pt>
                <c:pt idx="4">
                  <c:v>0.19170821634930113</c:v>
                </c:pt>
                <c:pt idx="5">
                  <c:v>0.2120438576957289</c:v>
                </c:pt>
                <c:pt idx="6">
                  <c:v>0.236735573586315</c:v>
                </c:pt>
                <c:pt idx="7">
                  <c:v>0.25657343718869075</c:v>
                </c:pt>
                <c:pt idx="8">
                  <c:v>0.27387862727786133</c:v>
                </c:pt>
                <c:pt idx="9">
                  <c:v>0.28964696676812535</c:v>
                </c:pt>
                <c:pt idx="10">
                  <c:v>0.3044122733133157</c:v>
                </c:pt>
                <c:pt idx="11">
                  <c:v>0.31850206307074935</c:v>
                </c:pt>
                <c:pt idx="12">
                  <c:v>0.3321374772559953</c:v>
                </c:pt>
                <c:pt idx="13">
                  <c:v>0.34547957749669383</c:v>
                </c:pt>
                <c:pt idx="14">
                  <c:v>0.3586535340935624</c:v>
                </c:pt>
                <c:pt idx="15">
                  <c:v>0.37176252322261794</c:v>
                </c:pt>
                <c:pt idx="16">
                  <c:v>0.38489641631748084</c:v>
                </c:pt>
                <c:pt idx="17">
                  <c:v>0.3981376984365164</c:v>
                </c:pt>
                <c:pt idx="18">
                  <c:v>0.41156590340962024</c:v>
                </c:pt>
                <c:pt idx="19">
                  <c:v>0.4252613234115801</c:v>
                </c:pt>
                <c:pt idx="20">
                  <c:v>0.4393085071114018</c:v>
                </c:pt>
                <c:pt idx="21">
                  <c:v>0.4537999709762801</c:v>
                </c:pt>
                <c:pt idx="22">
                  <c:v>0.46884056438192945</c:v>
                </c:pt>
                <c:pt idx="23">
                  <c:v>0.48455304909705676</c:v>
                </c:pt>
                <c:pt idx="24">
                  <c:v>0.5010857174763026</c:v>
                </c:pt>
                <c:pt idx="25">
                  <c:v>0.5186233848757714</c:v>
                </c:pt>
                <c:pt idx="26">
                  <c:v>0.5374040837427292</c:v>
                </c:pt>
                <c:pt idx="27">
                  <c:v>0.5577457983870158</c:v>
                </c:pt>
                <c:pt idx="28">
                  <c:v>0.5800919472145073</c:v>
                </c:pt>
                <c:pt idx="29">
                  <c:v>0.6050947070003799</c:v>
                </c:pt>
                <c:pt idx="30">
                  <c:v>0.6337831404586736</c:v>
                </c:pt>
                <c:pt idx="31">
                  <c:v>0.667951329868358</c:v>
                </c:pt>
                <c:pt idx="32">
                  <c:v>0.711259639088893</c:v>
                </c:pt>
                <c:pt idx="33">
                  <c:v>0.7737879551267932</c:v>
                </c:pt>
                <c:pt idx="34">
                  <c:v>1.0</c:v>
                </c:pt>
              </c:numCache>
            </c:numRef>
          </c:yVal>
          <c:smooth val="0"/>
        </c:ser>
        <c:ser>
          <c:idx val="3"/>
          <c:order val="3"/>
          <c:tx>
            <c:strRef>
              <c:f>Sheet1!$B$79</c:f>
              <c:strCache>
                <c:ptCount val="1"/>
                <c:pt idx="0">
                  <c:v>Kartika</c:v>
                </c:pt>
              </c:strCache>
            </c:strRef>
          </c:tx>
          <c:spPr>
            <a:ln w="25400">
              <a:solidFill>
                <a:srgbClr val="12A385"/>
              </a:solidFill>
            </a:ln>
          </c:spPr>
          <c:marker>
            <c:symbol val="none"/>
          </c:marker>
          <c:xVal>
            <c:numRef>
              <c:f>Sheet1!$A$80:$A$114</c:f>
              <c:numCache>
                <c:formatCode>General</c:formatCode>
                <c:ptCount val="35"/>
                <c:pt idx="0">
                  <c:v>0.001</c:v>
                </c:pt>
                <c:pt idx="1">
                  <c:v>0.005</c:v>
                </c:pt>
                <c:pt idx="2">
                  <c:v>0.01</c:v>
                </c:pt>
                <c:pt idx="3">
                  <c:v>0.02</c:v>
                </c:pt>
                <c:pt idx="4">
                  <c:v>0.03</c:v>
                </c:pt>
                <c:pt idx="5">
                  <c:v>0.05</c:v>
                </c:pt>
                <c:pt idx="6">
                  <c:v>0.08275862068965517</c:v>
                </c:pt>
                <c:pt idx="7">
                  <c:v>0.11551724137931034</c:v>
                </c:pt>
                <c:pt idx="8">
                  <c:v>0.1482758620689655</c:v>
                </c:pt>
                <c:pt idx="9">
                  <c:v>0.18103448275862066</c:v>
                </c:pt>
                <c:pt idx="10">
                  <c:v>0.21379310344827585</c:v>
                </c:pt>
                <c:pt idx="11">
                  <c:v>0.24655172413793103</c:v>
                </c:pt>
                <c:pt idx="12">
                  <c:v>0.27931034482758615</c:v>
                </c:pt>
                <c:pt idx="13">
                  <c:v>0.31206896551724134</c:v>
                </c:pt>
                <c:pt idx="14">
                  <c:v>0.3448275862068965</c:v>
                </c:pt>
                <c:pt idx="15">
                  <c:v>0.3775862068965517</c:v>
                </c:pt>
                <c:pt idx="16">
                  <c:v>0.41034482758620683</c:v>
                </c:pt>
                <c:pt idx="17">
                  <c:v>0.443103448275862</c:v>
                </c:pt>
                <c:pt idx="18">
                  <c:v>0.4758620689655172</c:v>
                </c:pt>
                <c:pt idx="19">
                  <c:v>0.5086206896551724</c:v>
                </c:pt>
                <c:pt idx="20">
                  <c:v>0.5413793103448276</c:v>
                </c:pt>
                <c:pt idx="21">
                  <c:v>0.5741379310344827</c:v>
                </c:pt>
                <c:pt idx="22">
                  <c:v>0.6068965517241379</c:v>
                </c:pt>
                <c:pt idx="23">
                  <c:v>0.6396551724137931</c:v>
                </c:pt>
                <c:pt idx="24">
                  <c:v>0.6724137931034483</c:v>
                </c:pt>
                <c:pt idx="25">
                  <c:v>0.7051724137931035</c:v>
                </c:pt>
                <c:pt idx="26">
                  <c:v>0.7379310344827585</c:v>
                </c:pt>
                <c:pt idx="27">
                  <c:v>0.7706896551724137</c:v>
                </c:pt>
                <c:pt idx="28">
                  <c:v>0.8034482758620689</c:v>
                </c:pt>
                <c:pt idx="29">
                  <c:v>0.8362068965517241</c:v>
                </c:pt>
                <c:pt idx="30">
                  <c:v>0.8689655172413793</c:v>
                </c:pt>
                <c:pt idx="31">
                  <c:v>0.9017241379310345</c:v>
                </c:pt>
                <c:pt idx="32">
                  <c:v>0.9344827586206896</c:v>
                </c:pt>
                <c:pt idx="33">
                  <c:v>0.9672413793103447</c:v>
                </c:pt>
                <c:pt idx="34">
                  <c:v>1.0</c:v>
                </c:pt>
              </c:numCache>
            </c:numRef>
          </c:xVal>
          <c:yVal>
            <c:numRef>
              <c:f>Sheet1!$B$80:$B$114</c:f>
              <c:numCache>
                <c:formatCode>General</c:formatCode>
                <c:ptCount val="35"/>
                <c:pt idx="0">
                  <c:v>0.0010000000000000002</c:v>
                </c:pt>
                <c:pt idx="1">
                  <c:v>0.005000000000000002</c:v>
                </c:pt>
                <c:pt idx="2">
                  <c:v>0.010000000000000004</c:v>
                </c:pt>
                <c:pt idx="3">
                  <c:v>0.02</c:v>
                </c:pt>
                <c:pt idx="4">
                  <c:v>0.029999999999999995</c:v>
                </c:pt>
                <c:pt idx="5">
                  <c:v>0.05000000000000001</c:v>
                </c:pt>
                <c:pt idx="6">
                  <c:v>0.08275862068965516</c:v>
                </c:pt>
                <c:pt idx="7">
                  <c:v>0.11551724137931035</c:v>
                </c:pt>
                <c:pt idx="8">
                  <c:v>0.1482758620689655</c:v>
                </c:pt>
                <c:pt idx="9">
                  <c:v>0.1810344827586207</c:v>
                </c:pt>
                <c:pt idx="10">
                  <c:v>0.21379310344827587</c:v>
                </c:pt>
                <c:pt idx="11">
                  <c:v>0.24655172413793103</c:v>
                </c:pt>
                <c:pt idx="12">
                  <c:v>0.27931034482758615</c:v>
                </c:pt>
                <c:pt idx="13">
                  <c:v>0.31206896551724134</c:v>
                </c:pt>
                <c:pt idx="14">
                  <c:v>0.3448275862068965</c:v>
                </c:pt>
                <c:pt idx="15">
                  <c:v>0.3775862068965517</c:v>
                </c:pt>
                <c:pt idx="16">
                  <c:v>0.41034482758620683</c:v>
                </c:pt>
                <c:pt idx="17">
                  <c:v>0.443103448275862</c:v>
                </c:pt>
                <c:pt idx="18">
                  <c:v>0.4758620689655172</c:v>
                </c:pt>
                <c:pt idx="19">
                  <c:v>0.5086206896551724</c:v>
                </c:pt>
                <c:pt idx="20">
                  <c:v>0.5413793103448276</c:v>
                </c:pt>
                <c:pt idx="21">
                  <c:v>0.5741379310344827</c:v>
                </c:pt>
                <c:pt idx="22">
                  <c:v>0.6068965517241379</c:v>
                </c:pt>
                <c:pt idx="23">
                  <c:v>0.6396551724137931</c:v>
                </c:pt>
                <c:pt idx="24">
                  <c:v>0.6724137931034483</c:v>
                </c:pt>
                <c:pt idx="25">
                  <c:v>0.7051724137931035</c:v>
                </c:pt>
                <c:pt idx="26">
                  <c:v>0.7379310344827585</c:v>
                </c:pt>
                <c:pt idx="27">
                  <c:v>0.7706896551724137</c:v>
                </c:pt>
                <c:pt idx="28">
                  <c:v>0.8034482758620689</c:v>
                </c:pt>
                <c:pt idx="29">
                  <c:v>0.8362068965517241</c:v>
                </c:pt>
                <c:pt idx="30">
                  <c:v>0.8689655172413793</c:v>
                </c:pt>
                <c:pt idx="31">
                  <c:v>0.9017241379310345</c:v>
                </c:pt>
                <c:pt idx="32">
                  <c:v>0.9344827586206896</c:v>
                </c:pt>
                <c:pt idx="33">
                  <c:v>0.9672413793103447</c:v>
                </c:pt>
                <c:pt idx="34">
                  <c:v>1.0</c:v>
                </c:pt>
              </c:numCache>
            </c:numRef>
          </c:yVal>
          <c:smooth val="0"/>
        </c:ser>
        <c:ser>
          <c:idx val="4"/>
          <c:order val="4"/>
          <c:tx>
            <c:strRef>
              <c:f>Sheet1!$B$116</c:f>
              <c:strCache>
                <c:ptCount val="1"/>
                <c:pt idx="0">
                  <c:v>Ayushi</c:v>
                </c:pt>
              </c:strCache>
            </c:strRef>
          </c:tx>
          <c:spPr>
            <a:ln w="25400">
              <a:solidFill>
                <a:srgbClr val="CA54FB"/>
              </a:solidFill>
            </a:ln>
          </c:spPr>
          <c:marker>
            <c:symbol val="none"/>
          </c:marker>
          <c:xVal>
            <c:numRef>
              <c:f>Sheet1!$A$117:$A$151</c:f>
              <c:numCache>
                <c:formatCode>General</c:formatCode>
                <c:ptCount val="35"/>
                <c:pt idx="0">
                  <c:v>0.001</c:v>
                </c:pt>
                <c:pt idx="1">
                  <c:v>0.005</c:v>
                </c:pt>
                <c:pt idx="2">
                  <c:v>0.01</c:v>
                </c:pt>
                <c:pt idx="3">
                  <c:v>0.02</c:v>
                </c:pt>
                <c:pt idx="4">
                  <c:v>0.03</c:v>
                </c:pt>
                <c:pt idx="5">
                  <c:v>0.05</c:v>
                </c:pt>
                <c:pt idx="6">
                  <c:v>0.08275862068965517</c:v>
                </c:pt>
                <c:pt idx="7">
                  <c:v>0.11551724137931034</c:v>
                </c:pt>
                <c:pt idx="8">
                  <c:v>0.1482758620689655</c:v>
                </c:pt>
                <c:pt idx="9">
                  <c:v>0.18103448275862066</c:v>
                </c:pt>
                <c:pt idx="10">
                  <c:v>0.21379310344827585</c:v>
                </c:pt>
                <c:pt idx="11">
                  <c:v>0.24655172413793103</c:v>
                </c:pt>
                <c:pt idx="12">
                  <c:v>0.27931034482758615</c:v>
                </c:pt>
                <c:pt idx="13">
                  <c:v>0.31206896551724134</c:v>
                </c:pt>
                <c:pt idx="14">
                  <c:v>0.3448275862068965</c:v>
                </c:pt>
                <c:pt idx="15">
                  <c:v>0.3775862068965517</c:v>
                </c:pt>
                <c:pt idx="16">
                  <c:v>0.41034482758620683</c:v>
                </c:pt>
                <c:pt idx="17">
                  <c:v>0.443103448275862</c:v>
                </c:pt>
                <c:pt idx="18">
                  <c:v>0.4758620689655172</c:v>
                </c:pt>
                <c:pt idx="19">
                  <c:v>0.5086206896551724</c:v>
                </c:pt>
                <c:pt idx="20">
                  <c:v>0.5413793103448276</c:v>
                </c:pt>
                <c:pt idx="21">
                  <c:v>0.5741379310344827</c:v>
                </c:pt>
                <c:pt idx="22">
                  <c:v>0.6068965517241379</c:v>
                </c:pt>
                <c:pt idx="23">
                  <c:v>0.6396551724137931</c:v>
                </c:pt>
                <c:pt idx="24">
                  <c:v>0.6724137931034483</c:v>
                </c:pt>
                <c:pt idx="25">
                  <c:v>0.7051724137931035</c:v>
                </c:pt>
                <c:pt idx="26">
                  <c:v>0.7379310344827585</c:v>
                </c:pt>
                <c:pt idx="27">
                  <c:v>0.7706896551724137</c:v>
                </c:pt>
                <c:pt idx="28">
                  <c:v>0.8034482758620689</c:v>
                </c:pt>
                <c:pt idx="29">
                  <c:v>0.8362068965517241</c:v>
                </c:pt>
                <c:pt idx="30">
                  <c:v>0.8689655172413793</c:v>
                </c:pt>
                <c:pt idx="31">
                  <c:v>0.9017241379310345</c:v>
                </c:pt>
                <c:pt idx="32">
                  <c:v>0.9344827586206896</c:v>
                </c:pt>
                <c:pt idx="33">
                  <c:v>0.9672413793103447</c:v>
                </c:pt>
                <c:pt idx="34">
                  <c:v>1.0</c:v>
                </c:pt>
              </c:numCache>
            </c:numRef>
          </c:xVal>
          <c:yVal>
            <c:numRef>
              <c:f>Sheet1!$B$117:$B$151</c:f>
              <c:numCache>
                <c:formatCode>General</c:formatCode>
                <c:ptCount val="35"/>
                <c:pt idx="0">
                  <c:v>0.0002691872916761534</c:v>
                </c:pt>
                <c:pt idx="1">
                  <c:v>0.002120365273007774</c:v>
                </c:pt>
                <c:pt idx="2">
                  <c:v>0.005073645535308751</c:v>
                </c:pt>
                <c:pt idx="3">
                  <c:v>0.011998111995149635</c:v>
                </c:pt>
                <c:pt idx="4">
                  <c:v>0.01972775204692147</c:v>
                </c:pt>
                <c:pt idx="5">
                  <c:v>0.03663869702877005</c:v>
                </c:pt>
                <c:pt idx="6">
                  <c:v>0.0668548122664661</c:v>
                </c:pt>
                <c:pt idx="7">
                  <c:v>0.09895652276449243</c:v>
                </c:pt>
                <c:pt idx="8">
                  <c:v>0.13225598726947183</c:v>
                </c:pt>
                <c:pt idx="9">
                  <c:v>0.1663725471219877</c:v>
                </c:pt>
                <c:pt idx="10">
                  <c:v>0.20106326727813548</c:v>
                </c:pt>
                <c:pt idx="11">
                  <c:v>0.23615897271394246</c:v>
                </c:pt>
                <c:pt idx="12">
                  <c:v>0.2715344865986856</c:v>
                </c:pt>
                <c:pt idx="13">
                  <c:v>0.3070928410361146</c:v>
                </c:pt>
                <c:pt idx="14">
                  <c:v>0.3427560917411974</c:v>
                </c:pt>
                <c:pt idx="15">
                  <c:v>0.37845958722853773</c:v>
                </c:pt>
                <c:pt idx="16">
                  <c:v>0.41414818418318766</c:v>
                </c:pt>
                <c:pt idx="17">
                  <c:v>0.44977362101236323</c:v>
                </c:pt>
                <c:pt idx="18">
                  <c:v>0.48529260756836307</c:v>
                </c:pt>
                <c:pt idx="19">
                  <c:v>0.5206653668334194</c:v>
                </c:pt>
                <c:pt idx="20">
                  <c:v>0.555854460025744</c:v>
                </c:pt>
                <c:pt idx="21">
                  <c:v>0.59082377883576</c:v>
                </c:pt>
                <c:pt idx="22">
                  <c:v>0.6255376154766671</c:v>
                </c:pt>
                <c:pt idx="23">
                  <c:v>0.6599597310959986</c:v>
                </c:pt>
                <c:pt idx="24">
                  <c:v>0.6940523381392316</c:v>
                </c:pt>
                <c:pt idx="25">
                  <c:v>0.727774889776292</c:v>
                </c:pt>
                <c:pt idx="26">
                  <c:v>0.7610825198942119</c:v>
                </c:pt>
                <c:pt idx="27">
                  <c:v>0.7939238774032722</c:v>
                </c:pt>
                <c:pt idx="28">
                  <c:v>0.8262378942760016</c:v>
                </c:pt>
                <c:pt idx="29">
                  <c:v>0.8579485798911025</c:v>
                </c:pt>
                <c:pt idx="30">
                  <c:v>0.8889558532862774</c:v>
                </c:pt>
                <c:pt idx="31">
                  <c:v>0.9191174058328281</c:v>
                </c:pt>
                <c:pt idx="32">
                  <c:v>0.948206143118935</c:v>
                </c:pt>
                <c:pt idx="33">
                  <c:v>0.9757756353836404</c:v>
                </c:pt>
                <c:pt idx="34">
                  <c:v>1.0</c:v>
                </c:pt>
              </c:numCache>
            </c:numRef>
          </c:yVal>
          <c:smooth val="0"/>
        </c:ser>
        <c:ser>
          <c:idx val="5"/>
          <c:order val="5"/>
          <c:tx>
            <c:strRef>
              <c:f>Sheet1!$B$153</c:f>
              <c:strCache>
                <c:ptCount val="1"/>
                <c:pt idx="0">
                  <c:v>Adwaaiit Pande</c:v>
                </c:pt>
              </c:strCache>
            </c:strRef>
          </c:tx>
          <c:spPr>
            <a:ln w="25400">
              <a:solidFill>
                <a:srgbClr val="D69E00"/>
              </a:solidFill>
            </a:ln>
          </c:spPr>
          <c:marker>
            <c:symbol val="none"/>
          </c:marker>
          <c:xVal>
            <c:numRef>
              <c:f>Sheet1!$A$154:$A$188</c:f>
              <c:numCache>
                <c:formatCode>General</c:formatCode>
                <c:ptCount val="35"/>
                <c:pt idx="0">
                  <c:v>0.001</c:v>
                </c:pt>
                <c:pt idx="1">
                  <c:v>0.005</c:v>
                </c:pt>
                <c:pt idx="2">
                  <c:v>0.01</c:v>
                </c:pt>
                <c:pt idx="3">
                  <c:v>0.02</c:v>
                </c:pt>
                <c:pt idx="4">
                  <c:v>0.03</c:v>
                </c:pt>
                <c:pt idx="5">
                  <c:v>0.05</c:v>
                </c:pt>
                <c:pt idx="6">
                  <c:v>0.08275862068965517</c:v>
                </c:pt>
                <c:pt idx="7">
                  <c:v>0.11551724137931034</c:v>
                </c:pt>
                <c:pt idx="8">
                  <c:v>0.1482758620689655</c:v>
                </c:pt>
                <c:pt idx="9">
                  <c:v>0.18103448275862066</c:v>
                </c:pt>
                <c:pt idx="10">
                  <c:v>0.21379310344827585</c:v>
                </c:pt>
                <c:pt idx="11">
                  <c:v>0.24655172413793103</c:v>
                </c:pt>
                <c:pt idx="12">
                  <c:v>0.27931034482758615</c:v>
                </c:pt>
                <c:pt idx="13">
                  <c:v>0.31206896551724134</c:v>
                </c:pt>
                <c:pt idx="14">
                  <c:v>0.3448275862068965</c:v>
                </c:pt>
                <c:pt idx="15">
                  <c:v>0.3775862068965517</c:v>
                </c:pt>
                <c:pt idx="16">
                  <c:v>0.41034482758620683</c:v>
                </c:pt>
                <c:pt idx="17">
                  <c:v>0.443103448275862</c:v>
                </c:pt>
                <c:pt idx="18">
                  <c:v>0.4758620689655172</c:v>
                </c:pt>
                <c:pt idx="19">
                  <c:v>0.5086206896551724</c:v>
                </c:pt>
                <c:pt idx="20">
                  <c:v>0.5413793103448276</c:v>
                </c:pt>
                <c:pt idx="21">
                  <c:v>0.5741379310344827</c:v>
                </c:pt>
                <c:pt idx="22">
                  <c:v>0.6068965517241379</c:v>
                </c:pt>
                <c:pt idx="23">
                  <c:v>0.6396551724137931</c:v>
                </c:pt>
                <c:pt idx="24">
                  <c:v>0.6724137931034483</c:v>
                </c:pt>
                <c:pt idx="25">
                  <c:v>0.7051724137931035</c:v>
                </c:pt>
                <c:pt idx="26">
                  <c:v>0.7379310344827585</c:v>
                </c:pt>
                <c:pt idx="27">
                  <c:v>0.7706896551724137</c:v>
                </c:pt>
                <c:pt idx="28">
                  <c:v>0.8034482758620689</c:v>
                </c:pt>
                <c:pt idx="29">
                  <c:v>0.8362068965517241</c:v>
                </c:pt>
                <c:pt idx="30">
                  <c:v>0.8689655172413793</c:v>
                </c:pt>
                <c:pt idx="31">
                  <c:v>0.9017241379310345</c:v>
                </c:pt>
                <c:pt idx="32">
                  <c:v>0.9344827586206896</c:v>
                </c:pt>
                <c:pt idx="33">
                  <c:v>0.9672413793103447</c:v>
                </c:pt>
                <c:pt idx="34">
                  <c:v>1.0</c:v>
                </c:pt>
              </c:numCache>
            </c:numRef>
          </c:xVal>
          <c:yVal>
            <c:numRef>
              <c:f>Sheet1!$B$154:$B$188</c:f>
              <c:numCache>
                <c:formatCode>General</c:formatCode>
                <c:ptCount val="35"/>
                <c:pt idx="0">
                  <c:v>1.2827612600367878e-05</c:v>
                </c:pt>
                <c:pt idx="1">
                  <c:v>0.00031005429468317444</c:v>
                </c:pt>
                <c:pt idx="2">
                  <c:v>0.0011395224453555324</c:v>
                </c:pt>
                <c:pt idx="3">
                  <c:v>0.003988573568329768</c:v>
                </c:pt>
                <c:pt idx="4">
                  <c:v>0.008094680202444585</c:v>
                </c:pt>
                <c:pt idx="5">
                  <c:v>0.019174067093363365</c:v>
                </c:pt>
                <c:pt idx="6">
                  <c:v>0.04331181875865666</c:v>
                </c:pt>
                <c:pt idx="7">
                  <c:v>0.07264934995469166</c:v>
                </c:pt>
                <c:pt idx="8">
                  <c:v>0.10563072055297928</c:v>
                </c:pt>
                <c:pt idx="9">
                  <c:v>0.1412456296817605</c:v>
                </c:pt>
                <c:pt idx="10">
                  <c:v>0.17877926495209592</c:v>
                </c:pt>
                <c:pt idx="11">
                  <c:v>0.21769755793032194</c:v>
                </c:pt>
                <c:pt idx="12">
                  <c:v>0.2575858350219196</c:v>
                </c:pt>
                <c:pt idx="13">
                  <c:v>0.2981125930307008</c:v>
                </c:pt>
                <c:pt idx="14">
                  <c:v>0.339006538224976</c:v>
                </c:pt>
                <c:pt idx="15">
                  <c:v>0.3800412230541924</c:v>
                </c:pt>
                <c:pt idx="16">
                  <c:v>0.4210243074599893</c:v>
                </c:pt>
                <c:pt idx="17">
                  <c:v>0.4617897674905316</c:v>
                </c:pt>
                <c:pt idx="18">
                  <c:v>0.502192047201525</c:v>
                </c:pt>
                <c:pt idx="19">
                  <c:v>0.5421015206970268</c:v>
                </c:pt>
                <c:pt idx="20">
                  <c:v>0.5814008441169785</c:v>
                </c:pt>
                <c:pt idx="21">
                  <c:v>0.6199819020674029</c:v>
                </c:pt>
                <c:pt idx="22">
                  <c:v>0.6577431242829641</c:v>
                </c:pt>
                <c:pt idx="23">
                  <c:v>0.6945869832442383</c:v>
                </c:pt>
                <c:pt idx="24">
                  <c:v>0.730417488293142</c:v>
                </c:pt>
                <c:pt idx="25">
                  <c:v>0.7651374637704832</c:v>
                </c:pt>
                <c:pt idx="26">
                  <c:v>0.7986453234277017</c:v>
                </c:pt>
                <c:pt idx="27">
                  <c:v>0.8308308946832726</c:v>
                </c:pt>
                <c:pt idx="28">
                  <c:v>0.8615695184433393</c:v>
                </c:pt>
                <c:pt idx="29">
                  <c:v>0.8907129379076598</c:v>
                </c:pt>
                <c:pt idx="30">
                  <c:v>0.9180737914536602</c:v>
                </c:pt>
                <c:pt idx="31">
                  <c:v>0.9433958779915992</c:v>
                </c:pt>
                <c:pt idx="32">
                  <c:v>0.9662867330735789</c:v>
                </c:pt>
                <c:pt idx="33">
                  <c:v>0.9860142607874229</c:v>
                </c:pt>
                <c:pt idx="34">
                  <c:v>1.0</c:v>
                </c:pt>
              </c:numCache>
            </c:numRef>
          </c:yVal>
          <c:smooth val="0"/>
        </c:ser>
        <c:axId val="-2128940872"/>
        <c:axId val="-2129643912"/>
      </c:scatterChart>
      <c:valAx>
        <c:axId val="-2128940872"/>
        <c:scaling>
          <c:orientation val="minMax"/>
          <c:max val="1.0"/>
          <c:min val="0.0"/>
        </c:scaling>
        <c:delete val="0"/>
        <c:axPos val="b"/>
        <c:title>
          <c:tx>
            <c:rich>
              <a:bodyPr/>
              <a:lstStyle/>
              <a:p>
                <a:r>
                  <a:rPr sz="900" b="0">
                    <a:solidFill>
                      <a:srgbClr val="5F6266"/>
                    </a:solidFill>
                  </a:rPr>
                  <a:t>Probability p</a:t>
                </a:r>
              </a:p>
            </c:rich>
          </c:tx>
          <c:layout/>
          <c:overlay val="0"/>
        </c:title>
        <c:numFmt formatCode="0.00" sourceLinked="0"/>
        <c:majorTickMark val="out"/>
        <c:minorTickMark val="none"/>
        <c:tickLblPos val="low"/>
        <c:spPr>
          <a:ln>
            <a:solidFill>
              <a:srgbClr val="B9B6B8"/>
            </a:solidFill>
          </a:ln>
        </c:spPr>
        <c:txPr>
          <a:bodyPr/>
          <a:lstStyle/>
          <a:p>
            <a:pPr>
              <a:defRPr sz="900">
                <a:solidFill>
                  <a:srgbClr val="5F6266"/>
                </a:solidFill>
              </a:defRPr>
            </a:pPr>
          </a:p>
        </c:txPr>
        <c:crossAx val="-2129643912"/>
        <c:crosses val="autoZero"/>
        <c:crossBetween val="midCat"/>
        <c:majorUnit val="0.25"/>
      </c:valAx>
      <c:valAx>
        <c:axId val="-2129643912"/>
        <c:scaling>
          <c:orientation val="minMax"/>
          <c:max val="1.0"/>
          <c:min val="0.0"/>
        </c:scaling>
        <c:delete val="0"/>
        <c:axPos val="l"/>
        <c:majorGridlines>
          <c:spPr>
            <a:ln w="9525">
              <a:solidFill>
                <a:srgbClr val="E7E4E6"/>
              </a:solidFill>
            </a:ln>
          </c:spPr>
        </c:majorGridlines>
        <c:numFmt formatCode="0.0" sourceLinked="0"/>
        <c:majorTickMark val="out"/>
        <c:minorTickMark val="none"/>
        <c:tickLblPos val="low"/>
        <c:spPr>
          <a:ln>
            <a:solidFill>
              <a:srgbClr val="B9B6B8"/>
            </a:solidFill>
          </a:ln>
        </c:spPr>
        <c:txPr>
          <a:bodyPr/>
          <a:lstStyle/>
          <a:p>
            <a:pPr>
              <a:defRPr sz="900">
                <a:solidFill>
                  <a:srgbClr val="5F6266"/>
                </a:solidFill>
              </a:defRPr>
            </a:pPr>
          </a:p>
        </c:txPr>
        <c:crossAx val="-2128940872"/>
        <c:crosses val="autoZero"/>
        <c:crossBetween val="midCat"/>
        <c:majorUnit val="0.5"/>
      </c:valAx>
    </c:plotArea>
    <c:plotVisOnly val="1"/>
    <c:dispBlanksAs val="gap"/>
    <c:showDLblsOverMax val="0"/>
  </c:chart>
  <c:txPr>
    <a:bodyPr/>
    <a:lstStyle/>
    <a:p>
      <a:pPr>
        <a:defRPr sz="900">
          <a:solidFill>
            <a:srgbClr val="36393B"/>
          </a:solidFill>
          <a:latin typeface="+mn-l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36393B"/>
                </a:solidFill>
              </a:rPr>
              <a:t>Time preference (β–δ)</a:t>
            </a:r>
          </a:p>
          <a:p>
            <a:r>
              <a:rPr sz="1050" i="1" b="0">
                <a:solidFill>
                  <a:srgbClr val="5F6266"/>
                </a:solidFill>
              </a:rPr>
              <a:t>drop at t &gt; 0 = present bias</a:t>
            </a:r>
          </a:p>
        </c:rich>
      </c:tx>
      <c:layout/>
      <c:overlay val="0"/>
    </c:title>
    <c:plotArea>
      <c:scatterChart>
        <c:scatterStyle val="lineMarker"/>
        <c:varyColors val="0"/>
        <c:ser>
          <c:idx val="0"/>
          <c:order val="0"/>
          <c:tx>
            <c:strRef>
              <c:f>Sheet1!$B$1</c:f>
              <c:strCache>
                <c:ptCount val="1"/>
                <c:pt idx="0">
                  <c:v>Shree Charan</c:v>
                </c:pt>
              </c:strCache>
            </c:strRef>
          </c:tx>
          <c:spPr>
            <a:ln w="28575">
              <a:solidFill>
                <a:srgbClr val="4D62EF"/>
              </a:solidFill>
            </a:ln>
          </c:spPr>
          <c:marker>
            <c:symbol val="none"/>
          </c:marker>
          <c:xVal>
            <c:numRef>
              <c:f>Sheet1!$A$2:$A$33</c:f>
              <c:numCache>
                <c:formatCode>General</c:formatCode>
                <c:ptCount val="32"/>
                <c:pt idx="0">
                  <c:v>0.0</c:v>
                </c:pt>
                <c:pt idx="1">
                  <c:v>1.0</c:v>
                </c:pt>
                <c:pt idx="2">
                  <c:v>15.0</c:v>
                </c:pt>
                <c:pt idx="3">
                  <c:v>27.06896551724138</c:v>
                </c:pt>
                <c:pt idx="4">
                  <c:v>39.13793103448276</c:v>
                </c:pt>
                <c:pt idx="5">
                  <c:v>51.206896551724135</c:v>
                </c:pt>
                <c:pt idx="6">
                  <c:v>63.275862068965516</c:v>
                </c:pt>
                <c:pt idx="7">
                  <c:v>75.34482758620689</c:v>
                </c:pt>
                <c:pt idx="8">
                  <c:v>87.41379310344827</c:v>
                </c:pt>
                <c:pt idx="9">
                  <c:v>99.48275862068965</c:v>
                </c:pt>
                <c:pt idx="10">
                  <c:v>111.55172413793103</c:v>
                </c:pt>
                <c:pt idx="11">
                  <c:v>123.62068965517241</c:v>
                </c:pt>
                <c:pt idx="12">
                  <c:v>135.68965517241378</c:v>
                </c:pt>
                <c:pt idx="13">
                  <c:v>147.75862068965517</c:v>
                </c:pt>
                <c:pt idx="14">
                  <c:v>159.82758620689654</c:v>
                </c:pt>
                <c:pt idx="15">
                  <c:v>171.89655172413794</c:v>
                </c:pt>
                <c:pt idx="16">
                  <c:v>183.9655172413793</c:v>
                </c:pt>
                <c:pt idx="17">
                  <c:v>196.0344827586207</c:v>
                </c:pt>
                <c:pt idx="18">
                  <c:v>208.10344827586206</c:v>
                </c:pt>
                <c:pt idx="19">
                  <c:v>220.17241379310343</c:v>
                </c:pt>
                <c:pt idx="20">
                  <c:v>232.24137931034483</c:v>
                </c:pt>
                <c:pt idx="21">
                  <c:v>244.3103448275862</c:v>
                </c:pt>
                <c:pt idx="22">
                  <c:v>256.37931034482756</c:v>
                </c:pt>
                <c:pt idx="23">
                  <c:v>268.44827586206895</c:v>
                </c:pt>
                <c:pt idx="24">
                  <c:v>280.51724137931035</c:v>
                </c:pt>
                <c:pt idx="25">
                  <c:v>292.58620689655174</c:v>
                </c:pt>
                <c:pt idx="26">
                  <c:v>304.6551724137931</c:v>
                </c:pt>
                <c:pt idx="27">
                  <c:v>316.7241379310345</c:v>
                </c:pt>
                <c:pt idx="28">
                  <c:v>328.7931034482759</c:v>
                </c:pt>
                <c:pt idx="29">
                  <c:v>340.8620689655172</c:v>
                </c:pt>
                <c:pt idx="30">
                  <c:v>352.9310344827586</c:v>
                </c:pt>
                <c:pt idx="31">
                  <c:v>365.0</c:v>
                </c:pt>
              </c:numCache>
            </c:numRef>
          </c:xVal>
          <c:yVal>
            <c:numRef>
              <c:f>Sheet1!$B$2:$B$33</c:f>
              <c:numCache>
                <c:formatCode>General</c:formatCode>
                <c:ptCount val="32"/>
                <c:pt idx="0">
                  <c:v>1.0</c:v>
                </c:pt>
                <c:pt idx="1">
                  <c:v>0.7964685370170375</c:v>
                </c:pt>
                <c:pt idx="2">
                  <c:v>0.7753341060471931</c:v>
                </c:pt>
                <c:pt idx="3">
                  <c:v>0.7575654340050483</c:v>
                </c:pt>
                <c:pt idx="4">
                  <c:v>0.7402039744196738</c:v>
                </c:pt>
                <c:pt idx="5">
                  <c:v>0.7232403950244515</c:v>
                </c:pt>
                <c:pt idx="6">
                  <c:v>0.7066655774244135</c:v>
                </c:pt>
                <c:pt idx="7">
                  <c:v>0.6904706121948523</c:v>
                </c:pt>
                <c:pt idx="8">
                  <c:v>0.6746467940922568</c:v>
                </c:pt>
                <c:pt idx="9">
                  <c:v>0.6591856173750029</c:v>
                </c:pt>
                <c:pt idx="10">
                  <c:v>0.644078771231281</c:v>
                </c:pt>
                <c:pt idx="11">
                  <c:v>0.6293181353118034</c:v>
                </c:pt>
                <c:pt idx="12">
                  <c:v>0.6148957753648918</c:v>
                </c:pt>
                <c:pt idx="13">
                  <c:v>0.6008039389715962</c:v>
                </c:pt>
                <c:pt idx="14">
                  <c:v>0.5870350513785549</c:v>
                </c:pt>
                <c:pt idx="15">
                  <c:v>0.5735817114263534</c:v>
                </c:pt>
                <c:pt idx="16">
                  <c:v>0.5604366875711966</c:v>
                </c:pt>
                <c:pt idx="17">
                  <c:v>0.5475929139977528</c:v>
                </c:pt>
                <c:pt idx="18">
                  <c:v>0.5350434868210819</c:v>
                </c:pt>
                <c:pt idx="19">
                  <c:v>0.5227816603756054</c:v>
                </c:pt>
                <c:pt idx="20">
                  <c:v>0.5108008435891236</c:v>
                </c:pt>
                <c:pt idx="21">
                  <c:v>0.499094596439932</c:v>
                </c:pt>
                <c:pt idx="22">
                  <c:v>0.48765662649513</c:v>
                </c:pt>
                <c:pt idx="23">
                  <c:v>0.47648078552826395</c:v>
                </c:pt>
                <c:pt idx="24">
                  <c:v>0.46556106621448473</c:v>
                </c:pt>
                <c:pt idx="25">
                  <c:v>0.45489159890144365</c:v>
                </c:pt>
                <c:pt idx="26">
                  <c:v>0.4444666484541915</c:v>
                </c:pt>
                <c:pt idx="27">
                  <c:v>0.4342806111723837</c:v>
                </c:pt>
                <c:pt idx="28">
                  <c:v>0.4243280117781368</c:v>
                </c:pt>
                <c:pt idx="29">
                  <c:v>0.4146035004729136</c:v>
                </c:pt>
                <c:pt idx="30">
                  <c:v>0.40510185006185845</c:v>
                </c:pt>
                <c:pt idx="31">
                  <c:v>0.3958179531440345</c:v>
                </c:pt>
              </c:numCache>
            </c:numRef>
          </c:yVal>
          <c:smooth val="0"/>
        </c:ser>
        <c:ser>
          <c:idx val="1"/>
          <c:order val="1"/>
          <c:tx>
            <c:strRef>
              <c:f>Sheet1!$B$35</c:f>
              <c:strCache>
                <c:ptCount val="1"/>
                <c:pt idx="0">
                  <c:v>Kshitij</c:v>
                </c:pt>
              </c:strCache>
            </c:strRef>
          </c:tx>
          <c:spPr>
            <a:ln w="28575">
              <a:solidFill>
                <a:srgbClr val="FD4C00"/>
              </a:solidFill>
            </a:ln>
          </c:spPr>
          <c:marker>
            <c:symbol val="none"/>
          </c:marker>
          <c:xVal>
            <c:numRef>
              <c:f>Sheet1!$A$36:$A$67</c:f>
              <c:numCache>
                <c:formatCode>General</c:formatCode>
                <c:ptCount val="32"/>
                <c:pt idx="0">
                  <c:v>0.0</c:v>
                </c:pt>
                <c:pt idx="1">
                  <c:v>1.0</c:v>
                </c:pt>
                <c:pt idx="2">
                  <c:v>15.0</c:v>
                </c:pt>
                <c:pt idx="3">
                  <c:v>27.06896551724138</c:v>
                </c:pt>
                <c:pt idx="4">
                  <c:v>39.13793103448276</c:v>
                </c:pt>
                <c:pt idx="5">
                  <c:v>51.206896551724135</c:v>
                </c:pt>
                <c:pt idx="6">
                  <c:v>63.275862068965516</c:v>
                </c:pt>
                <c:pt idx="7">
                  <c:v>75.34482758620689</c:v>
                </c:pt>
                <c:pt idx="8">
                  <c:v>87.41379310344827</c:v>
                </c:pt>
                <c:pt idx="9">
                  <c:v>99.48275862068965</c:v>
                </c:pt>
                <c:pt idx="10">
                  <c:v>111.55172413793103</c:v>
                </c:pt>
                <c:pt idx="11">
                  <c:v>123.62068965517241</c:v>
                </c:pt>
                <c:pt idx="12">
                  <c:v>135.68965517241378</c:v>
                </c:pt>
                <c:pt idx="13">
                  <c:v>147.75862068965517</c:v>
                </c:pt>
                <c:pt idx="14">
                  <c:v>159.82758620689654</c:v>
                </c:pt>
                <c:pt idx="15">
                  <c:v>171.89655172413794</c:v>
                </c:pt>
                <c:pt idx="16">
                  <c:v>183.9655172413793</c:v>
                </c:pt>
                <c:pt idx="17">
                  <c:v>196.0344827586207</c:v>
                </c:pt>
                <c:pt idx="18">
                  <c:v>208.10344827586206</c:v>
                </c:pt>
                <c:pt idx="19">
                  <c:v>220.17241379310343</c:v>
                </c:pt>
                <c:pt idx="20">
                  <c:v>232.24137931034483</c:v>
                </c:pt>
                <c:pt idx="21">
                  <c:v>244.3103448275862</c:v>
                </c:pt>
                <c:pt idx="22">
                  <c:v>256.37931034482756</c:v>
                </c:pt>
                <c:pt idx="23">
                  <c:v>268.44827586206895</c:v>
                </c:pt>
                <c:pt idx="24">
                  <c:v>280.51724137931035</c:v>
                </c:pt>
                <c:pt idx="25">
                  <c:v>292.58620689655174</c:v>
                </c:pt>
                <c:pt idx="26">
                  <c:v>304.6551724137931</c:v>
                </c:pt>
                <c:pt idx="27">
                  <c:v>316.7241379310345</c:v>
                </c:pt>
                <c:pt idx="28">
                  <c:v>328.7931034482759</c:v>
                </c:pt>
                <c:pt idx="29">
                  <c:v>340.8620689655172</c:v>
                </c:pt>
                <c:pt idx="30">
                  <c:v>352.9310344827586</c:v>
                </c:pt>
                <c:pt idx="31">
                  <c:v>365.0</c:v>
                </c:pt>
              </c:numCache>
            </c:numRef>
          </c:xVal>
          <c:yVal>
            <c:numRef>
              <c:f>Sheet1!$B$36:$B$67</c:f>
              <c:numCache>
                <c:formatCode>General</c:formatCode>
                <c:ptCount val="32"/>
                <c:pt idx="0">
                  <c:v>1.0</c:v>
                </c:pt>
                <c:pt idx="1">
                  <c:v>0.6277913099201615</c:v>
                </c:pt>
                <c:pt idx="2">
                  <c:v>0.5976704777718237</c:v>
                </c:pt>
                <c:pt idx="3">
                  <c:v>0.5728667531698548</c:v>
                </c:pt>
                <c:pt idx="4">
                  <c:v>0.5490923997297742</c:v>
                </c:pt>
                <c:pt idx="5">
                  <c:v>0.5263046978598298</c:v>
                </c:pt>
                <c:pt idx="6">
                  <c:v>0.5044627008599019</c:v>
                </c:pt>
                <c:pt idx="7">
                  <c:v>0.48352716134531437</c:v>
                </c:pt>
                <c:pt idx="8">
                  <c:v>0.46346046072410735</c:v>
                </c:pt>
                <c:pt idx="9">
                  <c:v>0.4442265416010498</c:v>
                </c:pt>
                <c:pt idx="10">
                  <c:v>0.42579084298693143</c:v>
                </c:pt>
                <c:pt idx="11">
                  <c:v>0.4081202381967111</c:v>
                </c:pt>
                <c:pt idx="12">
                  <c:v>0.39118297532493546</c:v>
                </c:pt>
                <c:pt idx="13">
                  <c:v>0.37494862019146535</c:v>
                </c:pt>
                <c:pt idx="14">
                  <c:v>0.35938800165499496</c:v>
                </c:pt>
                <c:pt idx="15">
                  <c:v>0.3444731591960946</c:v>
                </c:pt>
                <c:pt idx="16">
                  <c:v>0.33017729267559354</c:v>
                </c:pt>
                <c:pt idx="17">
                  <c:v>0.31647471417802264</c:v>
                </c:pt>
                <c:pt idx="18">
                  <c:v>0.3033408018535873</c:v>
                </c:pt>
                <c:pt idx="19">
                  <c:v>0.29075195567572865</c:v>
                </c:pt>
                <c:pt idx="20">
                  <c:v>0.2786855550347756</c:v>
                </c:pt>
                <c:pt idx="21">
                  <c:v>0.2671199180914893</c:v>
                </c:pt>
                <c:pt idx="22">
                  <c:v>0.2560342628174617</c:v>
                </c:pt>
                <c:pt idx="23">
                  <c:v>0.24540866965236488</c:v>
                </c:pt>
                <c:pt idx="24">
                  <c:v>0.2352240457109482</c:v>
                </c:pt>
                <c:pt idx="25">
                  <c:v>0.2254620904754702</c:v>
                </c:pt>
                <c:pt idx="26">
                  <c:v>0.21610526291191642</c:v>
                </c:pt>
                <c:pt idx="27">
                  <c:v>0.2071367499509171</c:v>
                </c:pt>
                <c:pt idx="28">
                  <c:v>0.19854043627672735</c:v>
                </c:pt>
                <c:pt idx="29">
                  <c:v>0.1903008753699851</c:v>
                </c:pt>
                <c:pt idx="30">
                  <c:v>0.18240326175221366</c:v>
                </c:pt>
                <c:pt idx="31">
                  <c:v>0.1748334043821964</c:v>
                </c:pt>
              </c:numCache>
            </c:numRef>
          </c:yVal>
          <c:smooth val="0"/>
        </c:ser>
        <c:ser>
          <c:idx val="2"/>
          <c:order val="2"/>
          <c:tx>
            <c:strRef>
              <c:f>Sheet1!$B$69</c:f>
              <c:strCache>
                <c:ptCount val="1"/>
                <c:pt idx="0">
                  <c:v>Kartika</c:v>
                </c:pt>
              </c:strCache>
            </c:strRef>
          </c:tx>
          <c:spPr>
            <a:ln w="28575">
              <a:solidFill>
                <a:srgbClr val="12A385"/>
              </a:solidFill>
            </a:ln>
          </c:spPr>
          <c:marker>
            <c:symbol val="none"/>
          </c:marker>
          <c:xVal>
            <c:numRef>
              <c:f>Sheet1!$A$70:$A$101</c:f>
              <c:numCache>
                <c:formatCode>General</c:formatCode>
                <c:ptCount val="32"/>
                <c:pt idx="0">
                  <c:v>0.0</c:v>
                </c:pt>
                <c:pt idx="1">
                  <c:v>1.0</c:v>
                </c:pt>
                <c:pt idx="2">
                  <c:v>15.0</c:v>
                </c:pt>
                <c:pt idx="3">
                  <c:v>27.06896551724138</c:v>
                </c:pt>
                <c:pt idx="4">
                  <c:v>39.13793103448276</c:v>
                </c:pt>
                <c:pt idx="5">
                  <c:v>51.206896551724135</c:v>
                </c:pt>
                <c:pt idx="6">
                  <c:v>63.275862068965516</c:v>
                </c:pt>
                <c:pt idx="7">
                  <c:v>75.34482758620689</c:v>
                </c:pt>
                <c:pt idx="8">
                  <c:v>87.41379310344827</c:v>
                </c:pt>
                <c:pt idx="9">
                  <c:v>99.48275862068965</c:v>
                </c:pt>
                <c:pt idx="10">
                  <c:v>111.55172413793103</c:v>
                </c:pt>
                <c:pt idx="11">
                  <c:v>123.62068965517241</c:v>
                </c:pt>
                <c:pt idx="12">
                  <c:v>135.68965517241378</c:v>
                </c:pt>
                <c:pt idx="13">
                  <c:v>147.75862068965517</c:v>
                </c:pt>
                <c:pt idx="14">
                  <c:v>159.82758620689654</c:v>
                </c:pt>
                <c:pt idx="15">
                  <c:v>171.89655172413794</c:v>
                </c:pt>
                <c:pt idx="16">
                  <c:v>183.9655172413793</c:v>
                </c:pt>
                <c:pt idx="17">
                  <c:v>196.0344827586207</c:v>
                </c:pt>
                <c:pt idx="18">
                  <c:v>208.10344827586206</c:v>
                </c:pt>
                <c:pt idx="19">
                  <c:v>220.17241379310343</c:v>
                </c:pt>
                <c:pt idx="20">
                  <c:v>232.24137931034483</c:v>
                </c:pt>
                <c:pt idx="21">
                  <c:v>244.3103448275862</c:v>
                </c:pt>
                <c:pt idx="22">
                  <c:v>256.37931034482756</c:v>
                </c:pt>
                <c:pt idx="23">
                  <c:v>268.44827586206895</c:v>
                </c:pt>
                <c:pt idx="24">
                  <c:v>280.51724137931035</c:v>
                </c:pt>
                <c:pt idx="25">
                  <c:v>292.58620689655174</c:v>
                </c:pt>
                <c:pt idx="26">
                  <c:v>304.6551724137931</c:v>
                </c:pt>
                <c:pt idx="27">
                  <c:v>316.7241379310345</c:v>
                </c:pt>
                <c:pt idx="28">
                  <c:v>328.7931034482759</c:v>
                </c:pt>
                <c:pt idx="29">
                  <c:v>340.8620689655172</c:v>
                </c:pt>
                <c:pt idx="30">
                  <c:v>352.9310344827586</c:v>
                </c:pt>
                <c:pt idx="31">
                  <c:v>365.0</c:v>
                </c:pt>
              </c:numCache>
            </c:numRef>
          </c:xVal>
          <c:yVal>
            <c:numRef>
              <c:f>Sheet1!$B$70:$B$101</c:f>
              <c:numCache>
                <c:formatCode>General</c:formatCode>
                <c:ptCount val="32"/>
                <c:pt idx="0">
                  <c:v>1.0</c:v>
                </c:pt>
                <c:pt idx="1">
                  <c:v>0.8978255103456679</c:v>
                </c:pt>
                <c:pt idx="2">
                  <c:v>0.8679285684893661</c:v>
                </c:pt>
                <c:pt idx="3">
                  <c:v>0.8429556194034736</c:v>
                </c:pt>
                <c:pt idx="4">
                  <c:v>0.8187012181436218</c:v>
                </c:pt>
                <c:pt idx="5">
                  <c:v>0.7951446898997779</c:v>
                </c:pt>
                <c:pt idx="6">
                  <c:v>0.7722659547391804</c:v>
                </c:pt>
                <c:pt idx="7">
                  <c:v>0.750045510489907</c:v>
                </c:pt>
                <c:pt idx="8">
                  <c:v>0.7284644161169359</c:v>
                </c:pt>
                <c:pt idx="9">
                  <c:v>0.7075042755765276</c:v>
                </c:pt>
                <c:pt idx="10">
                  <c:v>0.6871472221351645</c:v>
                </c:pt>
                <c:pt idx="11">
                  <c:v>0.6673759031396843</c:v>
                </c:pt>
                <c:pt idx="12">
                  <c:v>0.648173465225621</c:v>
                </c:pt>
                <c:pt idx="13">
                  <c:v>0.6295235399511493</c:v>
                </c:pt>
                <c:pt idx="14">
                  <c:v>0.6114102298443818</c:v>
                </c:pt>
                <c:pt idx="15">
                  <c:v>0.5938180948521291</c:v>
                </c:pt>
                <c:pt idx="16">
                  <c:v>0.5767321391785712</c:v>
                </c:pt>
                <c:pt idx="17">
                  <c:v>0.5601377985026188</c:v>
                </c:pt>
                <c:pt idx="18">
                  <c:v>0.5440209275630709</c:v>
                </c:pt>
                <c:pt idx="19">
                  <c:v>0.5283677881009851</c:v>
                </c:pt>
                <c:pt idx="20">
                  <c:v>0.5131650371489831</c:v>
                </c:pt>
                <c:pt idx="21">
                  <c:v>0.4983997156575075</c:v>
                </c:pt>
                <c:pt idx="22">
                  <c:v>0.48405923744833723</c:v>
                </c:pt>
                <c:pt idx="23">
                  <c:v>0.4701313784859423</c:v>
                </c:pt>
                <c:pt idx="24">
                  <c:v>0.45660426645753605</c:v>
                </c:pt>
                <c:pt idx="25">
                  <c:v>0.44346637065294026</c:v>
                </c:pt>
                <c:pt idx="26">
                  <c:v>0.4307064921356369</c:v>
                </c:pt>
                <c:pt idx="27">
                  <c:v>0.41831375419662953</c:v>
                </c:pt>
                <c:pt idx="28">
                  <c:v>0.4062775930829757</c:v>
                </c:pt>
                <c:pt idx="29">
                  <c:v>0.39458774899308807</c:v>
                </c:pt>
                <c:pt idx="30">
                  <c:v>0.38323425733112765</c:v>
                </c:pt>
                <c:pt idx="31">
                  <c:v>0.3722074402130352</c:v>
                </c:pt>
              </c:numCache>
            </c:numRef>
          </c:yVal>
          <c:smooth val="0"/>
        </c:ser>
        <c:ser>
          <c:idx val="3"/>
          <c:order val="3"/>
          <c:tx>
            <c:strRef>
              <c:f>Sheet1!$B$103</c:f>
              <c:strCache>
                <c:ptCount val="1"/>
                <c:pt idx="0">
                  <c:v>Ayushi</c:v>
                </c:pt>
              </c:strCache>
            </c:strRef>
          </c:tx>
          <c:spPr>
            <a:ln w="28575">
              <a:solidFill>
                <a:srgbClr val="CA54FB"/>
              </a:solidFill>
            </a:ln>
          </c:spPr>
          <c:marker>
            <c:symbol val="none"/>
          </c:marker>
          <c:xVal>
            <c:numRef>
              <c:f>Sheet1!$A$104:$A$135</c:f>
              <c:numCache>
                <c:formatCode>General</c:formatCode>
                <c:ptCount val="32"/>
                <c:pt idx="0">
                  <c:v>0.0</c:v>
                </c:pt>
                <c:pt idx="1">
                  <c:v>1.0</c:v>
                </c:pt>
                <c:pt idx="2">
                  <c:v>15.0</c:v>
                </c:pt>
                <c:pt idx="3">
                  <c:v>27.06896551724138</c:v>
                </c:pt>
                <c:pt idx="4">
                  <c:v>39.13793103448276</c:v>
                </c:pt>
                <c:pt idx="5">
                  <c:v>51.206896551724135</c:v>
                </c:pt>
                <c:pt idx="6">
                  <c:v>63.275862068965516</c:v>
                </c:pt>
                <c:pt idx="7">
                  <c:v>75.34482758620689</c:v>
                </c:pt>
                <c:pt idx="8">
                  <c:v>87.41379310344827</c:v>
                </c:pt>
                <c:pt idx="9">
                  <c:v>99.48275862068965</c:v>
                </c:pt>
                <c:pt idx="10">
                  <c:v>111.55172413793103</c:v>
                </c:pt>
                <c:pt idx="11">
                  <c:v>123.62068965517241</c:v>
                </c:pt>
                <c:pt idx="12">
                  <c:v>135.68965517241378</c:v>
                </c:pt>
                <c:pt idx="13">
                  <c:v>147.75862068965517</c:v>
                </c:pt>
                <c:pt idx="14">
                  <c:v>159.82758620689654</c:v>
                </c:pt>
                <c:pt idx="15">
                  <c:v>171.89655172413794</c:v>
                </c:pt>
                <c:pt idx="16">
                  <c:v>183.9655172413793</c:v>
                </c:pt>
                <c:pt idx="17">
                  <c:v>196.0344827586207</c:v>
                </c:pt>
                <c:pt idx="18">
                  <c:v>208.10344827586206</c:v>
                </c:pt>
                <c:pt idx="19">
                  <c:v>220.17241379310343</c:v>
                </c:pt>
                <c:pt idx="20">
                  <c:v>232.24137931034483</c:v>
                </c:pt>
                <c:pt idx="21">
                  <c:v>244.3103448275862</c:v>
                </c:pt>
                <c:pt idx="22">
                  <c:v>256.37931034482756</c:v>
                </c:pt>
                <c:pt idx="23">
                  <c:v>268.44827586206895</c:v>
                </c:pt>
                <c:pt idx="24">
                  <c:v>280.51724137931035</c:v>
                </c:pt>
                <c:pt idx="25">
                  <c:v>292.58620689655174</c:v>
                </c:pt>
                <c:pt idx="26">
                  <c:v>304.6551724137931</c:v>
                </c:pt>
                <c:pt idx="27">
                  <c:v>316.7241379310345</c:v>
                </c:pt>
                <c:pt idx="28">
                  <c:v>328.7931034482759</c:v>
                </c:pt>
                <c:pt idx="29">
                  <c:v>340.8620689655172</c:v>
                </c:pt>
                <c:pt idx="30">
                  <c:v>352.9310344827586</c:v>
                </c:pt>
                <c:pt idx="31">
                  <c:v>365.0</c:v>
                </c:pt>
              </c:numCache>
            </c:numRef>
          </c:xVal>
          <c:yVal>
            <c:numRef>
              <c:f>Sheet1!$B$104:$B$135</c:f>
              <c:numCache>
                <c:formatCode>General</c:formatCode>
                <c:ptCount val="32"/>
                <c:pt idx="0">
                  <c:v>1.0</c:v>
                </c:pt>
                <c:pt idx="1">
                  <c:v>0.7625606991711454</c:v>
                </c:pt>
                <c:pt idx="2">
                  <c:v>0.7426928840375407</c:v>
                </c:pt>
                <c:pt idx="3">
                  <c:v>0.7259814227813279</c:v>
                </c:pt>
                <c:pt idx="4">
                  <c:v>0.709645989010123</c:v>
                </c:pt>
                <c:pt idx="5">
                  <c:v>0.6936781216643385</c:v>
                </c:pt>
                <c:pt idx="6">
                  <c:v>0.678069550068155</c:v>
                </c:pt>
                <c:pt idx="7">
                  <c:v>0.6628121896456618</c:v>
                </c:pt>
                <c:pt idx="8">
                  <c:v>0.6478981377333922</c:v>
                </c:pt>
                <c:pt idx="9">
                  <c:v>0.633319669487079</c:v>
                </c:pt>
                <c:pt idx="10">
                  <c:v>0.6190692338805143</c:v>
                </c:pt>
                <c:pt idx="11">
                  <c:v>0.6051394497944388</c:v>
                </c:pt>
                <c:pt idx="12">
                  <c:v>0.591523102193437</c:v>
                </c:pt>
                <c:pt idx="13">
                  <c:v>0.5782131383888547</c:v>
                </c:pt>
                <c:pt idx="14">
                  <c:v>0.5652026643858075</c:v>
                </c:pt>
                <c:pt idx="15">
                  <c:v>0.552484941312384</c:v>
                </c:pt>
                <c:pt idx="16">
                  <c:v>0.5400533819291973</c:v>
                </c:pt>
                <c:pt idx="17">
                  <c:v>0.527901547217475</c:v>
                </c:pt>
                <c:pt idx="18">
                  <c:v>0.5160231430439219</c:v>
                </c:pt>
                <c:pt idx="19">
                  <c:v>0.5044120169006266</c:v>
                </c:pt>
                <c:pt idx="20">
                  <c:v>0.493062154718324</c:v>
                </c:pt>
                <c:pt idx="21">
                  <c:v>0.48196767775136323</c:v>
                </c:pt>
                <c:pt idx="22">
                  <c:v>0.4711228395327684</c:v>
                </c:pt>
                <c:pt idx="23">
                  <c:v>0.46052202289781213</c:v>
                </c:pt>
                <c:pt idx="24">
                  <c:v>0.45015973707456386</c:v>
                </c:pt>
                <c:pt idx="25">
                  <c:v>0.4400306148399037</c:v>
                </c:pt>
                <c:pt idx="26">
                  <c:v>0.43012940973952885</c:v>
                </c:pt>
                <c:pt idx="27">
                  <c:v>0.42045099337051395</c:v>
                </c:pt>
                <c:pt idx="28">
                  <c:v>0.41099035272501616</c:v>
                </c:pt>
                <c:pt idx="29">
                  <c:v>0.4017425875937507</c:v>
                </c:pt>
                <c:pt idx="30">
                  <c:v>0.3927029080278909</c:v>
                </c:pt>
                <c:pt idx="31">
                  <c:v>0.3838666318580784</c:v>
                </c:pt>
              </c:numCache>
            </c:numRef>
          </c:yVal>
          <c:smooth val="0"/>
        </c:ser>
        <c:ser>
          <c:idx val="4"/>
          <c:order val="4"/>
          <c:tx>
            <c:strRef>
              <c:f>Sheet1!$B$137</c:f>
              <c:strCache>
                <c:ptCount val="1"/>
                <c:pt idx="0">
                  <c:v>Adwaaiit Pande</c:v>
                </c:pt>
              </c:strCache>
            </c:strRef>
          </c:tx>
          <c:spPr>
            <a:ln w="28575">
              <a:solidFill>
                <a:srgbClr val="D69E00"/>
              </a:solidFill>
            </a:ln>
          </c:spPr>
          <c:marker>
            <c:symbol val="none"/>
          </c:marker>
          <c:xVal>
            <c:numRef>
              <c:f>Sheet1!$A$138:$A$169</c:f>
              <c:numCache>
                <c:formatCode>General</c:formatCode>
                <c:ptCount val="32"/>
                <c:pt idx="0">
                  <c:v>0.0</c:v>
                </c:pt>
                <c:pt idx="1">
                  <c:v>1.0</c:v>
                </c:pt>
                <c:pt idx="2">
                  <c:v>15.0</c:v>
                </c:pt>
                <c:pt idx="3">
                  <c:v>27.06896551724138</c:v>
                </c:pt>
                <c:pt idx="4">
                  <c:v>39.13793103448276</c:v>
                </c:pt>
                <c:pt idx="5">
                  <c:v>51.206896551724135</c:v>
                </c:pt>
                <c:pt idx="6">
                  <c:v>63.275862068965516</c:v>
                </c:pt>
                <c:pt idx="7">
                  <c:v>75.34482758620689</c:v>
                </c:pt>
                <c:pt idx="8">
                  <c:v>87.41379310344827</c:v>
                </c:pt>
                <c:pt idx="9">
                  <c:v>99.48275862068965</c:v>
                </c:pt>
                <c:pt idx="10">
                  <c:v>111.55172413793103</c:v>
                </c:pt>
                <c:pt idx="11">
                  <c:v>123.62068965517241</c:v>
                </c:pt>
                <c:pt idx="12">
                  <c:v>135.68965517241378</c:v>
                </c:pt>
                <c:pt idx="13">
                  <c:v>147.75862068965517</c:v>
                </c:pt>
                <c:pt idx="14">
                  <c:v>159.82758620689654</c:v>
                </c:pt>
                <c:pt idx="15">
                  <c:v>171.89655172413794</c:v>
                </c:pt>
                <c:pt idx="16">
                  <c:v>183.9655172413793</c:v>
                </c:pt>
                <c:pt idx="17">
                  <c:v>196.0344827586207</c:v>
                </c:pt>
                <c:pt idx="18">
                  <c:v>208.10344827586206</c:v>
                </c:pt>
                <c:pt idx="19">
                  <c:v>220.17241379310343</c:v>
                </c:pt>
                <c:pt idx="20">
                  <c:v>232.24137931034483</c:v>
                </c:pt>
                <c:pt idx="21">
                  <c:v>244.3103448275862</c:v>
                </c:pt>
                <c:pt idx="22">
                  <c:v>256.37931034482756</c:v>
                </c:pt>
                <c:pt idx="23">
                  <c:v>268.44827586206895</c:v>
                </c:pt>
                <c:pt idx="24">
                  <c:v>280.51724137931035</c:v>
                </c:pt>
                <c:pt idx="25">
                  <c:v>292.58620689655174</c:v>
                </c:pt>
                <c:pt idx="26">
                  <c:v>304.6551724137931</c:v>
                </c:pt>
                <c:pt idx="27">
                  <c:v>316.7241379310345</c:v>
                </c:pt>
                <c:pt idx="28">
                  <c:v>328.7931034482759</c:v>
                </c:pt>
                <c:pt idx="29">
                  <c:v>340.8620689655172</c:v>
                </c:pt>
                <c:pt idx="30">
                  <c:v>352.9310344827586</c:v>
                </c:pt>
                <c:pt idx="31">
                  <c:v>365.0</c:v>
                </c:pt>
              </c:numCache>
            </c:numRef>
          </c:xVal>
          <c:yVal>
            <c:numRef>
              <c:f>Sheet1!$B$138:$B$169</c:f>
              <c:numCache>
                <c:formatCode>General</c:formatCode>
                <c:ptCount val="32"/>
                <c:pt idx="0">
                  <c:v>1.0</c:v>
                </c:pt>
                <c:pt idx="1">
                  <c:v>0.9372407559218775</c:v>
                </c:pt>
                <c:pt idx="2">
                  <c:v>0.9266756412035443</c:v>
                </c:pt>
                <c:pt idx="3">
                  <c:v>0.9176634217565568</c:v>
                </c:pt>
                <c:pt idx="4">
                  <c:v>0.9087388490499706</c:v>
                </c:pt>
                <c:pt idx="5">
                  <c:v>0.8999010706909706</c:v>
                </c:pt>
                <c:pt idx="6">
                  <c:v>0.8911492425765369</c:v>
                </c:pt>
                <c:pt idx="7">
                  <c:v>0.882482528812824</c:v>
                </c:pt>
                <c:pt idx="8">
                  <c:v>0.8739001016353228</c:v>
                </c:pt>
                <c:pt idx="9">
                  <c:v>0.865401141329802</c:v>
                </c:pt>
                <c:pt idx="10">
                  <c:v>0.8569848361540144</c:v>
                </c:pt>
                <c:pt idx="11">
                  <c:v>0.848650382260169</c:v>
                </c:pt>
                <c:pt idx="12">
                  <c:v>0.8403969836181533</c:v>
                </c:pt>
                <c:pt idx="13">
                  <c:v>0.8322238519395043</c:v>
                </c:pt>
                <c:pt idx="14">
                  <c:v>0.8241302066021186</c:v>
                </c:pt>
                <c:pt idx="15">
                  <c:v>0.8161152745756944</c:v>
                </c:pt>
                <c:pt idx="16">
                  <c:v>0.8081782903478992</c:v>
                </c:pt>
                <c:pt idx="17">
                  <c:v>0.8003184958512544</c:v>
                </c:pt>
                <c:pt idx="18">
                  <c:v>0.7925351403907324</c:v>
                </c:pt>
                <c:pt idx="19">
                  <c:v>0.7848274805720565</c:v>
                </c:pt>
                <c:pt idx="20">
                  <c:v>0.7771947802306994</c:v>
                </c:pt>
                <c:pt idx="21">
                  <c:v>0.769636310361571</c:v>
                </c:pt>
                <c:pt idx="22">
                  <c:v>0.762151349049391</c:v>
                </c:pt>
                <c:pt idx="23">
                  <c:v>0.7547391813997376</c:v>
                </c:pt>
                <c:pt idx="24">
                  <c:v>0.7473990994707683</c:v>
                </c:pt>
                <c:pt idx="25">
                  <c:v>0.7401304022056032</c:v>
                </c:pt>
                <c:pt idx="26">
                  <c:v>0.7329323953653665</c:v>
                </c:pt>
                <c:pt idx="27">
                  <c:v>0.7258043914628791</c:v>
                </c:pt>
                <c:pt idx="28">
                  <c:v>0.7187457096969969</c:v>
                </c:pt>
                <c:pt idx="29">
                  <c:v>0.7117556758875863</c:v>
                </c:pt>
                <c:pt idx="30">
                  <c:v>0.7048336224111328</c:v>
                </c:pt>
                <c:pt idx="31">
                  <c:v>0.6979788881369761</c:v>
                </c:pt>
              </c:numCache>
            </c:numRef>
          </c:yVal>
          <c:smooth val="0"/>
        </c:ser>
        <c:axId val="-2128940872"/>
        <c:axId val="-2129643912"/>
      </c:scatterChart>
      <c:valAx>
        <c:axId val="-2128940872"/>
        <c:scaling>
          <c:orientation val="minMax"/>
          <c:max val="365.0"/>
          <c:min val="0.0"/>
        </c:scaling>
        <c:delete val="0"/>
        <c:axPos val="b"/>
        <c:title>
          <c:tx>
            <c:rich>
              <a:bodyPr/>
              <a:lstStyle/>
              <a:p>
                <a:r>
                  <a:rPr sz="900" b="0">
                    <a:solidFill>
                      <a:srgbClr val="5F6266"/>
                    </a:solidFill>
                  </a:rPr>
                  <a:t>Delay (days)</a:t>
                </a:r>
              </a:p>
            </c:rich>
          </c:tx>
          <c:layout/>
          <c:overlay val="0"/>
        </c:title>
        <c:numFmt formatCode="0" sourceLinked="0"/>
        <c:majorTickMark val="out"/>
        <c:minorTickMark val="none"/>
        <c:tickLblPos val="low"/>
        <c:spPr>
          <a:ln>
            <a:solidFill>
              <a:srgbClr val="B9B6B8"/>
            </a:solidFill>
          </a:ln>
        </c:spPr>
        <c:txPr>
          <a:bodyPr/>
          <a:lstStyle/>
          <a:p>
            <a:pPr>
              <a:defRPr sz="900">
                <a:solidFill>
                  <a:srgbClr val="5F6266"/>
                </a:solidFill>
              </a:defRPr>
            </a:pPr>
          </a:p>
        </c:txPr>
        <c:crossAx val="-2129643912"/>
        <c:crosses val="autoZero"/>
        <c:crossBetween val="midCat"/>
        <c:majorUnit val="90.0"/>
      </c:valAx>
      <c:valAx>
        <c:axId val="-2129643912"/>
        <c:scaling>
          <c:orientation val="minMax"/>
          <c:max val="1.05"/>
          <c:min val="0.0"/>
        </c:scaling>
        <c:delete val="0"/>
        <c:axPos val="l"/>
        <c:majorGridlines>
          <c:spPr>
            <a:ln w="9525">
              <a:solidFill>
                <a:srgbClr val="E7E4E6"/>
              </a:solidFill>
            </a:ln>
          </c:spPr>
        </c:majorGridlines>
        <c:numFmt formatCode="0.0" sourceLinked="0"/>
        <c:majorTickMark val="out"/>
        <c:minorTickMark val="none"/>
        <c:tickLblPos val="low"/>
        <c:spPr>
          <a:ln>
            <a:solidFill>
              <a:srgbClr val="B9B6B8"/>
            </a:solidFill>
          </a:ln>
        </c:spPr>
        <c:txPr>
          <a:bodyPr/>
          <a:lstStyle/>
          <a:p>
            <a:pPr>
              <a:defRPr sz="900">
                <a:solidFill>
                  <a:srgbClr val="5F6266"/>
                </a:solidFill>
              </a:defRPr>
            </a:pPr>
          </a:p>
        </c:txPr>
        <c:crossAx val="-2128940872"/>
        <c:crosses val="autoZero"/>
        <c:crossBetween val="midCat"/>
        <c:majorUnit val="0.5"/>
      </c:valAx>
    </c:plotArea>
    <c:plotVisOnly val="1"/>
    <c:dispBlanksAs val="gap"/>
    <c:showDLblsOverMax val="0"/>
  </c:chart>
  <c:txPr>
    <a:bodyPr/>
    <a:lstStyle/>
    <a:p>
      <a:pPr>
        <a:defRPr sz="900">
          <a:solidFill>
            <a:srgbClr val="36393B"/>
          </a:solidFill>
          <a:latin typeface="+mn-lt"/>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36393B"/>
                </a:solidFill>
              </a:rPr>
              <a:t>EUT risky share vs. risk aversion</a:t>
            </a:r>
          </a:p>
          <a:p>
            <a:r>
              <a:rPr sz="1050" i="1" b="0">
                <a:solidFill>
                  <a:srgbClr val="5F6266"/>
                </a:solidFill>
              </a:rPr>
              <a:t>share = min(2.48 / γ, 100%) for the 10%-capped tangency portfolio; Kshitij at floored γ = 0.05</a:t>
            </a:r>
          </a:p>
        </c:rich>
      </c:tx>
      <c:layout/>
      <c:overlay val="0"/>
    </c:title>
    <c:plotArea>
      <c:scatterChart>
        <c:scatterStyle val="lineMarker"/>
        <c:varyColors val="0"/>
        <c:ser>
          <c:idx val="0"/>
          <c:order val="0"/>
          <c:tx>
            <c:strRef>
              <c:f>Sheet1!$B$1</c:f>
              <c:strCache>
                <c:ptCount val="1"/>
                <c:pt idx="0">
                  <c:v>Long-only risky share</c:v>
                </c:pt>
              </c:strCache>
            </c:strRef>
          </c:tx>
          <c:spPr>
            <a:ln w="31750">
              <a:solidFill>
                <a:srgbClr val="36393B"/>
              </a:solidFill>
            </a:ln>
          </c:spPr>
          <c:marker>
            <c:symbol val="none"/>
          </c:marker>
          <c:xVal>
            <c:numRef>
              <c:f>Sheet1!$A$2:$A$65</c:f>
              <c:numCache>
                <c:formatCode>General</c:formatCode>
                <c:ptCount val="64"/>
                <c:pt idx="0">
                  <c:v>0.05</c:v>
                </c:pt>
                <c:pt idx="1">
                  <c:v>0.1</c:v>
                </c:pt>
                <c:pt idx="2">
                  <c:v>0.15000000000000002</c:v>
                </c:pt>
                <c:pt idx="3">
                  <c:v>0.2</c:v>
                </c:pt>
                <c:pt idx="4">
                  <c:v>0.25</c:v>
                </c:pt>
                <c:pt idx="5">
                  <c:v>0.3</c:v>
                </c:pt>
                <c:pt idx="6">
                  <c:v>0.35000000000000003</c:v>
                </c:pt>
                <c:pt idx="7">
                  <c:v>0.4</c:v>
                </c:pt>
                <c:pt idx="8">
                  <c:v>0.45</c:v>
                </c:pt>
                <c:pt idx="9">
                  <c:v>0.5</c:v>
                </c:pt>
                <c:pt idx="10">
                  <c:v>0.55</c:v>
                </c:pt>
                <c:pt idx="11">
                  <c:v>0.6000000000000001</c:v>
                </c:pt>
                <c:pt idx="12">
                  <c:v>0.6500000000000001</c:v>
                </c:pt>
                <c:pt idx="13">
                  <c:v>0.7000000000000001</c:v>
                </c:pt>
                <c:pt idx="14">
                  <c:v>0.7500000000000001</c:v>
                </c:pt>
                <c:pt idx="15">
                  <c:v>0.8</c:v>
                </c:pt>
                <c:pt idx="16">
                  <c:v>0.8500000000000001</c:v>
                </c:pt>
                <c:pt idx="17">
                  <c:v>0.9000000000000001</c:v>
                </c:pt>
                <c:pt idx="18">
                  <c:v>0.9500000000000001</c:v>
                </c:pt>
                <c:pt idx="19">
                  <c:v>1.0</c:v>
                </c:pt>
                <c:pt idx="20">
                  <c:v>1.05</c:v>
                </c:pt>
                <c:pt idx="21">
                  <c:v>1.1</c:v>
                </c:pt>
                <c:pt idx="22">
                  <c:v>1.1500000000000001</c:v>
                </c:pt>
                <c:pt idx="23">
                  <c:v>1.2000000000000002</c:v>
                </c:pt>
                <c:pt idx="24">
                  <c:v>1.2500000000000002</c:v>
                </c:pt>
                <c:pt idx="25">
                  <c:v>1.3</c:v>
                </c:pt>
                <c:pt idx="26">
                  <c:v>1.35</c:v>
                </c:pt>
                <c:pt idx="27">
                  <c:v>1.4000000000000001</c:v>
                </c:pt>
                <c:pt idx="28">
                  <c:v>1.4500000000000002</c:v>
                </c:pt>
                <c:pt idx="29">
                  <c:v>1.5000000000000002</c:v>
                </c:pt>
                <c:pt idx="30">
                  <c:v>1.55</c:v>
                </c:pt>
                <c:pt idx="31">
                  <c:v>1.6</c:v>
                </c:pt>
                <c:pt idx="32">
                  <c:v>1.6500000000000001</c:v>
                </c:pt>
                <c:pt idx="33">
                  <c:v>1.7000000000000002</c:v>
                </c:pt>
                <c:pt idx="34">
                  <c:v>1.7500000000000002</c:v>
                </c:pt>
                <c:pt idx="35">
                  <c:v>1.8</c:v>
                </c:pt>
                <c:pt idx="36">
                  <c:v>1.85</c:v>
                </c:pt>
                <c:pt idx="37">
                  <c:v>1.9000000000000001</c:v>
                </c:pt>
                <c:pt idx="38">
                  <c:v>1.9500000000000002</c:v>
                </c:pt>
                <c:pt idx="39">
                  <c:v>2.0</c:v>
                </c:pt>
                <c:pt idx="40">
                  <c:v>2.05</c:v>
                </c:pt>
                <c:pt idx="41">
                  <c:v>2.1</c:v>
                </c:pt>
                <c:pt idx="42">
                  <c:v>2.15</c:v>
                </c:pt>
                <c:pt idx="43">
                  <c:v>2.1999999999999997</c:v>
                </c:pt>
                <c:pt idx="44">
                  <c:v>2.25</c:v>
                </c:pt>
                <c:pt idx="45">
                  <c:v>2.3</c:v>
                </c:pt>
                <c:pt idx="46">
                  <c:v>2.35</c:v>
                </c:pt>
                <c:pt idx="47">
                  <c:v>2.4</c:v>
                </c:pt>
                <c:pt idx="48">
                  <c:v>2.45</c:v>
                </c:pt>
                <c:pt idx="49">
                  <c:v>2.5</c:v>
                </c:pt>
                <c:pt idx="50">
                  <c:v>2.55</c:v>
                </c:pt>
                <c:pt idx="51">
                  <c:v>2.6</c:v>
                </c:pt>
                <c:pt idx="52">
                  <c:v>2.65</c:v>
                </c:pt>
                <c:pt idx="53">
                  <c:v>2.7</c:v>
                </c:pt>
                <c:pt idx="54">
                  <c:v>2.75</c:v>
                </c:pt>
                <c:pt idx="55">
                  <c:v>2.8</c:v>
                </c:pt>
                <c:pt idx="56">
                  <c:v>2.85</c:v>
                </c:pt>
                <c:pt idx="57">
                  <c:v>2.9</c:v>
                </c:pt>
                <c:pt idx="58">
                  <c:v>2.95</c:v>
                </c:pt>
                <c:pt idx="59">
                  <c:v>3.0</c:v>
                </c:pt>
                <c:pt idx="60">
                  <c:v>3.05</c:v>
                </c:pt>
                <c:pt idx="61">
                  <c:v>3.1</c:v>
                </c:pt>
                <c:pt idx="62">
                  <c:v>3.15</c:v>
                </c:pt>
                <c:pt idx="63">
                  <c:v>3.2</c:v>
                </c:pt>
              </c:numCache>
            </c:numRef>
          </c:xVal>
          <c:yVal>
            <c:numRef>
              <c:f>Sheet1!$B$2:$B$65</c:f>
              <c:numCache>
                <c:formatCode>General</c:formatCode>
                <c:ptCount val="64"/>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pt idx="16">
                  <c:v>1.0</c:v>
                </c:pt>
                <c:pt idx="17">
                  <c:v>1.0</c:v>
                </c:pt>
                <c:pt idx="18">
                  <c:v>1.0</c:v>
                </c:pt>
                <c:pt idx="19">
                  <c:v>1.0</c:v>
                </c:pt>
                <c:pt idx="20">
                  <c:v>1.0</c:v>
                </c:pt>
                <c:pt idx="21">
                  <c:v>1.0</c:v>
                </c:pt>
                <c:pt idx="22">
                  <c:v>1.0</c:v>
                </c:pt>
                <c:pt idx="23">
                  <c:v>1.0</c:v>
                </c:pt>
                <c:pt idx="24">
                  <c:v>1.0</c:v>
                </c:pt>
                <c:pt idx="25">
                  <c:v>1.0</c:v>
                </c:pt>
                <c:pt idx="26">
                  <c:v>1.0</c:v>
                </c:pt>
                <c:pt idx="27">
                  <c:v>1.0</c:v>
                </c:pt>
                <c:pt idx="28">
                  <c:v>1.0</c:v>
                </c:pt>
                <c:pt idx="29">
                  <c:v>1.0</c:v>
                </c:pt>
                <c:pt idx="30">
                  <c:v>1.0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0.9937659572127687</c:v>
                </c:pt>
                <c:pt idx="50">
                  <c:v>0.9742803502085968</c:v>
                </c:pt>
                <c:pt idx="51">
                  <c:v>0.9555441896276622</c:v>
                </c:pt>
                <c:pt idx="52">
                  <c:v>0.9375150539743101</c:v>
                </c:pt>
                <c:pt idx="53">
                  <c:v>0.9201536640858969</c:v>
                </c:pt>
                <c:pt idx="54">
                  <c:v>0.9034235974661534</c:v>
                </c:pt>
                <c:pt idx="55">
                  <c:v>0.8872910332256865</c:v>
                </c:pt>
                <c:pt idx="56">
                  <c:v>0.8717245238708498</c:v>
                </c:pt>
                <c:pt idx="57">
                  <c:v>0.8566947907006628</c:v>
                </c:pt>
                <c:pt idx="58">
                  <c:v>0.8421745400108209</c:v>
                </c:pt>
                <c:pt idx="59">
                  <c:v>0.8281382976773073</c:v>
                </c:pt>
                <c:pt idx="60">
                  <c:v>0.8145622600104663</c:v>
                </c:pt>
                <c:pt idx="61">
                  <c:v>0.8014241590425554</c:v>
                </c:pt>
                <c:pt idx="62">
                  <c:v>0.7887031406450545</c:v>
                </c:pt>
                <c:pt idx="63">
                  <c:v>0.7763796540724756</c:v>
                </c:pt>
              </c:numCache>
            </c:numRef>
          </c:yVal>
          <c:smooth val="0"/>
        </c:ser>
        <c:ser>
          <c:idx val="1"/>
          <c:order val="1"/>
          <c:tx>
            <c:strRef>
              <c:f>Sheet1!$B$67</c:f>
              <c:strCache>
                <c:ptCount val="1"/>
                <c:pt idx="0">
                  <c:v>Unclipped 2.48/γ</c:v>
                </c:pt>
              </c:strCache>
            </c:strRef>
          </c:tx>
          <c:spPr>
            <a:ln w="15875">
              <a:solidFill>
                <a:srgbClr val="9A9C9E"/>
              </a:solidFill>
              <a:prstDash val="dash"/>
            </a:ln>
          </c:spPr>
          <c:marker>
            <c:symbol val="none"/>
          </c:marker>
          <c:xVal>
            <c:numRef>
              <c:f>Sheet1!$A$68:$A$87</c:f>
              <c:numCache>
                <c:formatCode>General</c:formatCode>
                <c:ptCount val="20"/>
                <c:pt idx="0">
                  <c:v>1.25</c:v>
                </c:pt>
                <c:pt idx="1">
                  <c:v>1.3526315789473684</c:v>
                </c:pt>
                <c:pt idx="2">
                  <c:v>1.4552631578947368</c:v>
                </c:pt>
                <c:pt idx="3">
                  <c:v>1.5578947368421052</c:v>
                </c:pt>
                <c:pt idx="4">
                  <c:v>1.6605263157894736</c:v>
                </c:pt>
                <c:pt idx="5">
                  <c:v>1.763157894736842</c:v>
                </c:pt>
                <c:pt idx="6">
                  <c:v>1.8657894736842107</c:v>
                </c:pt>
                <c:pt idx="7">
                  <c:v>1.968421052631579</c:v>
                </c:pt>
                <c:pt idx="8">
                  <c:v>2.0710526315789473</c:v>
                </c:pt>
                <c:pt idx="9">
                  <c:v>2.173684210526316</c:v>
                </c:pt>
                <c:pt idx="10">
                  <c:v>2.276315789473684</c:v>
                </c:pt>
                <c:pt idx="11">
                  <c:v>2.378947368421053</c:v>
                </c:pt>
                <c:pt idx="12">
                  <c:v>2.4815789473684213</c:v>
                </c:pt>
                <c:pt idx="13">
                  <c:v>2.5842105263157897</c:v>
                </c:pt>
                <c:pt idx="14">
                  <c:v>2.686842105263158</c:v>
                </c:pt>
                <c:pt idx="15">
                  <c:v>2.7894736842105265</c:v>
                </c:pt>
                <c:pt idx="16">
                  <c:v>2.892105263157895</c:v>
                </c:pt>
                <c:pt idx="17">
                  <c:v>2.9947368421052634</c:v>
                </c:pt>
                <c:pt idx="18">
                  <c:v>3.0973684210526318</c:v>
                </c:pt>
                <c:pt idx="19">
                  <c:v>3.2</c:v>
                </c:pt>
              </c:numCache>
            </c:numRef>
          </c:xVal>
          <c:yVal>
            <c:numRef>
              <c:f>Sheet1!$B$68:$B$87</c:f>
              <c:numCache>
                <c:formatCode>General</c:formatCode>
                <c:ptCount val="20"/>
                <c:pt idx="0">
                  <c:v>1.9875319144255374</c:v>
                </c:pt>
                <c:pt idx="1">
                  <c:v>1.8367269637200978</c:v>
                </c:pt>
                <c:pt idx="2">
                  <c:v>1.7071928740544853</c:v>
                </c:pt>
                <c:pt idx="3">
                  <c:v>1.5947257759326525</c:v>
                </c:pt>
                <c:pt idx="4">
                  <c:v>1.496161108323503</c:v>
                </c:pt>
                <c:pt idx="5">
                  <c:v>1.4090711333613886</c:v>
                </c:pt>
                <c:pt idx="6">
                  <c:v>1.331562283994542</c:v>
                </c:pt>
                <c:pt idx="7">
                  <c:v>1.262135908224773</c:v>
                </c:pt>
                <c:pt idx="8">
                  <c:v>1.1995904184906359</c:v>
                </c:pt>
                <c:pt idx="9">
                  <c:v>1.1429511614432568</c:v>
                </c:pt>
                <c:pt idx="10">
                  <c:v>1.0914192593666248</c:v>
                </c:pt>
                <c:pt idx="11">
                  <c:v>1.0443336939735954</c:v>
                </c:pt>
                <c:pt idx="12">
                  <c:v>1.0011427988887913</c:v>
                </c:pt>
                <c:pt idx="13">
                  <c:v>0.961382545165102</c:v>
                </c:pt>
                <c:pt idx="14">
                  <c:v>0.9246598034790697</c:v>
                </c:pt>
                <c:pt idx="15">
                  <c:v>0.8906393012755945</c:v>
                </c:pt>
                <c:pt idx="16">
                  <c:v>0.8590333570083077</c:v>
                </c:pt>
                <c:pt idx="17">
                  <c:v>0.8295937252654924</c:v>
                </c:pt>
                <c:pt idx="18">
                  <c:v>0.8021050631708838</c:v>
                </c:pt>
                <c:pt idx="19">
                  <c:v>0.7763796540724756</c:v>
                </c:pt>
              </c:numCache>
            </c:numRef>
          </c:yVal>
          <c:smooth val="0"/>
        </c:ser>
        <c:ser>
          <c:idx val="2"/>
          <c:order val="2"/>
          <c:tx>
            <c:strRef>
              <c:f>Sheet1!$B$89</c:f>
              <c:strCache>
                <c:ptCount val="1"/>
                <c:pt idx="0">
                  <c:v>Shree Charan</c:v>
                </c:pt>
              </c:strCache>
            </c:strRef>
          </c:tx>
          <c:spPr>
            <a:ln>
              <a:noFill/>
            </a:ln>
          </c:spPr>
          <c:marker>
            <c:symbol val="circle"/>
            <c:size val="11"/>
            <c:spPr>
              <a:solidFill>
                <a:srgbClr val="4D62EF"/>
              </a:solidFill>
              <a:ln w="19050">
                <a:solidFill>
                  <a:srgbClr val="FFFFFF"/>
                </a:solidFill>
              </a:ln>
            </c:spPr>
          </c:marker>
          <c:xVal>
            <c:numRef>
              <c:f>Sheet1!$A$90:$A$90</c:f>
              <c:numCache>
                <c:formatCode>General</c:formatCode>
                <c:ptCount val="1"/>
                <c:pt idx="0">
                  <c:v>2.212</c:v>
                </c:pt>
              </c:numCache>
            </c:numRef>
          </c:xVal>
          <c:yVal>
            <c:numRef>
              <c:f>Sheet1!$B$90:$B$90</c:f>
              <c:numCache>
                <c:formatCode>General</c:formatCode>
                <c:ptCount val="1"/>
                <c:pt idx="0">
                  <c:v>1.0</c:v>
                </c:pt>
              </c:numCache>
            </c:numRef>
          </c:yVal>
          <c:smooth val="0"/>
        </c:ser>
        <c:ser>
          <c:idx val="3"/>
          <c:order val="3"/>
          <c:tx>
            <c:strRef>
              <c:f>Sheet1!$B$92</c:f>
              <c:strCache>
                <c:ptCount val="1"/>
                <c:pt idx="0">
                  <c:v>Kshitij</c:v>
                </c:pt>
              </c:strCache>
            </c:strRef>
          </c:tx>
          <c:spPr>
            <a:ln>
              <a:noFill/>
            </a:ln>
          </c:spPr>
          <c:marker>
            <c:symbol val="circle"/>
            <c:size val="11"/>
            <c:spPr>
              <a:solidFill>
                <a:srgbClr val="FD4C00"/>
              </a:solidFill>
              <a:ln w="19050">
                <a:solidFill>
                  <a:srgbClr val="FFFFFF"/>
                </a:solidFill>
              </a:ln>
            </c:spPr>
          </c:marker>
          <c:xVal>
            <c:numRef>
              <c:f>Sheet1!$A$93:$A$93</c:f>
              <c:numCache>
                <c:formatCode>General</c:formatCode>
                <c:ptCount val="1"/>
                <c:pt idx="0">
                  <c:v>0.05</c:v>
                </c:pt>
              </c:numCache>
            </c:numRef>
          </c:xVal>
          <c:yVal>
            <c:numRef>
              <c:f>Sheet1!$B$93:$B$93</c:f>
              <c:numCache>
                <c:formatCode>General</c:formatCode>
                <c:ptCount val="1"/>
                <c:pt idx="0">
                  <c:v>1.0</c:v>
                </c:pt>
              </c:numCache>
            </c:numRef>
          </c:yVal>
          <c:smooth val="0"/>
        </c:ser>
        <c:ser>
          <c:idx val="4"/>
          <c:order val="4"/>
          <c:tx>
            <c:strRef>
              <c:f>Sheet1!$B$95</c:f>
              <c:strCache>
                <c:ptCount val="1"/>
                <c:pt idx="0">
                  <c:v>Kartika</c:v>
                </c:pt>
              </c:strCache>
            </c:strRef>
          </c:tx>
          <c:spPr>
            <a:ln>
              <a:noFill/>
            </a:ln>
          </c:spPr>
          <c:marker>
            <c:symbol val="circle"/>
            <c:size val="11"/>
            <c:spPr>
              <a:solidFill>
                <a:srgbClr val="12A385"/>
              </a:solidFill>
              <a:ln w="19050">
                <a:solidFill>
                  <a:srgbClr val="FFFFFF"/>
                </a:solidFill>
              </a:ln>
            </c:spPr>
          </c:marker>
          <c:xVal>
            <c:numRef>
              <c:f>Sheet1!$A$96:$A$96</c:f>
              <c:numCache>
                <c:formatCode>General</c:formatCode>
                <c:ptCount val="1"/>
                <c:pt idx="0">
                  <c:v>0.2</c:v>
                </c:pt>
              </c:numCache>
            </c:numRef>
          </c:xVal>
          <c:yVal>
            <c:numRef>
              <c:f>Sheet1!$B$96:$B$96</c:f>
              <c:numCache>
                <c:formatCode>General</c:formatCode>
                <c:ptCount val="1"/>
                <c:pt idx="0">
                  <c:v>1.0</c:v>
                </c:pt>
              </c:numCache>
            </c:numRef>
          </c:yVal>
          <c:smooth val="0"/>
        </c:ser>
        <c:ser>
          <c:idx val="5"/>
          <c:order val="5"/>
          <c:tx>
            <c:strRef>
              <c:f>Sheet1!$B$98</c:f>
              <c:strCache>
                <c:ptCount val="1"/>
                <c:pt idx="0">
                  <c:v>Ayushi</c:v>
                </c:pt>
              </c:strCache>
            </c:strRef>
          </c:tx>
          <c:spPr>
            <a:ln>
              <a:noFill/>
            </a:ln>
          </c:spPr>
          <c:marker>
            <c:symbol val="circle"/>
            <c:size val="11"/>
            <c:spPr>
              <a:solidFill>
                <a:srgbClr val="CA54FB"/>
              </a:solidFill>
              <a:ln w="19050">
                <a:solidFill>
                  <a:srgbClr val="FFFFFF"/>
                </a:solidFill>
              </a:ln>
            </c:spPr>
          </c:marker>
          <c:xVal>
            <c:numRef>
              <c:f>Sheet1!$A$99:$A$99</c:f>
              <c:numCache>
                <c:formatCode>General</c:formatCode>
                <c:ptCount val="1"/>
                <c:pt idx="0">
                  <c:v>2.206</c:v>
                </c:pt>
              </c:numCache>
            </c:numRef>
          </c:xVal>
          <c:yVal>
            <c:numRef>
              <c:f>Sheet1!$B$99:$B$99</c:f>
              <c:numCache>
                <c:formatCode>General</c:formatCode>
                <c:ptCount val="1"/>
                <c:pt idx="0">
                  <c:v>1.0</c:v>
                </c:pt>
              </c:numCache>
            </c:numRef>
          </c:yVal>
          <c:smooth val="0"/>
        </c:ser>
        <c:ser>
          <c:idx val="6"/>
          <c:order val="6"/>
          <c:tx>
            <c:strRef>
              <c:f>Sheet1!$B$101</c:f>
              <c:strCache>
                <c:ptCount val="1"/>
                <c:pt idx="0">
                  <c:v>Adwaaiit Pande</c:v>
                </c:pt>
              </c:strCache>
            </c:strRef>
          </c:tx>
          <c:spPr>
            <a:ln>
              <a:noFill/>
            </a:ln>
          </c:spPr>
          <c:marker>
            <c:symbol val="circle"/>
            <c:size val="11"/>
            <c:spPr>
              <a:solidFill>
                <a:srgbClr val="D69E00"/>
              </a:solidFill>
              <a:ln w="19050">
                <a:solidFill>
                  <a:srgbClr val="FFFFFF"/>
                </a:solidFill>
              </a:ln>
            </c:spPr>
          </c:marker>
          <c:xVal>
            <c:numRef>
              <c:f>Sheet1!$A$102:$A$102</c:f>
              <c:numCache>
                <c:formatCode>General</c:formatCode>
                <c:ptCount val="1"/>
                <c:pt idx="0">
                  <c:v>2.187</c:v>
                </c:pt>
              </c:numCache>
            </c:numRef>
          </c:xVal>
          <c:yVal>
            <c:numRef>
              <c:f>Sheet1!$B$102:$B$102</c:f>
              <c:numCache>
                <c:formatCode>General</c:formatCode>
                <c:ptCount val="1"/>
                <c:pt idx="0">
                  <c:v>1.0</c:v>
                </c:pt>
              </c:numCache>
            </c:numRef>
          </c:yVal>
          <c:smooth val="0"/>
        </c:ser>
        <c:axId val="-2128940872"/>
        <c:axId val="-2129643912"/>
      </c:scatterChart>
      <c:valAx>
        <c:axId val="-2128940872"/>
        <c:scaling>
          <c:orientation val="minMax"/>
          <c:max val="3.2"/>
          <c:min val="0.0"/>
        </c:scaling>
        <c:delete val="0"/>
        <c:axPos val="b"/>
        <c:title>
          <c:tx>
            <c:rich>
              <a:bodyPr/>
              <a:lstStyle/>
              <a:p>
                <a:r>
                  <a:rPr sz="1050" b="0">
                    <a:solidFill>
                      <a:srgbClr val="5F6266"/>
                    </a:solidFill>
                  </a:rPr>
                  <a:t>Risk aversion γ</a:t>
                </a:r>
              </a:p>
            </c:rich>
          </c:tx>
          <c:layout/>
          <c:overlay val="0"/>
        </c:title>
        <c:numFmt formatCode="0.0" sourceLinked="0"/>
        <c:majorTickMark val="out"/>
        <c:minorTickMark val="none"/>
        <c:tickLblPos val="low"/>
        <c:spPr>
          <a:ln>
            <a:solidFill>
              <a:srgbClr val="B9B6B8"/>
            </a:solidFill>
          </a:ln>
        </c:spPr>
        <c:txPr>
          <a:bodyPr/>
          <a:lstStyle/>
          <a:p>
            <a:pPr>
              <a:defRPr sz="1000">
                <a:solidFill>
                  <a:srgbClr val="5F6266"/>
                </a:solidFill>
              </a:defRPr>
            </a:pPr>
          </a:p>
        </c:txPr>
        <c:crossAx val="-2129643912"/>
        <c:crosses val="autoZero"/>
        <c:crossBetween val="midCat"/>
        <c:majorUnit val="0.5"/>
      </c:valAx>
      <c:valAx>
        <c:axId val="-2129643912"/>
        <c:scaling>
          <c:orientation val="minMax"/>
          <c:max val="2.0"/>
          <c:min val="0.0"/>
        </c:scaling>
        <c:delete val="0"/>
        <c:axPos val="l"/>
        <c:majorGridlines>
          <c:spPr>
            <a:ln w="9525">
              <a:solidFill>
                <a:srgbClr val="E7E4E6"/>
              </a:solidFill>
            </a:ln>
          </c:spPr>
        </c:majorGridlines>
        <c:title>
          <c:tx>
            <c:rich>
              <a:bodyPr/>
              <a:lstStyle/>
              <a:p>
                <a:r>
                  <a:rPr sz="1050" b="0">
                    <a:solidFill>
                      <a:srgbClr val="5F6266"/>
                    </a:solidFill>
                  </a:rPr>
                  <a:t>Share in tangency portfolio</a:t>
                </a:r>
              </a:p>
            </c:rich>
          </c:tx>
          <c:layout/>
          <c:overlay val="0"/>
        </c:title>
        <c:numFmt formatCode="0%" sourceLinked="0"/>
        <c:majorTickMark val="out"/>
        <c:minorTickMark val="none"/>
        <c:tickLblPos val="low"/>
        <c:spPr>
          <a:ln>
            <a:solidFill>
              <a:srgbClr val="B9B6B8"/>
            </a:solidFill>
          </a:ln>
        </c:spPr>
        <c:txPr>
          <a:bodyPr/>
          <a:lstStyle/>
          <a:p>
            <a:pPr>
              <a:defRPr sz="1000">
                <a:solidFill>
                  <a:srgbClr val="5F6266"/>
                </a:solidFill>
              </a:defRPr>
            </a:pPr>
          </a:p>
        </c:txPr>
        <c:crossAx val="-2128940872"/>
        <c:crosses val="autoZero"/>
        <c:crossBetween val="midCat"/>
        <c:majorUnit val="0.25"/>
      </c:valAx>
    </c:plotArea>
    <c:plotVisOnly val="1"/>
    <c:dispBlanksAs val="gap"/>
    <c:showDLblsOverMax val="0"/>
  </c:chart>
  <c:txPr>
    <a:bodyPr/>
    <a:lstStyle/>
    <a:p>
      <a:pPr>
        <a:defRPr sz="1000">
          <a:solidFill>
            <a:srgbClr val="36393B"/>
          </a:solidFill>
          <a:latin typeface="+mn-lt"/>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36393B"/>
                </a:solidFill>
              </a:rPr>
              <a:t>How each client's money is split</a:t>
            </a:r>
          </a:p>
          <a:p>
            <a:r>
              <a:rPr sz="1050" i="1" b="0">
                <a:solidFill>
                  <a:srgbClr val="5F6266"/>
                </a:solidFill>
              </a:rPr>
              <a:t>safety share = 30% + 16.7% × (λ − 1); safety account = 66% G-Secs, 34% equities</a:t>
            </a:r>
          </a:p>
        </c:rich>
      </c:tx>
      <c:layout/>
      <c:overlay val="0"/>
    </c:title>
    <c:autoTitleDeleted val="0"/>
    <c:plotArea>
      <c:barChart>
        <c:barDir val="col"/>
        <c:grouping val="percentStacked"/>
        <c:ser>
          <c:idx val="0"/>
          <c:order val="0"/>
          <c:tx>
            <c:strRef>
              <c:f>Sheet1!$B$1</c:f>
              <c:strCache>
                <c:ptCount val="1"/>
                <c:pt idx="0">
                  <c:v>G-Secs (safety account)</c:v>
                </c:pt>
              </c:strCache>
            </c:strRef>
          </c:tx>
          <c:spPr>
            <a:solidFill>
              <a:srgbClr val="0E8C74"/>
            </a:solidFill>
            <a:ln w="9525">
              <a:solidFill>
                <a:srgbClr val="FFFFFF"/>
              </a:solidFill>
            </a:ln>
          </c:spPr>
          <c:dLbls>
            <c:numFmt formatCode="0%" sourceLinked="0"/>
            <c:txPr>
              <a:bodyPr/>
              <a:lstStyle/>
              <a:p>
                <a:pPr>
                  <a:defRPr sz="1100" b="1">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Shree Charan</c:v>
                </c:pt>
                <c:pt idx="1">
                  <c:v>Kshitij</c:v>
                </c:pt>
                <c:pt idx="2">
                  <c:v>Kartika</c:v>
                </c:pt>
                <c:pt idx="3">
                  <c:v>Ayushi</c:v>
                </c:pt>
                <c:pt idx="4">
                  <c:v>Adwaaiit</c:v>
                </c:pt>
              </c:strCache>
            </c:strRef>
          </c:cat>
          <c:val>
            <c:numRef>
              <c:f>Sheet1!$B$2:$B$6</c:f>
              <c:numCache>
                <c:formatCode>General</c:formatCode>
                <c:ptCount val="5"/>
                <c:pt idx="0">
                  <c:v>0.19925397123377556</c:v>
                </c:pt>
                <c:pt idx="1">
                  <c:v>0.2656719616440282</c:v>
                </c:pt>
                <c:pt idx="2">
                  <c:v>0.19925397123377556</c:v>
                </c:pt>
                <c:pt idx="3">
                  <c:v>0.2002502410899293</c:v>
                </c:pt>
                <c:pt idx="4">
                  <c:v>0.2009144209940318</c:v>
                </c:pt>
              </c:numCache>
            </c:numRef>
          </c:val>
        </c:ser>
        <c:ser>
          <c:idx val="1"/>
          <c:order val="1"/>
          <c:tx>
            <c:strRef>
              <c:f>Sheet1!$C$1</c:f>
              <c:strCache>
                <c:ptCount val="1"/>
                <c:pt idx="0">
                  <c:v>Equities (safety account)</c:v>
                </c:pt>
              </c:strCache>
            </c:strRef>
          </c:tx>
          <c:spPr>
            <a:solidFill>
              <a:srgbClr val="8FD3C2"/>
            </a:solidFill>
            <a:ln w="9525">
              <a:solidFill>
                <a:srgbClr val="FFFFFF"/>
              </a:solidFill>
            </a:ln>
          </c:spPr>
          <c:dLbls>
            <c:numFmt formatCode="0%" sourceLinked="0"/>
            <c:txPr>
              <a:bodyPr/>
              <a:lstStyle/>
              <a:p>
                <a:pPr>
                  <a:defRPr sz="1100" b="1">
                    <a:solidFill>
                      <a:srgbClr val="36393B"/>
                    </a:solidFill>
                  </a:defRPr>
                </a:pPr>
              </a:p>
            </c:txPr>
            <c:dLblPos val="ctr"/>
            <c:showLegendKey val="0"/>
            <c:showVal val="1"/>
            <c:showCatName val="0"/>
            <c:showSerName val="0"/>
            <c:showPercent val="0"/>
            <c:showBubbleSize val="0"/>
            <c:showLeaderLines val="1"/>
          </c:dLbls>
          <c:cat>
            <c:strRef>
              <c:f>Sheet1!$A$2:$A$6</c:f>
              <c:strCache>
                <c:ptCount val="5"/>
                <c:pt idx="0">
                  <c:v>Shree Charan</c:v>
                </c:pt>
                <c:pt idx="1">
                  <c:v>Kshitij</c:v>
                </c:pt>
                <c:pt idx="2">
                  <c:v>Kartika</c:v>
                </c:pt>
                <c:pt idx="3">
                  <c:v>Ayushi</c:v>
                </c:pt>
                <c:pt idx="4">
                  <c:v>Adwaaiit</c:v>
                </c:pt>
              </c:strCache>
            </c:strRef>
          </c:cat>
          <c:val>
            <c:numRef>
              <c:f>Sheet1!$C$2:$C$6</c:f>
              <c:numCache>
                <c:formatCode>General</c:formatCode>
                <c:ptCount val="5"/>
                <c:pt idx="0">
                  <c:v>0.10074602876651903</c:v>
                </c:pt>
                <c:pt idx="1">
                  <c:v>0.1343280383548501</c:v>
                </c:pt>
                <c:pt idx="2">
                  <c:v>0.10074602876651903</c:v>
                </c:pt>
                <c:pt idx="3">
                  <c:v>0.10124975891034399</c:v>
                </c:pt>
                <c:pt idx="4">
                  <c:v>0.10158557900622728</c:v>
                </c:pt>
              </c:numCache>
            </c:numRef>
          </c:val>
        </c:ser>
        <c:ser>
          <c:idx val="2"/>
          <c:order val="2"/>
          <c:tx>
            <c:strRef>
              <c:f>Sheet1!$D$1</c:f>
              <c:strCache>
                <c:ptCount val="1"/>
                <c:pt idx="0">
                  <c:v>Aspiration account</c:v>
                </c:pt>
              </c:strCache>
            </c:strRef>
          </c:tx>
          <c:spPr>
            <a:solidFill>
              <a:srgbClr val="C9C6C8"/>
            </a:solidFill>
            <a:ln w="9525">
              <a:solidFill>
                <a:srgbClr val="FFFFFF"/>
              </a:solidFill>
            </a:ln>
          </c:spPr>
          <c:dLbls>
            <c:numFmt formatCode="0%" sourceLinked="0"/>
            <c:txPr>
              <a:bodyPr/>
              <a:lstStyle/>
              <a:p>
                <a:pPr>
                  <a:defRPr sz="1100" b="1">
                    <a:solidFill>
                      <a:srgbClr val="36393B"/>
                    </a:solidFill>
                  </a:defRPr>
                </a:pPr>
              </a:p>
            </c:txPr>
            <c:dLblPos val="ctr"/>
            <c:showLegendKey val="0"/>
            <c:showVal val="1"/>
            <c:showCatName val="0"/>
            <c:showSerName val="0"/>
            <c:showPercent val="0"/>
            <c:showBubbleSize val="0"/>
            <c:showLeaderLines val="1"/>
          </c:dLbls>
          <c:cat>
            <c:strRef>
              <c:f>Sheet1!$A$2:$A$6</c:f>
              <c:strCache>
                <c:ptCount val="5"/>
                <c:pt idx="0">
                  <c:v>Shree Charan</c:v>
                </c:pt>
                <c:pt idx="1">
                  <c:v>Kshitij</c:v>
                </c:pt>
                <c:pt idx="2">
                  <c:v>Kartika</c:v>
                </c:pt>
                <c:pt idx="3">
                  <c:v>Ayushi</c:v>
                </c:pt>
                <c:pt idx="4">
                  <c:v>Adwaaiit</c:v>
                </c:pt>
              </c:strCache>
            </c:strRef>
          </c:cat>
          <c:val>
            <c:numRef>
              <c:f>Sheet1!$D$2:$D$6</c:f>
              <c:numCache>
                <c:formatCode>General</c:formatCode>
                <c:ptCount val="5"/>
                <c:pt idx="0">
                  <c:v>0.6999999999997054</c:v>
                </c:pt>
                <c:pt idx="1">
                  <c:v>0.6000000000011216</c:v>
                </c:pt>
                <c:pt idx="2">
                  <c:v>0.6999999999997054</c:v>
                </c:pt>
                <c:pt idx="3">
                  <c:v>0.6984999999997267</c:v>
                </c:pt>
                <c:pt idx="4">
                  <c:v>0.6974999999997409</c:v>
                </c:pt>
              </c:numCache>
            </c:numRef>
          </c:val>
        </c:ser>
        <c:gapWidth val="55"/>
        <c:overlap val="100"/>
        <c:axId val="-2068027336"/>
        <c:axId val="-2113994440"/>
      </c:barChart>
      <c:catAx>
        <c:axId val="-2068027336"/>
        <c:scaling>
          <c:orientation val="minMax"/>
        </c:scaling>
        <c:delete val="0"/>
        <c:axPos val="b"/>
        <c:majorTickMark val="out"/>
        <c:minorTickMark val="none"/>
        <c:tickLblPos val="nextTo"/>
        <c:spPr>
          <a:ln>
            <a:solidFill>
              <a:srgbClr val="B9B6B8"/>
            </a:solidFill>
          </a:ln>
        </c:spPr>
        <c:txPr>
          <a:bodyPr/>
          <a:lstStyle/>
          <a:p>
            <a:pPr>
              <a:defRPr sz="1100">
                <a:solidFill>
                  <a:srgbClr val="36393B"/>
                </a:solidFill>
              </a:defRPr>
            </a:pPr>
          </a:p>
        </c:txPr>
        <c:crossAx val="-2113994440"/>
        <c:crosses val="autoZero"/>
        <c:auto val="1"/>
        <c:lblAlgn val="ctr"/>
        <c:lblOffset val="100"/>
        <c:noMultiLvlLbl val="0"/>
      </c:catAx>
      <c:valAx>
        <c:axId val="-2113994440"/>
        <c:scaling>
          <c:max val="1.0"/>
          <c:min val="0.0"/>
        </c:scaling>
        <c:delete val="0"/>
        <c:axPos val="l"/>
        <c:majorGridlines>
          <c:spPr>
            <a:ln w="9525">
              <a:solidFill>
                <a:srgbClr val="E7E4E6"/>
              </a:solidFill>
            </a:ln>
          </c:spPr>
        </c:majorGridlines>
        <c:numFmt formatCode="0%" sourceLinked="0"/>
        <c:majorTickMark val="out"/>
        <c:minorTickMark val="none"/>
        <c:tickLblPos val="low"/>
        <c:spPr>
          <a:ln>
            <a:solidFill>
              <a:srgbClr val="B9B6B8"/>
            </a:solidFill>
          </a:ln>
        </c:spPr>
        <c:txPr>
          <a:bodyPr/>
          <a:lstStyle/>
          <a:p>
            <a:pPr>
              <a:defRPr sz="1000">
                <a:solidFill>
                  <a:srgbClr val="5F6266"/>
                </a:solidFill>
              </a:defRPr>
            </a:pPr>
          </a:p>
        </c:txPr>
        <c:crossAx val="-2068027336"/>
        <c:crosses val="autoZero"/>
        <c:majorUnit val="0.25"/>
      </c:valAx>
    </c:plotArea>
    <c:legend>
      <c:legendPos val="b"/>
      <c:overlay val="0"/>
      <c:txPr>
        <a:bodyPr/>
        <a:lstStyle/>
        <a:p>
          <a:pPr>
            <a:defRPr sz="1000">
              <a:solidFill>
                <a:srgbClr val="36393B"/>
              </a:solidFill>
            </a:defRPr>
          </a:pPr>
        </a:p>
      </c:txPr>
    </c:legend>
    <c:dispBlanksAs val="gap"/>
  </c:chart>
  <c:txPr>
    <a:bodyPr/>
    <a:lstStyle/>
    <a:p>
      <a:pPr>
        <a:defRPr sz="1100">
          <a:solidFill>
            <a:srgbClr val="36393B"/>
          </a:solidFill>
          <a:latin typeface="+mn-lt"/>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A966AA-C2D0-420D-89FC-1A1AB0AD4072}"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45D50368-372D-4F79-95B9-B27BD239F0F6}">
      <dgm:prSet phldrT="[Text]" custT="1"/>
      <dgm:spPr/>
      <dgm:t>
        <a:bodyPr anchor="ctr"/>
        <a:lstStyle/>
        <a:p>
          <a:pPr algn="ctr">
            <a:buNone/>
          </a:pPr>
          <a:r>
            <a:rPr lang="en-US" sz="1800" b="1" dirty="0">
              <a:solidFill>
                <a:schemeClr val="tx1"/>
              </a:solidFill>
              <a:latin typeface="+mj-lt"/>
            </a:rPr>
            <a:t>Measure</a:t>
          </a:r>
        </a:p>
      </dgm:t>
    </dgm:pt>
    <dgm:pt modelId="{CDE1A78B-2AE4-4A71-9139-416C219BC84D}" type="parTrans" cxnId="{68788A78-9180-41FF-BD09-BF4DBB52EA0D}">
      <dgm:prSet/>
      <dgm:spPr/>
      <dgm:t>
        <a:bodyPr/>
        <a:lstStyle/>
        <a:p>
          <a:pPr algn="ctr"/>
          <a:endParaRPr lang="en-US" sz="1800">
            <a:solidFill>
              <a:schemeClr val="tx1"/>
            </a:solidFill>
          </a:endParaRPr>
        </a:p>
      </dgm:t>
    </dgm:pt>
    <dgm:pt modelId="{508ABF25-4B40-405C-9E88-248ED8B31B83}" type="sibTrans" cxnId="{68788A78-9180-41FF-BD09-BF4DBB52EA0D}">
      <dgm:prSet/>
      <dgm:spPr/>
      <dgm:t>
        <a:bodyPr/>
        <a:lstStyle/>
        <a:p>
          <a:pPr algn="ctr"/>
          <a:endParaRPr lang="en-US" sz="1800">
            <a:solidFill>
              <a:schemeClr val="tx1"/>
            </a:solidFill>
          </a:endParaRPr>
        </a:p>
      </dgm:t>
    </dgm:pt>
    <dgm:pt modelId="{15FCB7DF-D0D3-43D8-8FE5-E5FFDED6264E}">
      <dgm:prSet phldrT="[Text]" custT="1"/>
      <dgm:spPr/>
      <dgm:t>
        <a:bodyPr anchor="ctr"/>
        <a:lstStyle/>
        <a:p>
          <a:pPr marL="0" algn="ctr">
            <a:lnSpc>
              <a:spcPct val="120000"/>
            </a:lnSpc>
            <a:spcAft>
              <a:spcPts val="1200"/>
            </a:spcAft>
            <a:buNone/>
          </a:pPr>
          <a:r>
            <a:rPr lang="en-US" sz="1800" dirty="0">
              <a:solidFill>
                <a:schemeClr val="tx1"/>
              </a:solidFill>
            </a:rPr>
            <a:t>Steps 2–3: survey risk, time and personality</a:t>
          </a:r>
        </a:p>
      </dgm:t>
    </dgm:pt>
    <dgm:pt modelId="{5DD5E854-B70B-4927-93DD-9B930567F2D9}" type="parTrans" cxnId="{D8EBBD42-214D-4D3D-9A34-A5A6A40991CD}">
      <dgm:prSet/>
      <dgm:spPr/>
      <dgm:t>
        <a:bodyPr/>
        <a:lstStyle/>
        <a:p>
          <a:pPr algn="ctr"/>
          <a:endParaRPr lang="en-US" sz="1800">
            <a:solidFill>
              <a:schemeClr val="tx1"/>
            </a:solidFill>
          </a:endParaRPr>
        </a:p>
      </dgm:t>
    </dgm:pt>
    <dgm:pt modelId="{DDE76206-3F7F-4788-87BA-8C9D4D26CDB9}" type="sibTrans" cxnId="{D8EBBD42-214D-4D3D-9A34-A5A6A40991CD}">
      <dgm:prSet/>
      <dgm:spPr/>
      <dgm:t>
        <a:bodyPr/>
        <a:lstStyle/>
        <a:p>
          <a:pPr algn="ctr"/>
          <a:endParaRPr lang="en-US" sz="1800">
            <a:solidFill>
              <a:schemeClr val="tx1"/>
            </a:solidFill>
          </a:endParaRPr>
        </a:p>
      </dgm:t>
    </dgm:pt>
    <dgm:pt modelId="{196543C5-093B-4437-B406-DBE4B882EA97}">
      <dgm:prSet phldrT="[Text]" custT="1"/>
      <dgm:spPr/>
      <dgm:t>
        <a:bodyPr anchor="ctr"/>
        <a:lstStyle/>
        <a:p>
          <a:pPr algn="ctr">
            <a:buNone/>
          </a:pPr>
          <a:r>
            <a:rPr lang="en-US" sz="1800" b="1" dirty="0">
              <a:solidFill>
                <a:schemeClr val="tx1"/>
              </a:solidFill>
              <a:latin typeface="+mj-lt"/>
            </a:rPr>
            <a:t>Model</a:t>
          </a:r>
        </a:p>
      </dgm:t>
    </dgm:pt>
    <dgm:pt modelId="{41DE1F19-4A9F-48CD-A44E-6BF1D04E31EE}" type="parTrans" cxnId="{52499B9F-797A-43CC-89E1-64C52021BFAF}">
      <dgm:prSet/>
      <dgm:spPr/>
      <dgm:t>
        <a:bodyPr/>
        <a:lstStyle/>
        <a:p>
          <a:pPr algn="ctr"/>
          <a:endParaRPr lang="en-US" sz="1800">
            <a:solidFill>
              <a:schemeClr val="tx1"/>
            </a:solidFill>
          </a:endParaRPr>
        </a:p>
      </dgm:t>
    </dgm:pt>
    <dgm:pt modelId="{F264F018-7FB9-43EC-B595-B986D351AD7B}" type="sibTrans" cxnId="{52499B9F-797A-43CC-89E1-64C52021BFAF}">
      <dgm:prSet/>
      <dgm:spPr/>
      <dgm:t>
        <a:bodyPr/>
        <a:lstStyle/>
        <a:p>
          <a:pPr algn="ctr"/>
          <a:endParaRPr lang="en-US" sz="1800">
            <a:solidFill>
              <a:schemeClr val="tx1"/>
            </a:solidFill>
          </a:endParaRPr>
        </a:p>
      </dgm:t>
    </dgm:pt>
    <dgm:pt modelId="{C485168C-07AD-4DE6-B17E-1E96E93777D7}">
      <dgm:prSet phldrT="[Text]" custT="1"/>
      <dgm:spPr/>
      <dgm:t>
        <a:bodyPr anchor="ctr"/>
        <a:lstStyle/>
        <a:p>
          <a:pPr marL="0" algn="ctr">
            <a:lnSpc>
              <a:spcPct val="120000"/>
            </a:lnSpc>
            <a:spcAft>
              <a:spcPts val="1200"/>
            </a:spcAft>
            <a:buNone/>
          </a:pPr>
          <a:r>
            <a:rPr lang="en-US" sz="1800" dirty="0">
              <a:solidFill>
                <a:schemeClr val="tx1"/>
              </a:solidFill>
            </a:rPr>
            <a:t>Step 4: Bayesian engine estimates </a:t>
          </a:r>
          <a:br>
            <a:rPr lang="en-US" sz="1800" dirty="0">
              <a:solidFill>
                <a:schemeClr val="tx1"/>
              </a:solidFill>
            </a:rPr>
          </a:br>
          <a:r>
            <a:rPr lang="en-US" sz="1800" dirty="0">
              <a:solidFill>
                <a:schemeClr val="tx1"/>
              </a:solidFill>
            </a:rPr>
            <a:t>utility and value functions</a:t>
          </a:r>
        </a:p>
      </dgm:t>
    </dgm:pt>
    <dgm:pt modelId="{2EA2CE1F-978B-4B0A-92B2-CA23FBAEB8C0}" type="parTrans" cxnId="{B374803A-F1D8-4C12-8B03-25954CE7DDA9}">
      <dgm:prSet/>
      <dgm:spPr/>
      <dgm:t>
        <a:bodyPr/>
        <a:lstStyle/>
        <a:p>
          <a:pPr algn="ctr"/>
          <a:endParaRPr lang="en-US" sz="1800">
            <a:solidFill>
              <a:schemeClr val="tx1"/>
            </a:solidFill>
          </a:endParaRPr>
        </a:p>
      </dgm:t>
    </dgm:pt>
    <dgm:pt modelId="{05F43B89-7F05-43F2-A0A8-66E0914D6EC4}" type="sibTrans" cxnId="{B374803A-F1D8-4C12-8B03-25954CE7DDA9}">
      <dgm:prSet/>
      <dgm:spPr/>
      <dgm:t>
        <a:bodyPr/>
        <a:lstStyle/>
        <a:p>
          <a:pPr algn="ctr"/>
          <a:endParaRPr lang="en-US" sz="1800">
            <a:solidFill>
              <a:schemeClr val="tx1"/>
            </a:solidFill>
          </a:endParaRPr>
        </a:p>
      </dgm:t>
    </dgm:pt>
    <dgm:pt modelId="{CA2BABAF-EDAA-4496-8316-FD6EA3643E8F}">
      <dgm:prSet phldrT="[Text]" custT="1"/>
      <dgm:spPr/>
      <dgm:t>
        <a:bodyPr anchor="ctr"/>
        <a:lstStyle/>
        <a:p>
          <a:pPr algn="ctr">
            <a:buNone/>
          </a:pPr>
          <a:r>
            <a:rPr lang="en-US" sz="1800" b="1" dirty="0">
              <a:solidFill>
                <a:schemeClr val="tx1"/>
              </a:solidFill>
              <a:latin typeface="+mj-lt"/>
            </a:rPr>
            <a:t>Recommend</a:t>
          </a:r>
        </a:p>
      </dgm:t>
    </dgm:pt>
    <dgm:pt modelId="{2B1B4805-2FB7-402F-86A8-587F29181C18}" type="parTrans" cxnId="{4011B082-09BD-4DD1-A54F-EA5AB249A3C2}">
      <dgm:prSet/>
      <dgm:spPr/>
      <dgm:t>
        <a:bodyPr/>
        <a:lstStyle/>
        <a:p>
          <a:pPr algn="ctr"/>
          <a:endParaRPr lang="en-US" sz="1800">
            <a:solidFill>
              <a:schemeClr val="tx1"/>
            </a:solidFill>
          </a:endParaRPr>
        </a:p>
      </dgm:t>
    </dgm:pt>
    <dgm:pt modelId="{4498AB02-A1BF-4D28-8918-F87A89CEE23B}" type="sibTrans" cxnId="{4011B082-09BD-4DD1-A54F-EA5AB249A3C2}">
      <dgm:prSet/>
      <dgm:spPr/>
      <dgm:t>
        <a:bodyPr/>
        <a:lstStyle/>
        <a:p>
          <a:pPr algn="ctr"/>
          <a:endParaRPr lang="en-US" sz="1800">
            <a:solidFill>
              <a:schemeClr val="tx1"/>
            </a:solidFill>
          </a:endParaRPr>
        </a:p>
      </dgm:t>
    </dgm:pt>
    <dgm:pt modelId="{ABC1EDDD-C08B-4F9C-8453-9CEFCC2AF319}">
      <dgm:prSet phldrT="[Text]" custT="1"/>
      <dgm:spPr/>
      <dgm:t>
        <a:bodyPr anchor="ctr"/>
        <a:lstStyle/>
        <a:p>
          <a:pPr marL="0" algn="ctr">
            <a:lnSpc>
              <a:spcPct val="120000"/>
            </a:lnSpc>
            <a:spcAft>
              <a:spcPts val="1200"/>
            </a:spcAft>
            <a:buNone/>
          </a:pPr>
          <a:r>
            <a:rPr lang="en-US" sz="1800" dirty="0">
              <a:solidFill>
                <a:schemeClr val="tx1"/>
              </a:solidFill>
            </a:rPr>
            <a:t>Steps 5–6: EUT vs SP/A-BPT portfolios, personality overlay</a:t>
          </a:r>
        </a:p>
      </dgm:t>
    </dgm:pt>
    <dgm:pt modelId="{33D02404-349E-4E82-A8BA-C0A907006883}" type="parTrans" cxnId="{9C4BE375-6187-4BD4-A343-9FC71D796AF1}">
      <dgm:prSet/>
      <dgm:spPr/>
      <dgm:t>
        <a:bodyPr/>
        <a:lstStyle/>
        <a:p>
          <a:pPr algn="ctr"/>
          <a:endParaRPr lang="en-US" sz="1800">
            <a:solidFill>
              <a:schemeClr val="tx1"/>
            </a:solidFill>
          </a:endParaRPr>
        </a:p>
      </dgm:t>
    </dgm:pt>
    <dgm:pt modelId="{7D85D88C-6545-49D9-9F9D-01270187B165}" type="sibTrans" cxnId="{9C4BE375-6187-4BD4-A343-9FC71D796AF1}">
      <dgm:prSet/>
      <dgm:spPr/>
      <dgm:t>
        <a:bodyPr/>
        <a:lstStyle/>
        <a:p>
          <a:pPr algn="ctr"/>
          <a:endParaRPr lang="en-US" sz="1800">
            <a:solidFill>
              <a:schemeClr val="tx1"/>
            </a:solidFill>
          </a:endParaRPr>
        </a:p>
      </dgm:t>
    </dgm:pt>
    <dgm:pt modelId="{5026F79A-D670-4F65-B581-E609F4440949}" type="pres">
      <dgm:prSet presAssocID="{B6A966AA-C2D0-420D-89FC-1A1AB0AD4072}" presName="Name0" presStyleCnt="0">
        <dgm:presLayoutVars>
          <dgm:dir/>
          <dgm:animLvl val="lvl"/>
          <dgm:resizeHandles val="exact"/>
        </dgm:presLayoutVars>
      </dgm:prSet>
      <dgm:spPr/>
    </dgm:pt>
    <dgm:pt modelId="{B2A5F905-5454-4A81-AFC2-602475B3C21B}" type="pres">
      <dgm:prSet presAssocID="{45D50368-372D-4F79-95B9-B27BD239F0F6}" presName="composite" presStyleCnt="0"/>
      <dgm:spPr/>
    </dgm:pt>
    <dgm:pt modelId="{2612B01E-E5FD-4FF5-9198-43474773E636}" type="pres">
      <dgm:prSet presAssocID="{45D50368-372D-4F79-95B9-B27BD239F0F6}" presName="parTx" presStyleLbl="node1" presStyleIdx="0" presStyleCnt="3">
        <dgm:presLayoutVars>
          <dgm:chMax val="0"/>
          <dgm:chPref val="0"/>
          <dgm:bulletEnabled val="1"/>
        </dgm:presLayoutVars>
      </dgm:prSet>
      <dgm:spPr/>
    </dgm:pt>
    <dgm:pt modelId="{FDEC72F1-79D0-44B6-8429-0F39785C9AD0}" type="pres">
      <dgm:prSet presAssocID="{45D50368-372D-4F79-95B9-B27BD239F0F6}" presName="desTx" presStyleLbl="revTx" presStyleIdx="0" presStyleCnt="3" custLinFactNeighborX="12445">
        <dgm:presLayoutVars>
          <dgm:bulletEnabled val="1"/>
        </dgm:presLayoutVars>
      </dgm:prSet>
      <dgm:spPr/>
    </dgm:pt>
    <dgm:pt modelId="{A2E8B6A5-7483-46B9-AEDC-17DBE6FB9B4E}" type="pres">
      <dgm:prSet presAssocID="{508ABF25-4B40-405C-9E88-248ED8B31B83}" presName="space" presStyleCnt="0"/>
      <dgm:spPr/>
    </dgm:pt>
    <dgm:pt modelId="{187F0FEF-C720-494E-A2FE-020FF399FBDF}" type="pres">
      <dgm:prSet presAssocID="{196543C5-093B-4437-B406-DBE4B882EA97}" presName="composite" presStyleCnt="0"/>
      <dgm:spPr/>
    </dgm:pt>
    <dgm:pt modelId="{8FBF96FC-7A6C-4977-AC0C-35CDC7270E23}" type="pres">
      <dgm:prSet presAssocID="{196543C5-093B-4437-B406-DBE4B882EA97}" presName="parTx" presStyleLbl="node1" presStyleIdx="1" presStyleCnt="3">
        <dgm:presLayoutVars>
          <dgm:chMax val="0"/>
          <dgm:chPref val="0"/>
          <dgm:bulletEnabled val="1"/>
        </dgm:presLayoutVars>
      </dgm:prSet>
      <dgm:spPr/>
    </dgm:pt>
    <dgm:pt modelId="{0E6AC4B0-7D9E-4235-A5C0-FC9C6164F4E5}" type="pres">
      <dgm:prSet presAssocID="{196543C5-093B-4437-B406-DBE4B882EA97}" presName="desTx" presStyleLbl="revTx" presStyleIdx="1" presStyleCnt="3" custScaleX="114921" custLinFactNeighborX="7315">
        <dgm:presLayoutVars>
          <dgm:bulletEnabled val="1"/>
        </dgm:presLayoutVars>
      </dgm:prSet>
      <dgm:spPr/>
    </dgm:pt>
    <dgm:pt modelId="{E164AE18-6369-488B-A2D6-E9F4C3CC4F93}" type="pres">
      <dgm:prSet presAssocID="{F264F018-7FB9-43EC-B595-B986D351AD7B}" presName="space" presStyleCnt="0"/>
      <dgm:spPr/>
    </dgm:pt>
    <dgm:pt modelId="{4027752C-746F-47A0-B9FD-8F9A8606D359}" type="pres">
      <dgm:prSet presAssocID="{CA2BABAF-EDAA-4496-8316-FD6EA3643E8F}" presName="composite" presStyleCnt="0"/>
      <dgm:spPr/>
    </dgm:pt>
    <dgm:pt modelId="{504C6F9B-242F-4BEF-BA77-A2E4D823CECC}" type="pres">
      <dgm:prSet presAssocID="{CA2BABAF-EDAA-4496-8316-FD6EA3643E8F}" presName="parTx" presStyleLbl="node1" presStyleIdx="2" presStyleCnt="3">
        <dgm:presLayoutVars>
          <dgm:chMax val="0"/>
          <dgm:chPref val="0"/>
          <dgm:bulletEnabled val="1"/>
        </dgm:presLayoutVars>
      </dgm:prSet>
      <dgm:spPr/>
    </dgm:pt>
    <dgm:pt modelId="{15FC8055-A66C-4D2F-99E2-55FD986FF3F4}" type="pres">
      <dgm:prSet presAssocID="{CA2BABAF-EDAA-4496-8316-FD6EA3643E8F}" presName="desTx" presStyleLbl="revTx" presStyleIdx="2" presStyleCnt="3" custLinFactNeighborX="9939">
        <dgm:presLayoutVars>
          <dgm:bulletEnabled val="1"/>
        </dgm:presLayoutVars>
      </dgm:prSet>
      <dgm:spPr/>
    </dgm:pt>
  </dgm:ptLst>
  <dgm:cxnLst>
    <dgm:cxn modelId="{69481A05-2528-4B7D-BE99-59D1CBFC2CE1}" type="presOf" srcId="{CA2BABAF-EDAA-4496-8316-FD6EA3643E8F}" destId="{504C6F9B-242F-4BEF-BA77-A2E4D823CECC}" srcOrd="0" destOrd="0" presId="urn:microsoft.com/office/officeart/2005/8/layout/chevron1"/>
    <dgm:cxn modelId="{4D1A1E2C-CFE3-43EE-B27B-CF4310943F39}" type="presOf" srcId="{15FCB7DF-D0D3-43D8-8FE5-E5FFDED6264E}" destId="{FDEC72F1-79D0-44B6-8429-0F39785C9AD0}" srcOrd="0" destOrd="0" presId="urn:microsoft.com/office/officeart/2005/8/layout/chevron1"/>
    <dgm:cxn modelId="{B374803A-F1D8-4C12-8B03-25954CE7DDA9}" srcId="{196543C5-093B-4437-B406-DBE4B882EA97}" destId="{C485168C-07AD-4DE6-B17E-1E96E93777D7}" srcOrd="0" destOrd="0" parTransId="{2EA2CE1F-978B-4B0A-92B2-CA23FBAEB8C0}" sibTransId="{05F43B89-7F05-43F2-A0A8-66E0914D6EC4}"/>
    <dgm:cxn modelId="{D8EBBD42-214D-4D3D-9A34-A5A6A40991CD}" srcId="{45D50368-372D-4F79-95B9-B27BD239F0F6}" destId="{15FCB7DF-D0D3-43D8-8FE5-E5FFDED6264E}" srcOrd="0" destOrd="0" parTransId="{5DD5E854-B70B-4927-93DD-9B930567F2D9}" sibTransId="{DDE76206-3F7F-4788-87BA-8C9D4D26CDB9}"/>
    <dgm:cxn modelId="{9D392D43-4099-4B79-8DD5-557B00495ACE}" type="presOf" srcId="{C485168C-07AD-4DE6-B17E-1E96E93777D7}" destId="{0E6AC4B0-7D9E-4235-A5C0-FC9C6164F4E5}" srcOrd="0" destOrd="0" presId="urn:microsoft.com/office/officeart/2005/8/layout/chevron1"/>
    <dgm:cxn modelId="{9C4BE375-6187-4BD4-A343-9FC71D796AF1}" srcId="{CA2BABAF-EDAA-4496-8316-FD6EA3643E8F}" destId="{ABC1EDDD-C08B-4F9C-8453-9CEFCC2AF319}" srcOrd="0" destOrd="0" parTransId="{33D02404-349E-4E82-A8BA-C0A907006883}" sibTransId="{7D85D88C-6545-49D9-9F9D-01270187B165}"/>
    <dgm:cxn modelId="{68788A78-9180-41FF-BD09-BF4DBB52EA0D}" srcId="{B6A966AA-C2D0-420D-89FC-1A1AB0AD4072}" destId="{45D50368-372D-4F79-95B9-B27BD239F0F6}" srcOrd="0" destOrd="0" parTransId="{CDE1A78B-2AE4-4A71-9139-416C219BC84D}" sibTransId="{508ABF25-4B40-405C-9E88-248ED8B31B83}"/>
    <dgm:cxn modelId="{92AC5381-3C06-4FBB-AF46-78C079BB2827}" type="presOf" srcId="{45D50368-372D-4F79-95B9-B27BD239F0F6}" destId="{2612B01E-E5FD-4FF5-9198-43474773E636}" srcOrd="0" destOrd="0" presId="urn:microsoft.com/office/officeart/2005/8/layout/chevron1"/>
    <dgm:cxn modelId="{4011B082-09BD-4DD1-A54F-EA5AB249A3C2}" srcId="{B6A966AA-C2D0-420D-89FC-1A1AB0AD4072}" destId="{CA2BABAF-EDAA-4496-8316-FD6EA3643E8F}" srcOrd="2" destOrd="0" parTransId="{2B1B4805-2FB7-402F-86A8-587F29181C18}" sibTransId="{4498AB02-A1BF-4D28-8918-F87A89CEE23B}"/>
    <dgm:cxn modelId="{52499B9F-797A-43CC-89E1-64C52021BFAF}" srcId="{B6A966AA-C2D0-420D-89FC-1A1AB0AD4072}" destId="{196543C5-093B-4437-B406-DBE4B882EA97}" srcOrd="1" destOrd="0" parTransId="{41DE1F19-4A9F-48CD-A44E-6BF1D04E31EE}" sibTransId="{F264F018-7FB9-43EC-B595-B986D351AD7B}"/>
    <dgm:cxn modelId="{E3AF3FBD-3071-41CE-945A-D570C18AD56E}" type="presOf" srcId="{B6A966AA-C2D0-420D-89FC-1A1AB0AD4072}" destId="{5026F79A-D670-4F65-B581-E609F4440949}" srcOrd="0" destOrd="0" presId="urn:microsoft.com/office/officeart/2005/8/layout/chevron1"/>
    <dgm:cxn modelId="{C3CEA5CA-F759-4A50-A9DB-80C0367BF0E9}" type="presOf" srcId="{ABC1EDDD-C08B-4F9C-8453-9CEFCC2AF319}" destId="{15FC8055-A66C-4D2F-99E2-55FD986FF3F4}" srcOrd="0" destOrd="0" presId="urn:microsoft.com/office/officeart/2005/8/layout/chevron1"/>
    <dgm:cxn modelId="{A82995D3-DA3B-4C8E-B071-EC7E24DFEB33}" type="presOf" srcId="{196543C5-093B-4437-B406-DBE4B882EA97}" destId="{8FBF96FC-7A6C-4977-AC0C-35CDC7270E23}" srcOrd="0" destOrd="0" presId="urn:microsoft.com/office/officeart/2005/8/layout/chevron1"/>
    <dgm:cxn modelId="{83FCA4BC-76F2-436D-A86D-3F27F7F30C0C}" type="presParOf" srcId="{5026F79A-D670-4F65-B581-E609F4440949}" destId="{B2A5F905-5454-4A81-AFC2-602475B3C21B}" srcOrd="0" destOrd="0" presId="urn:microsoft.com/office/officeart/2005/8/layout/chevron1"/>
    <dgm:cxn modelId="{DBB3B9D3-7943-414D-981B-6D14268162A1}" type="presParOf" srcId="{B2A5F905-5454-4A81-AFC2-602475B3C21B}" destId="{2612B01E-E5FD-4FF5-9198-43474773E636}" srcOrd="0" destOrd="0" presId="urn:microsoft.com/office/officeart/2005/8/layout/chevron1"/>
    <dgm:cxn modelId="{E7F5D1D6-20F5-4DA1-ABB1-BD109DF9875E}" type="presParOf" srcId="{B2A5F905-5454-4A81-AFC2-602475B3C21B}" destId="{FDEC72F1-79D0-44B6-8429-0F39785C9AD0}" srcOrd="1" destOrd="0" presId="urn:microsoft.com/office/officeart/2005/8/layout/chevron1"/>
    <dgm:cxn modelId="{BC3AEB43-8F23-4454-A137-2A57141465BB}" type="presParOf" srcId="{5026F79A-D670-4F65-B581-E609F4440949}" destId="{A2E8B6A5-7483-46B9-AEDC-17DBE6FB9B4E}" srcOrd="1" destOrd="0" presId="urn:microsoft.com/office/officeart/2005/8/layout/chevron1"/>
    <dgm:cxn modelId="{FBDF012D-57A1-498B-9406-C43660D57D40}" type="presParOf" srcId="{5026F79A-D670-4F65-B581-E609F4440949}" destId="{187F0FEF-C720-494E-A2FE-020FF399FBDF}" srcOrd="2" destOrd="0" presId="urn:microsoft.com/office/officeart/2005/8/layout/chevron1"/>
    <dgm:cxn modelId="{0158B6AC-60AE-4F07-A941-5840E26EDBC6}" type="presParOf" srcId="{187F0FEF-C720-494E-A2FE-020FF399FBDF}" destId="{8FBF96FC-7A6C-4977-AC0C-35CDC7270E23}" srcOrd="0" destOrd="0" presId="urn:microsoft.com/office/officeart/2005/8/layout/chevron1"/>
    <dgm:cxn modelId="{A634A648-09BE-4A83-9745-412AA2D93F26}" type="presParOf" srcId="{187F0FEF-C720-494E-A2FE-020FF399FBDF}" destId="{0E6AC4B0-7D9E-4235-A5C0-FC9C6164F4E5}" srcOrd="1" destOrd="0" presId="urn:microsoft.com/office/officeart/2005/8/layout/chevron1"/>
    <dgm:cxn modelId="{DE2203D6-A7F7-4F85-99E1-DE0F3192BA2D}" type="presParOf" srcId="{5026F79A-D670-4F65-B581-E609F4440949}" destId="{E164AE18-6369-488B-A2D6-E9F4C3CC4F93}" srcOrd="3" destOrd="0" presId="urn:microsoft.com/office/officeart/2005/8/layout/chevron1"/>
    <dgm:cxn modelId="{4A9879DF-9549-42E2-A1F8-322C5889DE11}" type="presParOf" srcId="{5026F79A-D670-4F65-B581-E609F4440949}" destId="{4027752C-746F-47A0-B9FD-8F9A8606D359}" srcOrd="4" destOrd="0" presId="urn:microsoft.com/office/officeart/2005/8/layout/chevron1"/>
    <dgm:cxn modelId="{D2E924A1-ECA7-4487-9802-AC5E16B44811}" type="presParOf" srcId="{4027752C-746F-47A0-B9FD-8F9A8606D359}" destId="{504C6F9B-242F-4BEF-BA77-A2E4D823CECC}" srcOrd="0" destOrd="0" presId="urn:microsoft.com/office/officeart/2005/8/layout/chevron1"/>
    <dgm:cxn modelId="{5B9BD1E4-4593-4FE0-B213-10BAF3D3ABCE}" type="presParOf" srcId="{4027752C-746F-47A0-B9FD-8F9A8606D359}" destId="{15FC8055-A66C-4D2F-99E2-55FD986FF3F4}" srcOrd="1" destOrd="0" presId="urn:microsoft.com/office/officeart/2005/8/layout/chevron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B01E-E5FD-4FF5-9198-43474773E636}">
      <dsp:nvSpPr>
        <dsp:cNvPr id="0" name=""/>
        <dsp:cNvSpPr/>
      </dsp:nvSpPr>
      <dsp:spPr>
        <a:xfrm>
          <a:off x="160"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Measure</a:t>
          </a:r>
        </a:p>
      </dsp:txBody>
      <dsp:txXfrm>
        <a:off x="594160" y="5089"/>
        <a:ext cx="2249305" cy="1188000"/>
      </dsp:txXfrm>
    </dsp:sp>
    <dsp:sp modelId="{FDEC72F1-79D0-44B6-8429-0F39785C9AD0}">
      <dsp:nvSpPr>
        <dsp:cNvPr id="0" name=""/>
        <dsp:cNvSpPr/>
      </dsp:nvSpPr>
      <dsp:spPr>
        <a:xfrm>
          <a:off x="342378" y="1341589"/>
          <a:ext cx="2749844"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Steps 2–3: survey risk, time and personality</a:t>
          </a:r>
        </a:p>
      </dsp:txBody>
      <dsp:txXfrm>
        <a:off x="342378" y="1341589"/>
        <a:ext cx="2749844" cy="985359"/>
      </dsp:txXfrm>
    </dsp:sp>
    <dsp:sp modelId="{8FBF96FC-7A6C-4977-AC0C-35CDC7270E23}">
      <dsp:nvSpPr>
        <dsp:cNvPr id="0" name=""/>
        <dsp:cNvSpPr/>
      </dsp:nvSpPr>
      <dsp:spPr>
        <a:xfrm>
          <a:off x="3426617"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Model</a:t>
          </a:r>
        </a:p>
      </dsp:txBody>
      <dsp:txXfrm>
        <a:off x="4020617" y="5089"/>
        <a:ext cx="2249305" cy="1188000"/>
      </dsp:txXfrm>
    </dsp:sp>
    <dsp:sp modelId="{0E6AC4B0-7D9E-4235-A5C0-FC9C6164F4E5}">
      <dsp:nvSpPr>
        <dsp:cNvPr id="0" name=""/>
        <dsp:cNvSpPr/>
      </dsp:nvSpPr>
      <dsp:spPr>
        <a:xfrm>
          <a:off x="3422616" y="1341589"/>
          <a:ext cx="3160148"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Step 4: Bayesian engine estimates </a:t>
          </a:r>
          <a:br>
            <a:rPr lang="en-US" sz="1800" kern="1200" dirty="0">
              <a:solidFill>
                <a:schemeClr val="tx1"/>
              </a:solidFill>
            </a:rPr>
          </a:br>
          <a:r>
            <a:rPr lang="en-US" sz="1800" kern="1200" dirty="0">
              <a:solidFill>
                <a:schemeClr val="tx1"/>
              </a:solidFill>
            </a:rPr>
            <a:t>utility and value functions</a:t>
          </a:r>
        </a:p>
      </dsp:txBody>
      <dsp:txXfrm>
        <a:off x="3422616" y="1341589"/>
        <a:ext cx="3160148" cy="985359"/>
      </dsp:txXfrm>
    </dsp:sp>
    <dsp:sp modelId="{504C6F9B-242F-4BEF-BA77-A2E4D823CECC}">
      <dsp:nvSpPr>
        <dsp:cNvPr id="0" name=""/>
        <dsp:cNvSpPr/>
      </dsp:nvSpPr>
      <dsp:spPr>
        <a:xfrm>
          <a:off x="6647922" y="5089"/>
          <a:ext cx="3437305" cy="118800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tx1"/>
              </a:solidFill>
              <a:latin typeface="+mj-lt"/>
            </a:rPr>
            <a:t>Recommend</a:t>
          </a:r>
        </a:p>
      </dsp:txBody>
      <dsp:txXfrm>
        <a:off x="7241922" y="5089"/>
        <a:ext cx="2249305" cy="1188000"/>
      </dsp:txXfrm>
    </dsp:sp>
    <dsp:sp modelId="{15FC8055-A66C-4D2F-99E2-55FD986FF3F4}">
      <dsp:nvSpPr>
        <dsp:cNvPr id="0" name=""/>
        <dsp:cNvSpPr/>
      </dsp:nvSpPr>
      <dsp:spPr>
        <a:xfrm>
          <a:off x="6921229" y="1341589"/>
          <a:ext cx="2749844" cy="985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1" indent="-171450" algn="ctr" defTabSz="800100">
            <a:lnSpc>
              <a:spcPct val="120000"/>
            </a:lnSpc>
            <a:spcBef>
              <a:spcPct val="0"/>
            </a:spcBef>
            <a:spcAft>
              <a:spcPts val="1200"/>
            </a:spcAft>
            <a:buNone/>
          </a:pPr>
          <a:r>
            <a:rPr lang="en-US" sz="1800" kern="1200" dirty="0">
              <a:solidFill>
                <a:schemeClr val="tx1"/>
              </a:solidFill>
            </a:rPr>
            <a:t>Steps 5–6: EUT vs SP/A-BPT portfolios, personality overlay</a:t>
          </a:r>
        </a:p>
      </dsp:txBody>
      <dsp:txXfrm>
        <a:off x="6921229" y="1341589"/>
        <a:ext cx="2749844" cy="98535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10/5/2026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10/5/2026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0:15 · clock 0:15]</a:t>
            </a:r>
          </a:p>
          <a:p>
            <a:r>
              <a:t>Good morning, Professor. I'm Adwaaiit Pande, and this is Ayushi Mishra. We advised five classmates on their portfolios, then built a robo-advisor that does the job automatically. I'll cover how we measured preferences; Ayushi will cover the results and our advice.</a:t>
            </a:r>
          </a:p>
          <a:p>
            <a:r>
              <a:t>[Ayushi nods at her name. Click.]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 0:10 · clock 10:00]</a:t>
            </a:r>
          </a:p>
          <a:p>
            <a:r>
              <a:t>AYUSHI: Thank you.</a:t>
            </a:r>
          </a:p>
          <a:p>
            <a:r>
              <a:t>ADWAAIIT: The QR code opens the full project. We're happy to take questions.</a:t>
            </a:r>
          </a:p>
          <a:p>
            <a:r>
              <a:t>[Both face the examiner. Leave this slide up through Q&amp;A.]</a:t>
            </a:r>
          </a:p>
        </p:txBody>
      </p:sp>
      <p:sp>
        <p:nvSpPr>
          <p:cNvPr id="4" name="Slide Number Placeholder 3"/>
          <p:cNvSpPr>
            <a:spLocks noGrp="1"/>
          </p:cNvSpPr>
          <p:nvPr>
            <p:ph type="sldNum" sz="quarter" idx="5"/>
          </p:nvPr>
        </p:nvSpPr>
        <p:spPr/>
        <p:txBody>
          <a:bodyPr/>
          <a:lstStyle/>
          <a:p>
            <a:fld id="{8D7D3E5B-4BED-B24C-9674-6B6454D04561}" type="slidenum">
              <a:rPr lang="en-US" smtClean="0"/>
              <a:t>13</a:t>
            </a:fld>
            <a:endParaRPr lang="en-US" dirty="0"/>
          </a:p>
        </p:txBody>
      </p:sp>
    </p:spTree>
    <p:extLst>
      <p:ext uri="{BB962C8B-B14F-4D97-AF65-F5344CB8AC3E}">
        <p14:creationId xmlns:p14="http://schemas.microsoft.com/office/powerpoint/2010/main" val="231828099"/>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0:35 · clock 0:50]</a:t>
            </a:r>
          </a:p>
          <a:p>
            <a:r>
              <a:t>Let me give you the answer first. Three findings.</a:t>
            </a:r>
          </a:p>
          <a:p/>
          <a:p>
            <a:r>
              <a:t>One: classical Expected Utility Theory can't personalise this group. All five of us end up 100% in the same equity portfolio.</a:t>
            </a:r>
          </a:p>
          <a:p/>
          <a:p>
            <a:r>
              <a:t>Two: Behavioral Portfolio Theory can, through loss aversion. The safety account, mostly government bonds, grows from 30 to 40 percent.</a:t>
            </a:r>
          </a:p>
          <a:p/>
          <a:p>
            <a:r>
              <a:t>Three: personality should shape how we advise, not the portfolio weights. Three of our five profiles need a human conversation before we invest.</a:t>
            </a:r>
          </a:p>
          <a:p/>
          <a:p>
            <a:r>
              <a:t>One caveat up front: this is a five-person pilot, and both of us are in it.</a:t>
            </a:r>
          </a:p>
          <a:p>
            <a:r>
              <a:t>[Touch each card as you count. Click.]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0:25 · clock 1:15]</a:t>
            </a:r>
          </a:p>
          <a:p>
            <a:r>
              <a:t>Here's how we got there, in three stages. Measure, Steps 2 and 3: risk, time and personality. Model, Step 4: turn each person's choices into a utility and a value function. Recommend, Steps 5 and 6: build both portfolios on our Problem 1 universe of 66 NSE stocks, and add personality-aware advice.</a:t>
            </a:r>
          </a:p>
          <a:p>
            <a:r>
              <a:t>[Point to the three chevrons left to right. Click.]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1:30 · clock 2:45]</a:t>
            </a:r>
          </a:p>
          <a:p>
            <a:r>
              <a:t>Why build a five-part survey, instead of one standard questionnaire? Because one questionnaire can't give us what the brief asks for.</a:t>
            </a:r>
          </a:p>
          <a:p/>
          <a:p>
            <a:r>
              <a:t>A standard risk questionnaire gives you one score, say '40, High'. But for Step 4 we need an actual utility function we can draw. For Step 5 we need two separate numbers: gamma, which is risk aversion, for the EUT portfolio, and lambda, which is loss aversion, for the behavioral one. One score gives you neither, and it can't tell them apart.</a:t>
            </a:r>
          </a:p>
          <a:p/>
          <a:p>
            <a:r>
              <a:t>So each part has a job. The self-ratings and the Grable–Lytton scale, the one advisers actually use, tell us how people see themselves. DOSPERT separates investing from gambling. The 60-item BFI-2 gives personality, and it's long enough to catch careless answers. And our choice engine is the only part that gives us the parameters, from real decisions, because nobody knows their own gamma.</a:t>
            </a:r>
          </a:p>
          <a:p/>
          <a:p>
            <a:r>
              <a:t>The real payoff is the cross-check. The scales show what people say. The choices show what they do. Where those two disagree is where an adviser needs to step in.</a:t>
            </a:r>
          </a:p>
          <a:p>
            <a:r>
              <a:t>[First paragraph: face the examiner. Then run your hand down the table rows. Click.]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0:45 · clock 3:30]</a:t>
            </a:r>
          </a:p>
          <a:p>
            <a:r>
              <a:t>Here's how the engine works. Every question is a choice: a gamble or a sure amount, money now or more money later. Some gambles mix a gain and a loss, and that's what separates loss aversion from risk aversion.</a:t>
            </a:r>
          </a:p>
          <a:p/>
          <a:p>
            <a:r>
              <a:t>One model scores every answer with five parameters: gamma, lambda, alpha for how people weigh probabilities, and beta and delta for present bias and patience. After each answer the engine updates its beliefs and asks the most informative next question, so twenty questions are enough. Two of them are hidden repeats that check consistency.</a:t>
            </a:r>
          </a:p>
          <a:p>
            <a:r>
              <a:t>[Point to the equations top right, then the list bottom right. Click.]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[ADWAAIIT · 1:10 · clock 4:40]</a:t>
            </a:r>
          </a:p>
          <a:p>
            <a:r>
              <a:t>These four graphs are the visuals Step 4 asks for, and one person stands out on all of them.</a:t>
            </a:r>
          </a:p>
          <a:p/>
          <a:p>
            <a:r>
              <a:t>Top left, utility. Shree Charan, Ayushi and I overlap at a gamma of about 2.2: moderate risk aversion by finance standards, but the most cautious in our group. Kartika is close to neutral. Kshitij is the outlier: his curve bends upward, so he's risk-seeking.</a:t>
            </a:r>
          </a:p>
          <a:p/>
          <a:p>
            <a:r>
              <a:t>Top right, the value function. Kshitij is again the only loss-averse one: a loss hurts him 1.6 times as much as an equal gain.</a:t>
            </a:r>
          </a:p>
          <a:p/>
          <a:p>
            <a:r>
              <a:t>Bottom left, probability weighting. Kshitij and Shree Charan overweight long shots: a 5% chance feels like 21% and 16%.</a:t>
            </a:r>
          </a:p>
          <a:p/>
          <a:p>
            <a:r>
              <a:t>Bottom right, patience. Kshitij is the most impatient. I'm the most patient, even though I rated my own patience 4 out of 10.</a:t>
            </a:r>
          </a:p>
          <a:p/>
          <a:p>
            <a:r>
              <a:t>Ayushi will show what this means for each portfolio.</a:t>
            </a:r>
          </a:p>
          <a:p>
            <a:r>
              <a:t>[Move clockwise from top left. Hand the clicker to Ayushi. Click.]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0:05 · clock 4:45]</a:t>
            </a:r>
          </a:p>
          <a:p>
            <a:r>
              <a:t>Thanks, Adwaaiit. So what should each of them hold?</a:t>
            </a:r>
          </a:p>
          <a:p>
            <a:r>
              <a:t>[Click straight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0:35 · clock 5:20]</a:t>
            </a:r>
          </a:p>
          <a:p>
            <a:r>
              <a:t>This table has all five of us. The two numbers that drive the portfolios are gamma and lambda. The column to watch is the last one: three of five profiles are flagged. Shree Charan answered exactly 3 on every personality domain, probably clicking through. My own repeat answers were inconsistent. And Adwaaiit says he's a 10-out-of-10 risk-taker, but his choices say otherwise. We report these flags rather than hide them.</a:t>
            </a:r>
          </a:p>
          <a:p>
            <a:r>
              <a:t>[Point to the amber cells, top to bottom. Click.]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0:55 · clock 6:15]</a:t>
            </a:r>
          </a:p>
          <a:p>
            <a:r>
              <a:t>Step 5, first under Expected Utility Theory. Under EUT, everyone holds the same equity portfolio, with no stock above 10%; only the split between it and government bonds is personal. That split is the market price of risk, about 2.5, divided by gamma. Every gamma in our group is below 2.5, so all five of us hit the 100% cap: same portfolio, 13.2% expected return, 16.2% volatility. EUT simply can't tell us apart.</a:t>
            </a:r>
          </a:p>
          <a:p/>
          <a:p>
            <a:r>
              <a:t>How robust is that? It depends on the market price of risk, in the table. At 2.0, the three of us near 2.2 would hold about 90% equity; at 1.5, about 68%. So the all-in result is partly our assumption, and we say so.</a:t>
            </a:r>
          </a:p>
          <a:p>
            <a:r>
              <a:t>[Trace the flat line at 100%, then the bend at 2.5. Then point to the robustness table. Click.]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0:55 · clock 7:10]</a:t>
            </a:r>
          </a:p>
          <a:p>
            <a:r>
              <a:t>Behavioral Portfolio Theory does tell us apart. Each person gets two mental accounts. The safety account holds government bonds and some equity, sized so it loses money in at most one year in twenty. The aspiration account chases a 15% target, with every stock capped at 10%. Loss aversion decides the split: 30% in safety at a lambda of 1, rising to 80% at 4. Kshitij, our only loss-averse investor, gets the most bonds and the lowest risk.</a:t>
            </a:r>
          </a:p>
          <a:p/>
          <a:p>
            <a:r>
              <a:t>Our first version got this wrong: no bonds, no caps, 27 to 29% volatility. This fixes it. BPT is still above EUT's 16%, but only because EUT is stuck at 100% equity.</a:t>
            </a:r>
          </a:p>
          <a:p>
            <a:r>
              <a:t>[Point to Kshitij's bar, then the 'We fixed our first model' card. Click.]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1:05 · clock 8:15]</a:t>
            </a:r>
          </a:p>
          <a:p>
            <a:r>
              <a:t>So what would we actually tell each person? Per one crore rupees.</a:t>
            </a:r>
          </a:p>
          <a:p/>
          <a:p>
            <a:r>
              <a:t>Kshitij: 40 lakh in safety, about 27 lakh of it in government bonds. He's loss-averse and impatient, so we'd frame everything in terms of drawdowns, and use SIPs to curb his impatience.</a:t>
            </a:r>
          </a:p>
          <a:p/>
          <a:p>
            <a:r>
              <a:t>Kartika: 30 lakh in safety. She gambles more than she invests, so we'd automate her rebalancing and ring-fence the gambling urge inside the aspiration sleeve.</a:t>
            </a:r>
          </a:p>
          <a:p/>
          <a:p>
            <a:r>
              <a:t>Shree Charan: 30 lakh in safety, but we'd re-run his personality survey before finalising anything.</a:t>
            </a:r>
          </a:p>
          <a:p/>
          <a:p>
            <a:r>
              <a:t>For me, just over 30 lakh, after a five-minute follow-up to confirm my answers.</a:t>
            </a:r>
          </a:p>
          <a:p/>
          <a:p>
            <a:r>
              <a:t>And Adwaaiit: just over 30 lakh. His words and his choices disagree, so we'd talk before he goes all-in.</a:t>
            </a:r>
          </a:p>
          <a:p>
            <a:r>
              <a:t>[Move left to right across the five cards. Click.]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0:45 · clock 9:00]</a:t>
            </a:r>
          </a:p>
          <a:p>
            <a:r>
              <a:t>That's Step 6 in action. Our principle: personality changes how we advise and how much we trust the numbers, never the weights. Four rules. Anxiety plus loss aversion means lead with drawdown alerts. A say-do gap means talk before investing. Careless or inconsistent answers mean re-survey, or start conservative. And openness and conscientiousness tell us whether a client will accept two accounts and stick to rebalancing. None of our five crossed the anxiety threshold, but the rule is built in.</a:t>
            </a:r>
          </a:p>
          <a:p>
            <a:r>
              <a:t>[Touch each card in turn. Click.]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0:30 · clock 9:30]</a:t>
            </a:r>
          </a:p>
          <a:p>
            <a:r>
              <a:t>Deliverable (b): a working robo-advisor, live on Vercel. A client answers the survey, and the moment they finish, the browser shows their EUT and BPT portfolios, their own curves and personalised advice. It matches our Python model to five decimals. In production we'd cut onboarding to under ten minutes and add goals, horizon and income.</a:t>
            </a:r>
          </a:p>
          <a:p>
            <a:r>
              <a:t>[Point to the two screenshots, then the roadmap card. Click.]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[AYUSHI · 0:20 · clock 9:50]</a:t>
            </a:r>
          </a:p>
          <a:p>
            <a:r>
              <a:t>To sum up. EUT can't personalise a young, risk-tolerant group. BPT can, through loss aversion, with a bond-backed safety account and capped stock positions. And personality belongs in how advice is delivered.</a:t>
            </a:r>
          </a:p>
          <a:p>
            <a:r>
              <a:t>[Click.]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3.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microsoft.com/office/2007/relationships/hdphoto" Target="../media/hdphoto4.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microsoft.com/office/2007/relationships/hdphoto" Target="../media/hdphoto5.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5.xml"/><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6.xml"/><Relationship Id="rId3"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mailto:mirjam@adatum.com" TargetMode="Externa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816767" y="1399032"/>
            <a:ext cx="6757416" cy="3427502"/>
          </a:xfrm>
        </p:spPr>
        <p:txBody>
          <a:bodyPr/>
          <a:lstStyle/>
          <a:p>
            <a:r>
              <a:rPr lang="en-US" dirty="0" sz="4000"/>
              <a:t>Robo-advisory</a:t>
            </a:r>
            <a:br/>
            <a:r>
              <a:rPr lang="en-US" dirty="0" sz="4000"/>
              <a:t>portfolio</a:t>
            </a:r>
            <a:br/>
            <a:r>
              <a:rPr lang="en-US" dirty="0" sz="4000"/>
              <a:t>design</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816768" y="417444"/>
            <a:ext cx="7414940" cy="883258"/>
          </a:xfrm>
        </p:spPr>
        <p:txBody>
          <a:bodyPr/>
          <a:lstStyle/>
          <a:p>
            <a:r>
              <a:rPr lang="en-US" dirty="0"/>
              <a:t>Adwaaiit Pande &amp; Ayushi Mishra</a:t>
            </a:r>
          </a:p>
        </p:txBody>
      </p:sp>
      <p:sp>
        <p:nvSpPr>
          <p:cNvPr id="4" name="TextBox 3"/>
          <p:cNvSpPr txBox="1"/>
          <p:nvPr/>
        </p:nvSpPr>
        <p:spPr>
          <a:xfrm>
            <a:off x="850392" y="3886200"/>
            <a:ext cx="5120640" cy="822960"/>
          </a:xfrm>
          <a:prstGeom prst="rect">
            <a:avLst/>
          </a:prstGeom>
          <a:noFill/>
        </p:spPr>
        <p:txBody>
          <a:bodyPr wrap="square" lIns="36576" rIns="36576" tIns="18288" bIns="18288" anchor="t">
            <a:spAutoFit/>
          </a:bodyPr>
          <a:lstStyle/>
          <a:p>
            <a:pPr algn="l">
              <a:spcAft>
                <a:spcPts val="400"/>
              </a:spcAft>
            </a:pPr>
            <a:r>
              <a:rPr sz="1600" b="0">
                <a:solidFill>
                  <a:srgbClr val="36393B"/>
                </a:solidFill>
              </a:rPr>
              <a:t>MBA680 Behavioral Finance · Assignment 2</a:t>
            </a:r>
          </a:p>
          <a:p>
            <a:pPr algn="l">
              <a:spcAft>
                <a:spcPts val="400"/>
              </a:spcAft>
            </a:pPr>
            <a:r>
              <a:rPr sz="1600" b="0">
                <a:solidFill>
                  <a:srgbClr val="36393B"/>
                </a:solidFill>
              </a:rPr>
              <a:t>EUT vs SP/A Behavioral Portfolio Theory, with personality</a:t>
            </a: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sz="2400"/>
              <a:t>The answer first: three findings</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sp>
        <p:nvSpPr>
          <p:cNvPr id="9" name="Finding 1"/>
          <p:cNvSpPr/>
          <p:nvPr/>
        </p:nvSpPr>
        <p:spPr>
          <a:xfrm>
            <a:off x="850392" y="1600200"/>
            <a:ext cx="3291840" cy="35661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1783080"/>
            <a:ext cx="914400" cy="822960"/>
          </a:xfrm>
          <a:prstGeom prst="rect">
            <a:avLst/>
          </a:prstGeom>
          <a:noFill/>
        </p:spPr>
        <p:txBody>
          <a:bodyPr wrap="square" lIns="36576" rIns="36576" tIns="18288" bIns="18288" anchor="t">
            <a:spAutoFit/>
          </a:bodyPr>
          <a:lstStyle/>
          <a:p>
            <a:pPr algn="l">
              <a:spcAft>
                <a:spcPts val="400"/>
              </a:spcAft>
            </a:pPr>
            <a:r>
              <a:rPr sz="4000" b="0">
                <a:solidFill>
                  <a:srgbClr val="0E8C74"/>
                </a:solidFill>
                <a:latin typeface="+mj-lt"/>
              </a:rPr>
              <a:t>1</a:t>
            </a:r>
          </a:p>
        </p:txBody>
      </p:sp>
      <p:sp>
        <p:nvSpPr>
          <p:cNvPr id="11" name="TextBox 10"/>
          <p:cNvSpPr txBox="1"/>
          <p:nvPr/>
        </p:nvSpPr>
        <p:spPr>
          <a:xfrm>
            <a:off x="1078992" y="2560320"/>
            <a:ext cx="2880360" cy="1005840"/>
          </a:xfrm>
          <a:prstGeom prst="rect">
            <a:avLst/>
          </a:prstGeom>
          <a:noFill/>
        </p:spPr>
        <p:txBody>
          <a:bodyPr wrap="square" lIns="36576" rIns="36576" tIns="18288" bIns="18288" anchor="t">
            <a:spAutoFit/>
          </a:bodyPr>
          <a:lstStyle/>
          <a:p>
            <a:pPr algn="l">
              <a:spcAft>
                <a:spcPts val="400"/>
              </a:spcAft>
            </a:pPr>
            <a:r>
              <a:rPr sz="1700" b="1">
                <a:solidFill>
                  <a:srgbClr val="36393B"/>
                </a:solidFill>
              </a:rPr>
              <a:t>EUT can't personalise this group</a:t>
            </a:r>
          </a:p>
        </p:txBody>
      </p:sp>
      <p:sp>
        <p:nvSpPr>
          <p:cNvPr id="12" name="TextBox 11"/>
          <p:cNvSpPr txBox="1"/>
          <p:nvPr/>
        </p:nvSpPr>
        <p:spPr>
          <a:xfrm>
            <a:off x="1078992" y="3611880"/>
            <a:ext cx="2880360" cy="1508760"/>
          </a:xfrm>
          <a:prstGeom prst="rect">
            <a:avLst/>
          </a:prstGeom>
          <a:noFill/>
        </p:spPr>
        <p:txBody>
          <a:bodyPr wrap="square" lIns="36576" rIns="36576" tIns="18288" bIns="18288" anchor="t">
            <a:spAutoFit/>
          </a:bodyPr>
          <a:lstStyle/>
          <a:p>
            <a:pPr algn="l">
              <a:spcAft>
                <a:spcPts val="400"/>
              </a:spcAft>
            </a:pPr>
            <a:r>
              <a:rPr sz="1400" b="0">
                <a:solidFill>
                  <a:srgbClr val="36393B"/>
                </a:solidFill>
              </a:rPr>
              <a:t>All five: 100% in the same tangency portfolio (13.2% return, 16.2% volatility), because every γ is below the market's price of risk (2.48).</a:t>
            </a:r>
          </a:p>
        </p:txBody>
      </p:sp>
      <p:sp>
        <p:nvSpPr>
          <p:cNvPr id="13" name="Finding 2"/>
          <p:cNvSpPr/>
          <p:nvPr/>
        </p:nvSpPr>
        <p:spPr>
          <a:xfrm>
            <a:off x="4343400" y="1600200"/>
            <a:ext cx="3291840" cy="35661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783080"/>
            <a:ext cx="914400" cy="822960"/>
          </a:xfrm>
          <a:prstGeom prst="rect">
            <a:avLst/>
          </a:prstGeom>
          <a:noFill/>
        </p:spPr>
        <p:txBody>
          <a:bodyPr wrap="square" lIns="36576" rIns="36576" tIns="18288" bIns="18288" anchor="t">
            <a:spAutoFit/>
          </a:bodyPr>
          <a:lstStyle/>
          <a:p>
            <a:pPr algn="l">
              <a:spcAft>
                <a:spcPts val="400"/>
              </a:spcAft>
            </a:pPr>
            <a:r>
              <a:rPr sz="4000" b="0">
                <a:solidFill>
                  <a:srgbClr val="0E8C74"/>
                </a:solidFill>
                <a:latin typeface="+mj-lt"/>
              </a:rPr>
              <a:t>2</a:t>
            </a:r>
          </a:p>
        </p:txBody>
      </p:sp>
      <p:sp>
        <p:nvSpPr>
          <p:cNvPr id="15" name="TextBox 14"/>
          <p:cNvSpPr txBox="1"/>
          <p:nvPr/>
        </p:nvSpPr>
        <p:spPr>
          <a:xfrm>
            <a:off x="4572000" y="2560320"/>
            <a:ext cx="2880360" cy="1005840"/>
          </a:xfrm>
          <a:prstGeom prst="rect">
            <a:avLst/>
          </a:prstGeom>
          <a:noFill/>
        </p:spPr>
        <p:txBody>
          <a:bodyPr wrap="square" lIns="36576" rIns="36576" tIns="18288" bIns="18288" anchor="t">
            <a:spAutoFit/>
          </a:bodyPr>
          <a:lstStyle/>
          <a:p>
            <a:pPr algn="l">
              <a:spcAft>
                <a:spcPts val="400"/>
              </a:spcAft>
            </a:pPr>
            <a:r>
              <a:rPr sz="1700" b="1">
                <a:solidFill>
                  <a:srgbClr val="36393B"/>
                </a:solidFill>
              </a:rPr>
              <a:t>SP/A-BPT can, through loss aversion</a:t>
            </a:r>
          </a:p>
        </p:txBody>
      </p:sp>
      <p:sp>
        <p:nvSpPr>
          <p:cNvPr id="16" name="TextBox 15"/>
          <p:cNvSpPr txBox="1"/>
          <p:nvPr/>
        </p:nvSpPr>
        <p:spPr>
          <a:xfrm>
            <a:off x="4572000" y="3611880"/>
            <a:ext cx="2880360" cy="1508760"/>
          </a:xfrm>
          <a:prstGeom prst="rect">
            <a:avLst/>
          </a:prstGeom>
          <a:noFill/>
        </p:spPr>
        <p:txBody>
          <a:bodyPr wrap="square" lIns="36576" rIns="36576" tIns="18288" bIns="18288" anchor="t">
            <a:spAutoFit/>
          </a:bodyPr>
          <a:lstStyle/>
          <a:p>
            <a:pPr algn="l">
              <a:spcAft>
                <a:spcPts val="400"/>
              </a:spcAft>
            </a:pPr>
            <a:r>
              <a:rPr sz="1400" b="0">
                <a:solidFill>
                  <a:srgbClr val="36393B"/>
                </a:solidFill>
              </a:rPr>
              <a:t>A safety account (30–40% of capital, two-thirds in G-Secs) grows with λ. Kshitij, the only loss-averse client, gets the most protection and the least risk.</a:t>
            </a:r>
          </a:p>
        </p:txBody>
      </p:sp>
      <p:sp>
        <p:nvSpPr>
          <p:cNvPr id="17" name="Finding 3"/>
          <p:cNvSpPr/>
          <p:nvPr/>
        </p:nvSpPr>
        <p:spPr>
          <a:xfrm>
            <a:off x="7836408" y="1600200"/>
            <a:ext cx="3291840" cy="35661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5008" y="1783080"/>
            <a:ext cx="914400" cy="822960"/>
          </a:xfrm>
          <a:prstGeom prst="rect">
            <a:avLst/>
          </a:prstGeom>
          <a:noFill/>
        </p:spPr>
        <p:txBody>
          <a:bodyPr wrap="square" lIns="36576" rIns="36576" tIns="18288" bIns="18288" anchor="t">
            <a:spAutoFit/>
          </a:bodyPr>
          <a:lstStyle/>
          <a:p>
            <a:pPr algn="l">
              <a:spcAft>
                <a:spcPts val="400"/>
              </a:spcAft>
            </a:pPr>
            <a:r>
              <a:rPr sz="4000" b="0">
                <a:solidFill>
                  <a:srgbClr val="0E8C74"/>
                </a:solidFill>
                <a:latin typeface="+mj-lt"/>
              </a:rPr>
              <a:t>3</a:t>
            </a:r>
          </a:p>
        </p:txBody>
      </p:sp>
      <p:sp>
        <p:nvSpPr>
          <p:cNvPr id="19" name="TextBox 18"/>
          <p:cNvSpPr txBox="1"/>
          <p:nvPr/>
        </p:nvSpPr>
        <p:spPr>
          <a:xfrm>
            <a:off x="8065008" y="2560320"/>
            <a:ext cx="2880360" cy="1005840"/>
          </a:xfrm>
          <a:prstGeom prst="rect">
            <a:avLst/>
          </a:prstGeom>
          <a:noFill/>
        </p:spPr>
        <p:txBody>
          <a:bodyPr wrap="square" lIns="36576" rIns="36576" tIns="18288" bIns="18288" anchor="t">
            <a:spAutoFit/>
          </a:bodyPr>
          <a:lstStyle/>
          <a:p>
            <a:pPr algn="l">
              <a:spcAft>
                <a:spcPts val="400"/>
              </a:spcAft>
            </a:pPr>
            <a:r>
              <a:rPr sz="1700" b="1">
                <a:solidFill>
                  <a:srgbClr val="36393B"/>
                </a:solidFill>
              </a:rPr>
              <a:t>Personality shapes the advice, not the weights</a:t>
            </a:r>
          </a:p>
        </p:txBody>
      </p:sp>
      <p:sp>
        <p:nvSpPr>
          <p:cNvPr id="20" name="TextBox 19"/>
          <p:cNvSpPr txBox="1"/>
          <p:nvPr/>
        </p:nvSpPr>
        <p:spPr>
          <a:xfrm>
            <a:off x="8065008" y="3611880"/>
            <a:ext cx="2880360" cy="1508760"/>
          </a:xfrm>
          <a:prstGeom prst="rect">
            <a:avLst/>
          </a:prstGeom>
          <a:noFill/>
        </p:spPr>
        <p:txBody>
          <a:bodyPr wrap="square" lIns="36576" rIns="36576" tIns="18288" bIns="18288" anchor="t">
            <a:spAutoFit/>
          </a:bodyPr>
          <a:lstStyle/>
          <a:p>
            <a:pPr algn="l">
              <a:spcAft>
                <a:spcPts val="400"/>
              </a:spcAft>
            </a:pPr>
            <a:r>
              <a:rPr sz="1400" b="0">
                <a:solidFill>
                  <a:srgbClr val="36393B"/>
                </a:solidFill>
              </a:rPr>
              <a:t>3 of 5 profiles are flagged (say-vs-do gap, straight-lining, inconsistent repeats) and need a human conversation first.</a:t>
            </a:r>
          </a:p>
        </p:txBody>
      </p:sp>
      <p:sp>
        <p:nvSpPr>
          <p:cNvPr id="21" name="TextBox 20"/>
          <p:cNvSpPr txBox="1"/>
          <p:nvPr/>
        </p:nvSpPr>
        <p:spPr>
          <a:xfrm>
            <a:off x="850392" y="5349240"/>
            <a:ext cx="10424160" cy="822960"/>
          </a:xfrm>
          <a:prstGeom prst="rect">
            <a:avLst/>
          </a:prstGeom>
          <a:noFill/>
        </p:spPr>
        <p:txBody>
          <a:bodyPr wrap="square" lIns="36576" rIns="36576" tIns="18288" bIns="18288" anchor="t">
            <a:spAutoFit/>
          </a:bodyPr>
          <a:lstStyle/>
          <a:p>
            <a:pPr algn="l">
              <a:spcAft>
                <a:spcPts val="400"/>
              </a:spcAft>
            </a:pPr>
            <a:r>
              <a:rPr sz="1300" b="1">
                <a:solidFill>
                  <a:srgbClr val="5F6266"/>
                </a:solidFill>
              </a:rPr>
              <a:t>Scope: </a:t>
            </a:r>
            <a:r>
              <a:rPr sz="1300" b="0">
                <a:solidFill>
                  <a:srgbClr val="5F6266"/>
                </a:solidFill>
              </a:rPr>
              <a:t>a five-person pilot of classmates, including both presenters. Assumed client profile: ₹1 crore corpus (from Problem 1), 5+ year horizon, no near-term liquidity needs. Goals and risk capacity were not surveyed.</a:t>
            </a:r>
          </a:p>
        </p:txBody>
      </p:sp>
      <p:sp>
        <p:nvSpPr>
          <p:cNvPr id="22"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Adwaaiit</a:t>
            </a:r>
          </a:p>
        </p:txBody>
      </p:sp>
    </p:spTree>
    <p:extLst>
      <p:ext uri="{BB962C8B-B14F-4D97-AF65-F5344CB8AC3E}">
        <p14:creationId xmlns:p14="http://schemas.microsoft.com/office/powerpoint/2010/main" val="226339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C097A-775B-08E5-6C81-5BA1BCE9ACD7}"/>
              </a:ext>
            </a:extLst>
          </p:cNvPr>
          <p:cNvSpPr>
            <a:spLocks noGrp="1"/>
          </p:cNvSpPr>
          <p:nvPr>
            <p:ph type="title"/>
          </p:nvPr>
        </p:nvSpPr>
        <p:spPr>
          <a:xfrm>
            <a:off x="850392" y="0"/>
            <a:ext cx="10122632" cy="1307592"/>
          </a:xfrm>
        </p:spPr>
        <p:txBody>
          <a:bodyPr/>
          <a:lstStyle/>
          <a:p>
            <a:r>
              <a:rPr lang="en-US" dirty="0" sz="2400"/>
              <a:t>Six steps, three stages: measure, model, recommend</a:t>
            </a:r>
          </a:p>
        </p:txBody>
      </p:sp>
      <p:sp>
        <p:nvSpPr>
          <p:cNvPr id="3" name="Content Placeholder 2">
            <a:extLst>
              <a:ext uri="{FF2B5EF4-FFF2-40B4-BE49-F238E27FC236}">
                <a16:creationId xmlns:a16="http://schemas.microsoft.com/office/drawing/2014/main" id="{58037C43-2A58-4D8F-4B88-9D5CBE782944}"/>
              </a:ext>
            </a:extLst>
          </p:cNvPr>
          <p:cNvSpPr>
            <a:spLocks noGrp="1"/>
          </p:cNvSpPr>
          <p:nvPr>
            <p:ph sz="half" idx="2"/>
          </p:nvPr>
        </p:nvSpPr>
        <p:spPr>
          <a:xfrm>
            <a:off x="850392" y="1837944"/>
            <a:ext cx="10085832" cy="1426464"/>
          </a:xfrm>
        </p:spPr>
        <p:txBody>
          <a:bodyPr/>
          <a:lstStyle/>
          <a:p>
            <a:r>
              <a:rPr lang="en-US" dirty="0" sz="1600"/>
              <a:t>Brief: act as a personal investment adviser to a peer group, then automate it as a robo-advisory product</a:t>
            </a:r>
          </a:p>
          <a:p>
            <a:r>
              <a:rPr lang="en-US" dirty="0" sz="1600"/>
              <a:t>Step 5 inputs reused from Problem 1: 66 NSE stocks, 3-year covariance, rf 6.75%</a:t>
            </a:r>
          </a:p>
        </p:txBody>
      </p:sp>
      <p:graphicFrame>
        <p:nvGraphicFramePr>
          <p:cNvPr id="7" name="Content Placeholder 4" descr="Basic chevron process SmartArt graphic">
            <a:extLst>
              <a:ext uri="{FF2B5EF4-FFF2-40B4-BE49-F238E27FC236}">
                <a16:creationId xmlns:a16="http://schemas.microsoft.com/office/drawing/2014/main" id="{25034E95-5946-A554-4D38-9515B8B69D7E}"/>
              </a:ext>
            </a:extLst>
          </p:cNvPr>
          <p:cNvGraphicFramePr>
            <a:graphicFrameLocks noGrp="1"/>
          </p:cNvGraphicFramePr>
          <p:nvPr>
            <p:ph sz="half" idx="12"/>
            <p:extLst>
              <p:ext uri="{D42A27DB-BD31-4B8C-83A1-F6EECF244321}">
                <p14:modId xmlns:p14="http://schemas.microsoft.com/office/powerpoint/2010/main" val="1156014171"/>
              </p:ext>
            </p:extLst>
          </p:nvPr>
        </p:nvGraphicFramePr>
        <p:xfrm>
          <a:off x="850900" y="3949700"/>
          <a:ext cx="10085388" cy="2332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9CE23B6C-8A52-6407-0C43-F01FB97CFD97}"/>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9</a:t>
            </a:fld>
            <a:endParaRPr lang="en-US" dirty="0"/>
          </a:p>
        </p:txBody>
      </p:sp>
      <p:sp>
        <p:nvSpPr>
          <p:cNvPr id="8"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Adwaaiit</a:t>
            </a:r>
          </a:p>
        </p:txBody>
      </p:sp>
    </p:spTree>
    <p:extLst>
      <p:ext uri="{BB962C8B-B14F-4D97-AF65-F5344CB8AC3E}">
        <p14:creationId xmlns:p14="http://schemas.microsoft.com/office/powerpoint/2010/main" val="64299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7B9D3-A88A-5F79-3CD7-7112379E43FB}"/>
              </a:ext>
            </a:extLst>
          </p:cNvPr>
          <p:cNvSpPr>
            <a:spLocks noGrp="1"/>
          </p:cNvSpPr>
          <p:nvPr>
            <p:ph type="title"/>
          </p:nvPr>
        </p:nvSpPr>
        <p:spPr>
          <a:xfrm>
            <a:off x="850392" y="0"/>
            <a:ext cx="10122632" cy="1307592"/>
          </a:xfrm>
        </p:spPr>
        <p:txBody>
          <a:bodyPr/>
          <a:lstStyle/>
          <a:p>
            <a:r>
              <a:rPr lang="en-US" dirty="0" sz="2400"/>
              <a:t>Only the choice task yields the parameters both theories need</a:t>
            </a:r>
          </a:p>
        </p:txBody>
      </p:sp>
      <p:sp>
        <p:nvSpPr>
          <p:cNvPr id="3" name="Content Placeholder 2">
            <a:extLst>
              <a:ext uri="{FF2B5EF4-FFF2-40B4-BE49-F238E27FC236}">
                <a16:creationId xmlns:a16="http://schemas.microsoft.com/office/drawing/2014/main" id="{315092CE-B028-71A6-C0A0-FB94C591E96F}"/>
              </a:ext>
            </a:extLst>
          </p:cNvPr>
          <p:cNvSpPr>
            <a:spLocks noGrp="1"/>
          </p:cNvSpPr>
          <p:nvPr>
            <p:ph sz="half" idx="2"/>
          </p:nvPr>
        </p:nvSpPr>
        <p:spPr>
          <a:xfrm>
            <a:off x="850392" y="1837944"/>
            <a:ext cx="3941064" cy="4270248"/>
          </a:xfrm>
        </p:spPr>
        <p:txBody>
          <a:bodyPr/>
          <a:lstStyle/>
          <a:p>
            <a:r>
              <a:rPr lang="en-US" dirty="0" sz="1400"/>
              <a:t>WHY NOT ONE STANDARD SURVEY?</a:t>
            </a:r>
          </a:p>
          <a:p>
            <a:pPr lvl="1"/>
            <a:r>
              <a:rPr lang="en-US" dirty="0" sz="1500"/>
              <a:t>One score can't give γ, λ, time preference or a plottable utility function</a:t>
            </a:r>
          </a:p>
          <a:p>
            <a:r>
              <a:rPr lang="en-US" dirty="0" sz="1400"/>
              <a:t> </a:t>
            </a:r>
          </a:p>
          <a:p>
            <a:r>
              <a:rPr lang="en-US" dirty="0" sz="1400"/>
              <a:t>EVERY PART HAS A JOB</a:t>
            </a:r>
          </a:p>
          <a:p>
            <a:pPr lvl="1"/>
            <a:r>
              <a:rPr lang="en-US" dirty="0" sz="1500"/>
              <a:t>Benchmark, context, personality, parameters</a:t>
            </a:r>
          </a:p>
          <a:p>
            <a:r>
              <a:rPr lang="en-US" dirty="0" sz="1400"/>
              <a:t> </a:t>
            </a:r>
          </a:p>
          <a:p>
            <a:r>
              <a:rPr lang="en-US" dirty="0" sz="1400"/>
              <a:t>SAY VS. DO</a:t>
            </a:r>
          </a:p>
          <a:p>
            <a:pPr lvl="1"/>
            <a:r>
              <a:rPr lang="en-US" dirty="0" sz="1500"/>
              <a:t>Scales show what people say; choices show what they do</a:t>
            </a:r>
          </a:p>
        </p:txBody>
      </p:sp>
      <p:sp>
        <p:nvSpPr>
          <p:cNvPr id="5" name="Slide Number Placeholder 4">
            <a:extLst>
              <a:ext uri="{FF2B5EF4-FFF2-40B4-BE49-F238E27FC236}">
                <a16:creationId xmlns:a16="http://schemas.microsoft.com/office/drawing/2014/main" id="{0F096C5E-DC1F-D26B-A71E-5322020B8A7E}"/>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10</a:t>
            </a:fld>
            <a:endParaRPr lang="en-US" dirty="0"/>
          </a:p>
        </p:txBody>
      </p:sp>
      <p:graphicFrame>
        <p:nvGraphicFramePr>
          <p:cNvPr id="6" name="Table 5"/>
          <p:cNvGraphicFramePr>
            <a:graphicFrameLocks noGrp="1"/>
          </p:cNvGraphicFramePr>
          <p:nvPr/>
        </p:nvGraphicFramePr>
        <p:xfrm>
          <a:off x="5120640" y="1828800"/>
          <a:ext cx="6172199" cy="3931920"/>
        </p:xfrm>
        <a:graphic>
          <a:graphicData uri="http://schemas.openxmlformats.org/drawingml/2006/table">
            <a:tbl>
              <a:tblPr firstRow="1" bandRow="1">
                <a:tableStyleId>{5C22544A-7EE6-4342-B048-85BDC9FD1C3A}</a:tableStyleId>
              </a:tblPr>
              <a:tblGrid>
                <a:gridCol w="1874519"/>
                <a:gridCol w="685800"/>
                <a:gridCol w="1691640"/>
                <a:gridCol w="1920240"/>
              </a:tblGrid>
              <a:tr h="655320">
                <a:tc>
                  <a:txBody>
                    <a:bodyPr/>
                    <a:lstStyle/>
                    <a:p>
                      <a:pPr algn="l"/>
                      <a:r>
                        <a:rPr sz="1000" b="0">
                          <a:solidFill>
                            <a:srgbClr val="36393B"/>
                          </a:solidFill>
                          <a:latin typeface="+mj-lt"/>
                        </a:rPr>
                        <a:t>INSTRUMENT</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ITEMS</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MEASURES</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WHY WE NEED IT</a:t>
                      </a:r>
                    </a:p>
                  </a:txBody>
                  <a:tcPr anchor="ctr" marL="54864" marR="54864" marT="27432" marB="27432">
                    <a:solidFill>
                      <a:schemeClr val="accent1">
                        <a:lumMod val="75000"/>
                      </a:schemeClr>
                    </a:solidFill>
                  </a:tcPr>
                </a:tc>
              </a:tr>
              <a:tr h="655320">
                <a:tc>
                  <a:txBody>
                    <a:bodyPr/>
                    <a:lstStyle/>
                    <a:p>
                      <a:pPr algn="l"/>
                      <a:r>
                        <a:rPr sz="1100" b="1">
                          <a:solidFill>
                            <a:srgbClr val="36393B"/>
                          </a:solidFill>
                        </a:rPr>
                        <a:t>Self-rating anchors</a:t>
                      </a:r>
                    </a:p>
                  </a:txBody>
                  <a:tcPr anchor="ctr" marL="54864" marR="54864" marT="27432" marB="27432"/>
                </a:tc>
                <a:tc>
                  <a:txBody>
                    <a:bodyPr/>
                    <a:lstStyle/>
                    <a:p>
                      <a:pPr algn="ctr"/>
                      <a:r>
                        <a:rPr sz="1100" b="0">
                          <a:solidFill>
                            <a:srgbClr val="36393B"/>
                          </a:solidFill>
                        </a:rPr>
                        <a:t>2</a:t>
                      </a:r>
                    </a:p>
                  </a:txBody>
                  <a:tcPr anchor="ctr" marL="54864" marR="54864" marT="27432" marB="27432"/>
                </a:tc>
                <a:tc>
                  <a:txBody>
                    <a:bodyPr/>
                    <a:lstStyle/>
                    <a:p>
                      <a:pPr algn="ctr"/>
                      <a:r>
                        <a:rPr sz="1100" b="0">
                          <a:solidFill>
                            <a:srgbClr val="36393B"/>
                          </a:solidFill>
                        </a:rPr>
                        <a:t>Risk, patience (0–10)</a:t>
                      </a:r>
                    </a:p>
                  </a:txBody>
                  <a:tcPr anchor="ctr" marL="54864" marR="54864" marT="27432" marB="27432"/>
                </a:tc>
                <a:tc>
                  <a:txBody>
                    <a:bodyPr/>
                    <a:lstStyle/>
                    <a:p>
                      <a:pPr algn="ctr"/>
                      <a:r>
                        <a:rPr sz="1100" b="0">
                          <a:solidFill>
                            <a:srgbClr val="36393B"/>
                          </a:solidFill>
                        </a:rPr>
                        <a:t>Say-vs-do check</a:t>
                      </a:r>
                    </a:p>
                  </a:txBody>
                  <a:tcPr anchor="ctr" marL="54864" marR="54864" marT="27432" marB="27432"/>
                </a:tc>
              </a:tr>
              <a:tr h="655320">
                <a:tc>
                  <a:txBody>
                    <a:bodyPr/>
                    <a:lstStyle/>
                    <a:p>
                      <a:pPr algn="l"/>
                      <a:r>
                        <a:rPr sz="1100" b="1">
                          <a:solidFill>
                            <a:srgbClr val="36393B"/>
                          </a:solidFill>
                        </a:rPr>
                        <a:t>Grable &amp; Lytton (1999)</a:t>
                      </a:r>
                    </a:p>
                  </a:txBody>
                  <a:tcPr anchor="ctr" marL="54864" marR="54864" marT="27432" marB="27432"/>
                </a:tc>
                <a:tc>
                  <a:txBody>
                    <a:bodyPr/>
                    <a:lstStyle/>
                    <a:p>
                      <a:pPr algn="ctr"/>
                      <a:r>
                        <a:rPr sz="1100" b="0">
                          <a:solidFill>
                            <a:srgbClr val="36393B"/>
                          </a:solidFill>
                        </a:rPr>
                        <a:t>13</a:t>
                      </a:r>
                    </a:p>
                  </a:txBody>
                  <a:tcPr anchor="ctr" marL="54864" marR="54864" marT="27432" marB="27432"/>
                </a:tc>
                <a:tc>
                  <a:txBody>
                    <a:bodyPr/>
                    <a:lstStyle/>
                    <a:p>
                      <a:pPr algn="ctr"/>
                      <a:r>
                        <a:rPr sz="1100" b="0">
                          <a:solidFill>
                            <a:srgbClr val="36393B"/>
                          </a:solidFill>
                        </a:rPr>
                        <a:t>Financial risk tolerance</a:t>
                      </a:r>
                    </a:p>
                  </a:txBody>
                  <a:tcPr anchor="ctr" marL="54864" marR="54864" marT="27432" marB="27432"/>
                </a:tc>
                <a:tc>
                  <a:txBody>
                    <a:bodyPr/>
                    <a:lstStyle/>
                    <a:p>
                      <a:pPr algn="ctr"/>
                      <a:r>
                        <a:rPr sz="1100" b="0">
                          <a:solidFill>
                            <a:srgbClr val="36393B"/>
                          </a:solidFill>
                        </a:rPr>
                        <a:t>Industry benchmark</a:t>
                      </a:r>
                    </a:p>
                  </a:txBody>
                  <a:tcPr anchor="ctr" marL="54864" marR="54864" marT="27432" marB="27432"/>
                </a:tc>
              </a:tr>
              <a:tr h="655320">
                <a:tc>
                  <a:txBody>
                    <a:bodyPr/>
                    <a:lstStyle/>
                    <a:p>
                      <a:pPr algn="l"/>
                      <a:r>
                        <a:rPr sz="1100" b="1">
                          <a:solidFill>
                            <a:srgbClr val="36393B"/>
                          </a:solidFill>
                        </a:rPr>
                        <a:t>DOSPERT financial (Blais &amp; Weber, 2006)</a:t>
                      </a:r>
                    </a:p>
                  </a:txBody>
                  <a:tcPr anchor="ctr" marL="54864" marR="54864" marT="27432" marB="27432"/>
                </a:tc>
                <a:tc>
                  <a:txBody>
                    <a:bodyPr/>
                    <a:lstStyle/>
                    <a:p>
                      <a:pPr algn="ctr"/>
                      <a:r>
                        <a:rPr sz="1100" b="0">
                          <a:solidFill>
                            <a:srgbClr val="36393B"/>
                          </a:solidFill>
                        </a:rPr>
                        <a:t>6</a:t>
                      </a:r>
                    </a:p>
                  </a:txBody>
                  <a:tcPr anchor="ctr" marL="54864" marR="54864" marT="27432" marB="27432"/>
                </a:tc>
                <a:tc>
                  <a:txBody>
                    <a:bodyPr/>
                    <a:lstStyle/>
                    <a:p>
                      <a:pPr algn="ctr"/>
                      <a:r>
                        <a:rPr sz="1100" b="0">
                          <a:solidFill>
                            <a:srgbClr val="36393B"/>
                          </a:solidFill>
                        </a:rPr>
                        <a:t>Investing vs. gambling</a:t>
                      </a:r>
                    </a:p>
                  </a:txBody>
                  <a:tcPr anchor="ctr" marL="54864" marR="54864" marT="27432" marB="27432"/>
                </a:tc>
                <a:tc>
                  <a:txBody>
                    <a:bodyPr/>
                    <a:lstStyle/>
                    <a:p>
                      <a:pPr algn="ctr"/>
                      <a:r>
                        <a:rPr sz="1100" b="0">
                          <a:solidFill>
                            <a:srgbClr val="36393B"/>
                          </a:solidFill>
                        </a:rPr>
                        <a:t>Risk-taking is context-specific</a:t>
                      </a:r>
                    </a:p>
                  </a:txBody>
                  <a:tcPr anchor="ctr" marL="54864" marR="54864" marT="27432" marB="27432"/>
                </a:tc>
              </a:tr>
              <a:tr h="655320">
                <a:tc>
                  <a:txBody>
                    <a:bodyPr/>
                    <a:lstStyle/>
                    <a:p>
                      <a:pPr algn="l"/>
                      <a:r>
                        <a:rPr sz="1100" b="1">
                          <a:solidFill>
                            <a:srgbClr val="36393B"/>
                          </a:solidFill>
                        </a:rPr>
                        <a:t>BFI-2 (Soto &amp; John, 2017)</a:t>
                      </a:r>
                    </a:p>
                  </a:txBody>
                  <a:tcPr anchor="ctr" marL="54864" marR="54864" marT="27432" marB="27432"/>
                </a:tc>
                <a:tc>
                  <a:txBody>
                    <a:bodyPr/>
                    <a:lstStyle/>
                    <a:p>
                      <a:pPr algn="ctr"/>
                      <a:r>
                        <a:rPr sz="1100" b="0">
                          <a:solidFill>
                            <a:srgbClr val="36393B"/>
                          </a:solidFill>
                        </a:rPr>
                        <a:t>60</a:t>
                      </a:r>
                    </a:p>
                  </a:txBody>
                  <a:tcPr anchor="ctr" marL="54864" marR="54864" marT="27432" marB="27432"/>
                </a:tc>
                <a:tc>
                  <a:txBody>
                    <a:bodyPr/>
                    <a:lstStyle/>
                    <a:p>
                      <a:pPr algn="ctr"/>
                      <a:r>
                        <a:rPr sz="1100" b="0">
                          <a:solidFill>
                            <a:srgbClr val="36393B"/>
                          </a:solidFill>
                        </a:rPr>
                        <a:t>Big Five, 15 facets</a:t>
                      </a:r>
                    </a:p>
                  </a:txBody>
                  <a:tcPr anchor="ctr" marL="54864" marR="54864" marT="27432" marB="27432"/>
                </a:tc>
                <a:tc>
                  <a:txBody>
                    <a:bodyPr/>
                    <a:lstStyle/>
                    <a:p>
                      <a:pPr algn="ctr"/>
                      <a:r>
                        <a:rPr sz="1100" b="0">
                          <a:solidFill>
                            <a:srgbClr val="36393B"/>
                          </a:solidFill>
                        </a:rPr>
                        <a:t>Step 3; flags careless answers</a:t>
                      </a:r>
                    </a:p>
                  </a:txBody>
                  <a:tcPr anchor="ctr" marL="54864" marR="54864" marT="27432" marB="27432"/>
                </a:tc>
              </a:tr>
              <a:tr h="655320">
                <a:tc>
                  <a:txBody>
                    <a:bodyPr/>
                    <a:lstStyle/>
                    <a:p>
                      <a:pPr algn="l"/>
                      <a:r>
                        <a:rPr sz="1100" b="1">
                          <a:solidFill>
                            <a:srgbClr val="36393B"/>
                          </a:solidFill>
                        </a:rPr>
                        <a:t>Adaptive choice engine (ours)</a:t>
                      </a:r>
                    </a:p>
                  </a:txBody>
                  <a:tcPr anchor="ctr" marL="54864" marR="54864" marT="27432" marB="27432"/>
                </a:tc>
                <a:tc>
                  <a:txBody>
                    <a:bodyPr/>
                    <a:lstStyle/>
                    <a:p>
                      <a:pPr algn="ctr"/>
                      <a:r>
                        <a:rPr sz="1100" b="0">
                          <a:solidFill>
                            <a:srgbClr val="36393B"/>
                          </a:solidFill>
                        </a:rPr>
                        <a:t>18 + 2</a:t>
                      </a:r>
                    </a:p>
                  </a:txBody>
                  <a:tcPr anchor="ctr" marL="54864" marR="54864" marT="27432" marB="27432"/>
                </a:tc>
                <a:tc>
                  <a:txBody>
                    <a:bodyPr/>
                    <a:lstStyle/>
                    <a:p>
                      <a:pPr algn="ctr"/>
                      <a:r>
                        <a:rPr sz="1100" b="0">
                          <a:solidFill>
                            <a:srgbClr val="36393B"/>
                          </a:solidFill>
                        </a:rPr>
                        <a:t>γ, λ, α, β, δ</a:t>
                      </a:r>
                    </a:p>
                  </a:txBody>
                  <a:tcPr anchor="ctr" marL="54864" marR="54864" marT="27432" marB="27432"/>
                </a:tc>
                <a:tc>
                  <a:txBody>
                    <a:bodyPr/>
                    <a:lstStyle/>
                    <a:p>
                      <a:pPr algn="ctr"/>
                      <a:r>
                        <a:rPr sz="1100" b="0">
                          <a:solidFill>
                            <a:srgbClr val="36393B"/>
                          </a:solidFill>
                        </a:rPr>
                        <a:t>Only source of the parameters</a:t>
                      </a:r>
                    </a:p>
                  </a:txBody>
                  <a:tcPr anchor="ctr" marL="54864" marR="54864" marT="27432" marB="27432"/>
                </a:tc>
              </a:tr>
            </a:tbl>
          </a:graphicData>
        </a:graphic>
      </p:graphicFrame>
      <p:sp>
        <p:nvSpPr>
          <p:cNvPr id="7" name="TextBox 6"/>
          <p:cNvSpPr txBox="1"/>
          <p:nvPr/>
        </p:nvSpPr>
        <p:spPr>
          <a:xfrm>
            <a:off x="5120640" y="5852160"/>
            <a:ext cx="6172200" cy="365760"/>
          </a:xfrm>
          <a:prstGeom prst="rect">
            <a:avLst/>
          </a:prstGeom>
          <a:noFill/>
        </p:spPr>
        <p:txBody>
          <a:bodyPr wrap="square" lIns="36576" rIns="36576" tIns="18288" bIns="18288" anchor="t">
            <a:spAutoFit/>
          </a:bodyPr>
          <a:lstStyle/>
          <a:p>
            <a:pPr algn="l">
              <a:spcAft>
                <a:spcPts val="400"/>
              </a:spcAft>
            </a:pPr>
            <a:r>
              <a:rPr sz="1200" b="0">
                <a:solidFill>
                  <a:srgbClr val="5F6266"/>
                </a:solidFill>
              </a:rPr>
              <a:t>About 100 items in one sitting, 20–25 minutes.</a:t>
            </a:r>
          </a:p>
        </p:txBody>
      </p:sp>
      <p:sp>
        <p:nvSpPr>
          <p:cNvPr id="8"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Adwaaiit</a:t>
            </a:r>
          </a:p>
        </p:txBody>
      </p:sp>
    </p:spTree>
    <p:extLst>
      <p:ext uri="{BB962C8B-B14F-4D97-AF65-F5344CB8AC3E}">
        <p14:creationId xmlns:p14="http://schemas.microsoft.com/office/powerpoint/2010/main" val="1852983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A49A-DC7C-9C4F-2F9A-564E195C5628}"/>
              </a:ext>
            </a:extLst>
          </p:cNvPr>
          <p:cNvSpPr>
            <a:spLocks noGrp="1"/>
          </p:cNvSpPr>
          <p:nvPr>
            <p:ph type="title"/>
          </p:nvPr>
        </p:nvSpPr>
        <p:spPr>
          <a:xfrm>
            <a:off x="846879" y="868680"/>
            <a:ext cx="5248656" cy="2157984"/>
          </a:xfrm>
        </p:spPr>
        <p:txBody>
          <a:bodyPr anchor="t"/>
          <a:lstStyle/>
          <a:p>
            <a:r>
              <a:rPr lang="en-US" dirty="0" sz="2400"/>
              <a:t>Twenty adaptive choices pin down five parameters</a:t>
            </a:r>
          </a:p>
        </p:txBody>
      </p:sp>
      <p:pic>
        <p:nvPicPr>
          <p:cNvPr id="23" name="Picture Placeholder 22" descr="View of city skyscrapers looking up">
            <a:extLst>
              <a:ext uri="{FF2B5EF4-FFF2-40B4-BE49-F238E27FC236}">
                <a16:creationId xmlns:a16="http://schemas.microsoft.com/office/drawing/2014/main" id="{EA0720B9-8012-11BC-9281-4F57A58FAD3B}"/>
              </a:ext>
            </a:extLst>
          </p:cNvPr>
          <p:cNvPicPr>
            <a:picLocks noGrp="1" noChangeAspect="1"/>
          </p:cNvPicPr>
          <p:nvPr>
            <p:ph type="pic" sz="quarter" idx="13"/>
          </p:nvPr>
        </p:nvPicPr>
        <p:blipFill>
          <a:blip r:embed="rId2"/>
          <a:srcRect l="523" r="523"/>
          <a:stretch/>
        </p:blipFill>
        <p:spPr>
          <a:xfrm>
            <a:off x="0" y="3159126"/>
            <a:ext cx="4577463" cy="3698875"/>
          </a:xfrm>
        </p:spPr>
      </p:pic>
      <p:sp>
        <p:nvSpPr>
          <p:cNvPr id="6" name="Content Placeholder 3">
            <a:extLst>
              <a:ext uri="{FF2B5EF4-FFF2-40B4-BE49-F238E27FC236}">
                <a16:creationId xmlns:a16="http://schemas.microsoft.com/office/drawing/2014/main" id="{864D6ACC-22BB-B3AD-E797-74518F06BE3A}"/>
              </a:ext>
            </a:extLst>
          </p:cNvPr>
          <p:cNvSpPr>
            <a:spLocks noGrp="1"/>
          </p:cNvSpPr>
          <p:nvPr>
            <p:ph sz="half" idx="2"/>
          </p:nvPr>
        </p:nvSpPr>
        <p:spPr>
          <a:xfrm>
            <a:off x="6729984" y="3858768"/>
            <a:ext cx="4617720" cy="2770632"/>
          </a:xfrm>
          <a:noFill/>
        </p:spPr>
        <p:txBody>
          <a:bodyPr vert="horz" lIns="91440" tIns="45720" rIns="91440" bIns="45720" rtlCol="0" anchor="t">
            <a:noAutofit/>
          </a:bodyPr>
          <a:lstStyle/>
          <a:p>
            <a:r>
              <a:rPr lang="en-US" dirty="0" sz="1300"/>
              <a:t>EACH OF 18 QUESTIONS</a:t>
            </a:r>
          </a:p>
          <a:p>
            <a:pPr lvl="1"/>
            <a:r>
              <a:rPr lang="en-US" dirty="0" sz="1400"/>
              <a:t>A gamble vs. a sure amount, or now vs. later</a:t>
            </a:r>
          </a:p>
          <a:p>
            <a:pPr lvl="1"/>
            <a:r>
              <a:rPr lang="en-US" dirty="0" sz="1400"/>
              <a:t>Mixed gain/loss gambles separate λ from γ</a:t>
            </a:r>
          </a:p>
          <a:p>
            <a:pPr lvl="1"/>
            <a:r>
              <a:rPr lang="en-US" dirty="0" sz="1400"/>
              <a:t>Bayes update over 7,776 combinations; next question = most informative</a:t>
            </a:r>
          </a:p>
          <a:p>
            <a:pPr lvl="1"/>
            <a:r>
              <a:rPr lang="en-US" dirty="0" sz="1400"/>
              <a:t>2 hidden repeats test consistency; Empirical-Bayes pooling</a:t>
            </a:r>
          </a:p>
        </p:txBody>
      </p:sp>
      <p:sp>
        <p:nvSpPr>
          <p:cNvPr id="27" name="Slide Number Placeholder 26">
            <a:extLst>
              <a:ext uri="{FF2B5EF4-FFF2-40B4-BE49-F238E27FC236}">
                <a16:creationId xmlns:a16="http://schemas.microsoft.com/office/drawing/2014/main" id="{A4B6E0DA-DEBF-CAD7-638D-5FAC6A83CE38}"/>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8</a:t>
            </a:fld>
            <a:endParaRPr lang="en-US" dirty="0"/>
          </a:p>
        </p:txBody>
      </p:sp>
      <p:sp>
        <p:nvSpPr>
          <p:cNvPr id="26" name="Oval 25">
            <a:extLst>
              <a:ext uri="{FF2B5EF4-FFF2-40B4-BE49-F238E27FC236}">
                <a16:creationId xmlns:a16="http://schemas.microsoft.com/office/drawing/2014/main" id="{3B5704EA-7A65-5CC2-D428-F28396B06208}"/>
              </a:ext>
              <a:ext uri="{C183D7F6-B498-43B3-948B-1728B52AA6E4}">
                <adec:decorative xmlns:adec="http://schemas.microsoft.com/office/drawing/2017/decorative" val="1"/>
              </a:ext>
            </a:extLst>
          </p:cNvPr>
          <p:cNvSpPr/>
          <p:nvPr/>
        </p:nvSpPr>
        <p:spPr>
          <a:xfrm>
            <a:off x="281346" y="2724345"/>
            <a:ext cx="1292298" cy="1292298"/>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28" name="TextBox 27"/>
          <p:cNvSpPr txBox="1"/>
          <p:nvPr/>
        </p:nvSpPr>
        <p:spPr>
          <a:xfrm>
            <a:off x="6729984" y="685800"/>
            <a:ext cx="4572000" cy="365760"/>
          </a:xfrm>
          <a:prstGeom prst="rect">
            <a:avLst/>
          </a:prstGeom>
          <a:noFill/>
        </p:spPr>
        <p:txBody>
          <a:bodyPr wrap="square" lIns="36576" rIns="36576" tIns="18288" bIns="18288" anchor="t">
            <a:spAutoFit/>
          </a:bodyPr>
          <a:lstStyle/>
          <a:p>
            <a:pPr algn="l">
              <a:spcAft>
                <a:spcPts val="400"/>
              </a:spcAft>
            </a:pPr>
            <a:r>
              <a:rPr sz="1300" b="1">
                <a:solidFill>
                  <a:srgbClr val="36393B"/>
                </a:solidFill>
              </a:rPr>
              <a:t>FIVE PARAMETERS, ONE MODEL</a:t>
            </a:r>
          </a:p>
        </p:txBody>
      </p:sp>
      <p:sp>
        <p:nvSpPr>
          <p:cNvPr id="29" name="TextBox 28"/>
          <p:cNvSpPr txBox="1"/>
          <p:nvPr/>
        </p:nvSpPr>
        <p:spPr>
          <a:xfrm>
            <a:off x="6729984" y="1179576"/>
            <a:ext cx="2103120" cy="365760"/>
          </a:xfrm>
          <a:prstGeom prst="rect">
            <a:avLst/>
          </a:prstGeom>
          <a:noFill/>
        </p:spPr>
        <p:txBody>
          <a:bodyPr wrap="square" lIns="36576" rIns="36576" tIns="18288" bIns="18288" anchor="t">
            <a:spAutoFit/>
          </a:bodyPr>
          <a:lstStyle/>
          <a:p>
            <a:pPr algn="l">
              <a:spcAft>
                <a:spcPts val="400"/>
              </a:spcAft>
            </a:pPr>
            <a:r>
              <a:rPr sz="1300" b="0">
                <a:solidFill>
                  <a:srgbClr val="36393B"/>
                </a:solidFill>
              </a:rPr>
              <a:t>γ  risk aversion</a:t>
            </a:r>
          </a:p>
        </p:txBody>
      </p:sp>
      <p:pic>
        <p:nvPicPr>
          <p:cNvPr id="30" name="Equation 1" descr="eq_gamma.png"/>
          <p:cNvPicPr>
            <a:picLocks noChangeAspect="1"/>
          </p:cNvPicPr>
          <p:nvPr/>
        </p:nvPicPr>
        <p:blipFill>
          <a:blip r:embed="rId3"/>
          <a:stretch>
            <a:fillRect/>
          </a:stretch>
        </p:blipFill>
        <p:spPr>
          <a:xfrm>
            <a:off x="8869680" y="1143000"/>
            <a:ext cx="1496920" cy="329184"/>
          </a:xfrm>
          <a:prstGeom prst="rect">
            <a:avLst/>
          </a:prstGeom>
        </p:spPr>
      </p:pic>
      <p:sp>
        <p:nvSpPr>
          <p:cNvPr id="31" name="TextBox 30"/>
          <p:cNvSpPr txBox="1"/>
          <p:nvPr/>
        </p:nvSpPr>
        <p:spPr>
          <a:xfrm>
            <a:off x="6729984" y="1746504"/>
            <a:ext cx="2103120" cy="365760"/>
          </a:xfrm>
          <a:prstGeom prst="rect">
            <a:avLst/>
          </a:prstGeom>
          <a:noFill/>
        </p:spPr>
        <p:txBody>
          <a:bodyPr wrap="square" lIns="36576" rIns="36576" tIns="18288" bIns="18288" anchor="t">
            <a:spAutoFit/>
          </a:bodyPr>
          <a:lstStyle/>
          <a:p>
            <a:pPr algn="l">
              <a:spcAft>
                <a:spcPts val="400"/>
              </a:spcAft>
            </a:pPr>
            <a:r>
              <a:rPr sz="1300" b="0">
                <a:solidFill>
                  <a:srgbClr val="36393B"/>
                </a:solidFill>
              </a:rPr>
              <a:t>λ  loss aversion</a:t>
            </a:r>
          </a:p>
        </p:txBody>
      </p:sp>
      <p:pic>
        <p:nvPicPr>
          <p:cNvPr id="32" name="Equation 2" descr="eq_lambda.png"/>
          <p:cNvPicPr>
            <a:picLocks noChangeAspect="1"/>
          </p:cNvPicPr>
          <p:nvPr/>
        </p:nvPicPr>
        <p:blipFill>
          <a:blip r:embed="rId4"/>
          <a:stretch>
            <a:fillRect/>
          </a:stretch>
        </p:blipFill>
        <p:spPr>
          <a:xfrm>
            <a:off x="8869680" y="1709928"/>
            <a:ext cx="2468880" cy="256612"/>
          </a:xfrm>
          <a:prstGeom prst="rect">
            <a:avLst/>
          </a:prstGeom>
        </p:spPr>
      </p:pic>
      <p:sp>
        <p:nvSpPr>
          <p:cNvPr id="33" name="TextBox 32"/>
          <p:cNvSpPr txBox="1"/>
          <p:nvPr/>
        </p:nvSpPr>
        <p:spPr>
          <a:xfrm>
            <a:off x="6729984" y="2313432"/>
            <a:ext cx="2103120" cy="365760"/>
          </a:xfrm>
          <a:prstGeom prst="rect">
            <a:avLst/>
          </a:prstGeom>
          <a:noFill/>
        </p:spPr>
        <p:txBody>
          <a:bodyPr wrap="square" lIns="36576" rIns="36576" tIns="18288" bIns="18288" anchor="t">
            <a:spAutoFit/>
          </a:bodyPr>
          <a:lstStyle/>
          <a:p>
            <a:pPr algn="l">
              <a:spcAft>
                <a:spcPts val="400"/>
              </a:spcAft>
            </a:pPr>
            <a:r>
              <a:rPr sz="1300" b="0">
                <a:solidFill>
                  <a:srgbClr val="36393B"/>
                </a:solidFill>
              </a:rPr>
              <a:t>α  probability weighting</a:t>
            </a:r>
          </a:p>
        </p:txBody>
      </p:sp>
      <p:pic>
        <p:nvPicPr>
          <p:cNvPr id="34" name="Equation 3" descr="eq_alpha.png"/>
          <p:cNvPicPr>
            <a:picLocks noChangeAspect="1"/>
          </p:cNvPicPr>
          <p:nvPr/>
        </p:nvPicPr>
        <p:blipFill>
          <a:blip r:embed="rId5"/>
          <a:stretch>
            <a:fillRect/>
          </a:stretch>
        </p:blipFill>
        <p:spPr>
          <a:xfrm>
            <a:off x="8869680" y="2276856"/>
            <a:ext cx="2468880" cy="285111"/>
          </a:xfrm>
          <a:prstGeom prst="rect">
            <a:avLst/>
          </a:prstGeom>
        </p:spPr>
      </p:pic>
      <p:sp>
        <p:nvSpPr>
          <p:cNvPr id="35" name="TextBox 34"/>
          <p:cNvSpPr txBox="1"/>
          <p:nvPr/>
        </p:nvSpPr>
        <p:spPr>
          <a:xfrm>
            <a:off x="6729984" y="2880360"/>
            <a:ext cx="2103120" cy="365760"/>
          </a:xfrm>
          <a:prstGeom prst="rect">
            <a:avLst/>
          </a:prstGeom>
          <a:noFill/>
        </p:spPr>
        <p:txBody>
          <a:bodyPr wrap="square" lIns="36576" rIns="36576" tIns="18288" bIns="18288" anchor="t">
            <a:spAutoFit/>
          </a:bodyPr>
          <a:lstStyle/>
          <a:p>
            <a:pPr algn="l">
              <a:spcAft>
                <a:spcPts val="400"/>
              </a:spcAft>
            </a:pPr>
            <a:r>
              <a:rPr sz="1300" b="0">
                <a:solidFill>
                  <a:srgbClr val="36393B"/>
                </a:solidFill>
              </a:rPr>
              <a:t>β, δ  present bias, patience</a:t>
            </a:r>
          </a:p>
        </p:txBody>
      </p:sp>
      <p:pic>
        <p:nvPicPr>
          <p:cNvPr id="36" name="Equation 4" descr="eq_beta.png"/>
          <p:cNvPicPr>
            <a:picLocks noChangeAspect="1"/>
          </p:cNvPicPr>
          <p:nvPr/>
        </p:nvPicPr>
        <p:blipFill>
          <a:blip r:embed="rId6"/>
          <a:stretch>
            <a:fillRect/>
          </a:stretch>
        </p:blipFill>
        <p:spPr>
          <a:xfrm>
            <a:off x="8869680" y="2843784"/>
            <a:ext cx="2281696" cy="329184"/>
          </a:xfrm>
          <a:prstGeom prst="rect">
            <a:avLst/>
          </a:prstGeom>
        </p:spPr>
      </p:pic>
      <p:sp>
        <p:nvSpPr>
          <p:cNvPr id="37"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Adwaaiit</a:t>
            </a:r>
          </a:p>
        </p:txBody>
      </p:sp>
      <p:sp>
        <p:nvSpPr>
          <p:cNvPr id="38" name="Sources"/>
          <p:cNvSpPr txBox="1"/>
          <p:nvPr/>
        </p:nvSpPr>
        <p:spPr>
          <a:xfrm>
            <a:off x="3840480" y="6455664"/>
            <a:ext cx="7406640" cy="274320"/>
          </a:xfrm>
          <a:prstGeom prst="rect">
            <a:avLst/>
          </a:prstGeom>
          <a:noFill/>
        </p:spPr>
        <p:txBody>
          <a:bodyPr wrap="square" lIns="36576" rIns="36576" tIns="18288" bIns="18288" anchor="t">
            <a:spAutoFit/>
          </a:bodyPr>
          <a:lstStyle/>
          <a:p>
            <a:pPr algn="r">
              <a:spcAft>
                <a:spcPts val="400"/>
              </a:spcAft>
            </a:pPr>
            <a:r>
              <a:rPr sz="900" b="0">
                <a:solidFill>
                  <a:srgbClr val="5F6266"/>
                </a:solidFill>
              </a:rPr>
              <a:t>Kahneman &amp; Tversky (1979); Prelec (1998); Laibson (1997); Toubia et al. (2013)</a:t>
            </a:r>
          </a:p>
        </p:txBody>
      </p:sp>
    </p:spTree>
    <p:extLst>
      <p:ext uri="{BB962C8B-B14F-4D97-AF65-F5344CB8AC3E}">
        <p14:creationId xmlns:p14="http://schemas.microsoft.com/office/powerpoint/2010/main" val="1323760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sz="2400"/>
              <a:t>Step 4: Kshitij is the outlier</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cxnSp>
        <p:nvCxnSpPr>
          <p:cNvPr id="9" name="Connector 8"/>
          <p:cNvCxnSpPr/>
          <p:nvPr/>
        </p:nvCxnSpPr>
        <p:spPr>
          <a:xfrm>
            <a:off x="850392" y="1435607"/>
            <a:ext cx="320040" cy="0"/>
          </a:xfrm>
          <a:prstGeom prst="line">
            <a:avLst/>
          </a:prstGeom>
          <a:ln w="38100">
            <a:solidFill>
              <a:srgbClr val="4D62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234440" y="1298448"/>
            <a:ext cx="1636775" cy="274320"/>
          </a:xfrm>
          <a:prstGeom prst="rect">
            <a:avLst/>
          </a:prstGeom>
          <a:noFill/>
        </p:spPr>
        <p:txBody>
          <a:bodyPr wrap="none" lIns="36576" rIns="36576" tIns="18288" bIns="18288" anchor="t">
            <a:spAutoFit/>
          </a:bodyPr>
          <a:lstStyle/>
          <a:p>
            <a:pPr algn="l">
              <a:spcAft>
                <a:spcPts val="400"/>
              </a:spcAft>
            </a:pPr>
            <a:r>
              <a:rPr sz="1200" b="0">
                <a:solidFill>
                  <a:srgbClr val="36393B"/>
                </a:solidFill>
              </a:rPr>
              <a:t>Shree Charan</a:t>
            </a:r>
          </a:p>
        </p:txBody>
      </p:sp>
      <p:cxnSp>
        <p:nvCxnSpPr>
          <p:cNvPr id="11" name="Connector 10"/>
          <p:cNvCxnSpPr/>
          <p:nvPr/>
        </p:nvCxnSpPr>
        <p:spPr>
          <a:xfrm>
            <a:off x="2898648" y="1435607"/>
            <a:ext cx="320040" cy="0"/>
          </a:xfrm>
          <a:prstGeom prst="line">
            <a:avLst/>
          </a:prstGeom>
          <a:ln w="38100">
            <a:solidFill>
              <a:srgbClr val="FD4C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82696" y="1298448"/>
            <a:ext cx="1636775" cy="274320"/>
          </a:xfrm>
          <a:prstGeom prst="rect">
            <a:avLst/>
          </a:prstGeom>
          <a:noFill/>
        </p:spPr>
        <p:txBody>
          <a:bodyPr wrap="none" lIns="36576" rIns="36576" tIns="18288" bIns="18288" anchor="t">
            <a:spAutoFit/>
          </a:bodyPr>
          <a:lstStyle/>
          <a:p>
            <a:pPr algn="l">
              <a:spcAft>
                <a:spcPts val="400"/>
              </a:spcAft>
            </a:pPr>
            <a:r>
              <a:rPr sz="1200" b="0">
                <a:solidFill>
                  <a:srgbClr val="36393B"/>
                </a:solidFill>
              </a:rPr>
              <a:t>Kshitij</a:t>
            </a:r>
          </a:p>
        </p:txBody>
      </p:sp>
      <p:cxnSp>
        <p:nvCxnSpPr>
          <p:cNvPr id="13" name="Connector 12"/>
          <p:cNvCxnSpPr/>
          <p:nvPr/>
        </p:nvCxnSpPr>
        <p:spPr>
          <a:xfrm>
            <a:off x="4946903" y="1435607"/>
            <a:ext cx="320040" cy="0"/>
          </a:xfrm>
          <a:prstGeom prst="line">
            <a:avLst/>
          </a:prstGeom>
          <a:ln w="38100">
            <a:solidFill>
              <a:srgbClr val="12A38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330951" y="1298448"/>
            <a:ext cx="1636775" cy="274320"/>
          </a:xfrm>
          <a:prstGeom prst="rect">
            <a:avLst/>
          </a:prstGeom>
          <a:noFill/>
        </p:spPr>
        <p:txBody>
          <a:bodyPr wrap="none" lIns="36576" rIns="36576" tIns="18288" bIns="18288" anchor="t">
            <a:spAutoFit/>
          </a:bodyPr>
          <a:lstStyle/>
          <a:p>
            <a:pPr algn="l">
              <a:spcAft>
                <a:spcPts val="400"/>
              </a:spcAft>
            </a:pPr>
            <a:r>
              <a:rPr sz="1200" b="0">
                <a:solidFill>
                  <a:srgbClr val="36393B"/>
                </a:solidFill>
              </a:rPr>
              <a:t>Kartika</a:t>
            </a:r>
          </a:p>
        </p:txBody>
      </p:sp>
      <p:cxnSp>
        <p:nvCxnSpPr>
          <p:cNvPr id="15" name="Connector 14"/>
          <p:cNvCxnSpPr/>
          <p:nvPr/>
        </p:nvCxnSpPr>
        <p:spPr>
          <a:xfrm>
            <a:off x="6995159" y="1435607"/>
            <a:ext cx="320040" cy="0"/>
          </a:xfrm>
          <a:prstGeom prst="line">
            <a:avLst/>
          </a:prstGeom>
          <a:ln w="38100">
            <a:solidFill>
              <a:srgbClr val="CA54F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79207" y="1298448"/>
            <a:ext cx="1636775" cy="274320"/>
          </a:xfrm>
          <a:prstGeom prst="rect">
            <a:avLst/>
          </a:prstGeom>
          <a:noFill/>
        </p:spPr>
        <p:txBody>
          <a:bodyPr wrap="none" lIns="36576" rIns="36576" tIns="18288" bIns="18288" anchor="t">
            <a:spAutoFit/>
          </a:bodyPr>
          <a:lstStyle/>
          <a:p>
            <a:pPr algn="l">
              <a:spcAft>
                <a:spcPts val="400"/>
              </a:spcAft>
            </a:pPr>
            <a:r>
              <a:rPr sz="1200" b="0">
                <a:solidFill>
                  <a:srgbClr val="36393B"/>
                </a:solidFill>
              </a:rPr>
              <a:t>Ayushi</a:t>
            </a:r>
          </a:p>
        </p:txBody>
      </p:sp>
      <p:cxnSp>
        <p:nvCxnSpPr>
          <p:cNvPr id="17" name="Connector 16"/>
          <p:cNvCxnSpPr/>
          <p:nvPr/>
        </p:nvCxnSpPr>
        <p:spPr>
          <a:xfrm>
            <a:off x="9043415" y="1435607"/>
            <a:ext cx="320040" cy="0"/>
          </a:xfrm>
          <a:prstGeom prst="line">
            <a:avLst/>
          </a:prstGeom>
          <a:ln w="38100">
            <a:solidFill>
              <a:srgbClr val="D69E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27463" y="1298448"/>
            <a:ext cx="1636775" cy="274320"/>
          </a:xfrm>
          <a:prstGeom prst="rect">
            <a:avLst/>
          </a:prstGeom>
          <a:noFill/>
        </p:spPr>
        <p:txBody>
          <a:bodyPr wrap="none" lIns="36576" rIns="36576" tIns="18288" bIns="18288" anchor="t">
            <a:spAutoFit/>
          </a:bodyPr>
          <a:lstStyle/>
          <a:p>
            <a:pPr algn="l">
              <a:spcAft>
                <a:spcPts val="400"/>
              </a:spcAft>
            </a:pPr>
            <a:r>
              <a:rPr sz="1200" b="0">
                <a:solidFill>
                  <a:srgbClr val="36393B"/>
                </a:solidFill>
              </a:rPr>
              <a:t>Adwaaiit Pande</a:t>
            </a:r>
          </a:p>
        </p:txBody>
      </p:sp>
      <p:graphicFrame>
        <p:nvGraphicFramePr>
          <p:cNvPr id="19" name="Chart 18"/>
          <p:cNvGraphicFramePr>
            <a:graphicFrameLocks noGrp="1"/>
          </p:cNvGraphicFramePr>
          <p:nvPr/>
        </p:nvGraphicFramePr>
        <p:xfrm>
          <a:off x="777240" y="1600200"/>
          <a:ext cx="5257800" cy="2331720"/>
        </p:xfrm>
        <a:graphic>
          <a:graphicData uri="http://schemas.openxmlformats.org/drawingml/2006/chart">
            <c:chart xmlns:c="http://schemas.openxmlformats.org/drawingml/2006/chart" r:id="rId2"/>
          </a:graphicData>
        </a:graphic>
      </p:graphicFrame>
      <p:graphicFrame>
        <p:nvGraphicFramePr>
          <p:cNvPr id="20" name="Chart 19"/>
          <p:cNvGraphicFramePr>
            <a:graphicFrameLocks noGrp="1"/>
          </p:cNvGraphicFramePr>
          <p:nvPr/>
        </p:nvGraphicFramePr>
        <p:xfrm>
          <a:off x="6126480" y="1600200"/>
          <a:ext cx="5257800" cy="2331720"/>
        </p:xfrm>
        <a:graphic>
          <a:graphicData uri="http://schemas.openxmlformats.org/drawingml/2006/chart">
            <c:chart xmlns:c="http://schemas.openxmlformats.org/drawingml/2006/chart" r:id="rId3"/>
          </a:graphicData>
        </a:graphic>
      </p:graphicFrame>
      <p:graphicFrame>
        <p:nvGraphicFramePr>
          <p:cNvPr id="21" name="Chart 20"/>
          <p:cNvGraphicFramePr>
            <a:graphicFrameLocks noGrp="1"/>
          </p:cNvGraphicFramePr>
          <p:nvPr/>
        </p:nvGraphicFramePr>
        <p:xfrm>
          <a:off x="777240" y="3959352"/>
          <a:ext cx="5257800" cy="2331720"/>
        </p:xfrm>
        <a:graphic>
          <a:graphicData uri="http://schemas.openxmlformats.org/drawingml/2006/chart">
            <c:chart xmlns:c="http://schemas.openxmlformats.org/drawingml/2006/chart" r:id="rId4"/>
          </a:graphicData>
        </a:graphic>
      </p:graphicFrame>
      <p:graphicFrame>
        <p:nvGraphicFramePr>
          <p:cNvPr id="22" name="Chart 21"/>
          <p:cNvGraphicFramePr>
            <a:graphicFrameLocks noGrp="1"/>
          </p:cNvGraphicFramePr>
          <p:nvPr/>
        </p:nvGraphicFramePr>
        <p:xfrm>
          <a:off x="6126480" y="3959352"/>
          <a:ext cx="5257800" cy="2331720"/>
        </p:xfrm>
        <a:graphic>
          <a:graphicData uri="http://schemas.openxmlformats.org/drawingml/2006/chart">
            <c:chart xmlns:c="http://schemas.openxmlformats.org/drawingml/2006/chart" r:id="rId5"/>
          </a:graphicData>
        </a:graphic>
      </p:graphicFrame>
      <p:sp>
        <p:nvSpPr>
          <p:cNvPr id="23"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Adwaaiit</a:t>
            </a:r>
          </a:p>
        </p:txBody>
      </p:sp>
      <p:sp>
        <p:nvSpPr>
          <p:cNvPr id="24" name="Sources"/>
          <p:cNvSpPr txBox="1"/>
          <p:nvPr/>
        </p:nvSpPr>
        <p:spPr>
          <a:xfrm>
            <a:off x="3840480" y="6455664"/>
            <a:ext cx="7406640" cy="274320"/>
          </a:xfrm>
          <a:prstGeom prst="rect">
            <a:avLst/>
          </a:prstGeom>
          <a:noFill/>
        </p:spPr>
        <p:txBody>
          <a:bodyPr wrap="square" lIns="36576" rIns="36576" tIns="18288" bIns="18288" anchor="t">
            <a:spAutoFit/>
          </a:bodyPr>
          <a:lstStyle/>
          <a:p>
            <a:pPr algn="r">
              <a:spcAft>
                <a:spcPts val="400"/>
              </a:spcAft>
            </a:pPr>
            <a:r>
              <a:rPr sz="900" b="0">
                <a:solidFill>
                  <a:srgbClr val="5F6266"/>
                </a:solidFill>
              </a:rPr>
              <a:t>Curves from pooled parameters. Kahneman &amp; Tversky (1979); Prelec (1998); Laibson (1997)</a:t>
            </a:r>
          </a:p>
        </p:txBody>
      </p:sp>
    </p:spTree>
    <p:extLst>
      <p:ext uri="{BB962C8B-B14F-4D97-AF65-F5344CB8AC3E}">
        <p14:creationId xmlns:p14="http://schemas.microsoft.com/office/powerpoint/2010/main" val="226339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24219-C450-9795-3D37-675668F591FE}"/>
              </a:ext>
            </a:extLst>
          </p:cNvPr>
          <p:cNvSpPr>
            <a:spLocks noGrp="1"/>
          </p:cNvSpPr>
          <p:nvPr>
            <p:ph type="title"/>
          </p:nvPr>
        </p:nvSpPr>
        <p:spPr>
          <a:xfrm>
            <a:off x="2648932" y="0"/>
            <a:ext cx="6894136" cy="6894136"/>
          </a:xfrm>
        </p:spPr>
        <p:txBody>
          <a:bodyPr/>
          <a:lstStyle/>
          <a:p>
            <a:r>
              <a:rPr lang="en-US" dirty="0"/>
              <a:t>Results</a:t>
            </a:r>
            <a:br/>
            <a:r>
              <a:rPr lang="en-US" dirty="0"/>
              <a:t>&amp; advice</a:t>
            </a:r>
          </a:p>
        </p:txBody>
      </p:sp>
    </p:spTree>
    <p:extLst>
      <p:ext uri="{BB962C8B-B14F-4D97-AF65-F5344CB8AC3E}">
        <p14:creationId xmlns:p14="http://schemas.microsoft.com/office/powerpoint/2010/main" val="1753578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sz="2400"/>
              <a:t>Three of five profiles carry a flag an adviser must act on</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graphicFrame>
        <p:nvGraphicFramePr>
          <p:cNvPr id="9" name="Table 8"/>
          <p:cNvGraphicFramePr>
            <a:graphicFrameLocks noGrp="1"/>
          </p:cNvGraphicFramePr>
          <p:nvPr/>
        </p:nvGraphicFramePr>
        <p:xfrm>
          <a:off x="850392" y="1600200"/>
          <a:ext cx="10424160" cy="3291840"/>
        </p:xfrm>
        <a:graphic>
          <a:graphicData uri="http://schemas.openxmlformats.org/drawingml/2006/table">
            <a:tbl>
              <a:tblPr firstRow="1" bandRow="1">
                <a:tableStyleId>{5C22544A-7EE6-4342-B048-85BDC9FD1C3A}</a:tableStyleId>
              </a:tblPr>
              <a:tblGrid>
                <a:gridCol w="1828800"/>
                <a:gridCol w="1325880"/>
                <a:gridCol w="1600200"/>
                <a:gridCol w="822960"/>
                <a:gridCol w="914400"/>
                <a:gridCol w="914400"/>
                <a:gridCol w="3017520"/>
              </a:tblGrid>
              <a:tr h="548640">
                <a:tc>
                  <a:txBody>
                    <a:bodyPr/>
                    <a:lstStyle/>
                    <a:p>
                      <a:pPr algn="l"/>
                      <a:r>
                        <a:rPr sz="1200" b="0">
                          <a:solidFill>
                            <a:srgbClr val="36393B"/>
                          </a:solidFill>
                          <a:latin typeface="+mj-lt"/>
                        </a:rPr>
                        <a:t>RESPONDENT</a:t>
                      </a:r>
                    </a:p>
                  </a:txBody>
                  <a:tcPr anchor="ctr" marL="54864" marR="54864" marT="27432" marB="27432">
                    <a:solidFill>
                      <a:schemeClr val="accent1">
                        <a:lumMod val="75000"/>
                      </a:schemeClr>
                    </a:solidFill>
                  </a:tcPr>
                </a:tc>
                <a:tc>
                  <a:txBody>
                    <a:bodyPr/>
                    <a:lstStyle/>
                    <a:p>
                      <a:pPr algn="ctr"/>
                      <a:r>
                        <a:rPr sz="1200" b="0">
                          <a:solidFill>
                            <a:srgbClr val="36393B"/>
                          </a:solidFill>
                          <a:latin typeface="+mj-lt"/>
                        </a:rPr>
                        <a:t>GRABLE-LYTTON</a:t>
                      </a:r>
                    </a:p>
                  </a:txBody>
                  <a:tcPr anchor="ctr" marL="54864" marR="54864" marT="27432" marB="27432">
                    <a:solidFill>
                      <a:schemeClr val="accent1">
                        <a:lumMod val="75000"/>
                      </a:schemeClr>
                    </a:solidFill>
                  </a:tcPr>
                </a:tc>
                <a:tc>
                  <a:txBody>
                    <a:bodyPr/>
                    <a:lstStyle/>
                    <a:p>
                      <a:pPr algn="ctr"/>
                      <a:r>
                        <a:rPr sz="1200" b="0">
                          <a:solidFill>
                            <a:srgbClr val="36393B"/>
                          </a:solidFill>
                          <a:latin typeface="+mj-lt"/>
                        </a:rPr>
                        <a:t>SELF RISK / PATIENCE</a:t>
                      </a:r>
                    </a:p>
                  </a:txBody>
                  <a:tcPr anchor="ctr" marL="54864" marR="54864" marT="27432" marB="27432">
                    <a:solidFill>
                      <a:schemeClr val="accent1">
                        <a:lumMod val="75000"/>
                      </a:schemeClr>
                    </a:solidFill>
                  </a:tcPr>
                </a:tc>
                <a:tc>
                  <a:txBody>
                    <a:bodyPr/>
                    <a:lstStyle/>
                    <a:p>
                      <a:pPr algn="ctr"/>
                      <a:r>
                        <a:rPr sz="1200" b="0">
                          <a:solidFill>
                            <a:srgbClr val="36393B"/>
                          </a:solidFill>
                          <a:latin typeface="+mj-lt"/>
                        </a:rPr>
                        <a:t>γ</a:t>
                      </a:r>
                    </a:p>
                  </a:txBody>
                  <a:tcPr anchor="ctr" marL="54864" marR="54864" marT="27432" marB="27432">
                    <a:solidFill>
                      <a:schemeClr val="accent1">
                        <a:lumMod val="75000"/>
                      </a:schemeClr>
                    </a:solidFill>
                  </a:tcPr>
                </a:tc>
                <a:tc>
                  <a:txBody>
                    <a:bodyPr/>
                    <a:lstStyle/>
                    <a:p>
                      <a:pPr algn="ctr"/>
                      <a:r>
                        <a:rPr sz="1200" b="0">
                          <a:solidFill>
                            <a:srgbClr val="36393B"/>
                          </a:solidFill>
                          <a:latin typeface="+mj-lt"/>
                        </a:rPr>
                        <a:t>λ</a:t>
                      </a:r>
                    </a:p>
                  </a:txBody>
                  <a:tcPr anchor="ctr" marL="54864" marR="54864" marT="27432" marB="27432">
                    <a:solidFill>
                      <a:schemeClr val="accent1">
                        <a:lumMod val="75000"/>
                      </a:schemeClr>
                    </a:solidFill>
                  </a:tcPr>
                </a:tc>
                <a:tc>
                  <a:txBody>
                    <a:bodyPr/>
                    <a:lstStyle/>
                    <a:p>
                      <a:pPr algn="ctr"/>
                      <a:r>
                        <a:rPr sz="1200" b="0">
                          <a:solidFill>
                            <a:srgbClr val="36393B"/>
                          </a:solidFill>
                          <a:latin typeface="+mj-lt"/>
                        </a:rPr>
                        <a:t>RETEST</a:t>
                      </a:r>
                    </a:p>
                  </a:txBody>
                  <a:tcPr anchor="ctr" marL="54864" marR="54864" marT="27432" marB="27432">
                    <a:solidFill>
                      <a:schemeClr val="accent1">
                        <a:lumMod val="75000"/>
                      </a:schemeClr>
                    </a:solidFill>
                  </a:tcPr>
                </a:tc>
                <a:tc>
                  <a:txBody>
                    <a:bodyPr/>
                    <a:lstStyle/>
                    <a:p>
                      <a:pPr algn="ctr"/>
                      <a:r>
                        <a:rPr sz="1200" b="0">
                          <a:solidFill>
                            <a:srgbClr val="36393B"/>
                          </a:solidFill>
                          <a:latin typeface="+mj-lt"/>
                        </a:rPr>
                        <a:t>FLAG</a:t>
                      </a:r>
                    </a:p>
                  </a:txBody>
                  <a:tcPr anchor="ctr" marL="54864" marR="54864" marT="27432" marB="27432">
                    <a:solidFill>
                      <a:schemeClr val="accent1">
                        <a:lumMod val="75000"/>
                      </a:schemeClr>
                    </a:solidFill>
                  </a:tcPr>
                </a:tc>
              </a:tr>
              <a:tr h="548640">
                <a:tc>
                  <a:txBody>
                    <a:bodyPr/>
                    <a:lstStyle/>
                    <a:p>
                      <a:pPr algn="l"/>
                      <a:r>
                        <a:rPr sz="1300" b="1">
                          <a:solidFill>
                            <a:srgbClr val="36393B"/>
                          </a:solidFill>
                        </a:rPr>
                        <a:t>Shree Charan</a:t>
                      </a:r>
                    </a:p>
                  </a:txBody>
                  <a:tcPr anchor="ctr" marL="54864" marR="54864" marT="27432" marB="27432"/>
                </a:tc>
                <a:tc>
                  <a:txBody>
                    <a:bodyPr/>
                    <a:lstStyle/>
                    <a:p>
                      <a:pPr algn="ctr"/>
                      <a:r>
                        <a:rPr sz="1300" b="0">
                          <a:solidFill>
                            <a:srgbClr val="36393B"/>
                          </a:solidFill>
                        </a:rPr>
                        <a:t>27</a:t>
                      </a:r>
                    </a:p>
                  </a:txBody>
                  <a:tcPr anchor="ctr" marL="54864" marR="54864" marT="27432" marB="27432"/>
                </a:tc>
                <a:tc>
                  <a:txBody>
                    <a:bodyPr/>
                    <a:lstStyle/>
                    <a:p>
                      <a:pPr algn="ctr"/>
                      <a:r>
                        <a:rPr sz="1300" b="0">
                          <a:solidFill>
                            <a:srgbClr val="36393B"/>
                          </a:solidFill>
                        </a:rPr>
                        <a:t>7 / 7</a:t>
                      </a:r>
                    </a:p>
                  </a:txBody>
                  <a:tcPr anchor="ctr" marL="54864" marR="54864" marT="27432" marB="27432"/>
                </a:tc>
                <a:tc>
                  <a:txBody>
                    <a:bodyPr/>
                    <a:lstStyle/>
                    <a:p>
                      <a:pPr algn="ctr"/>
                      <a:r>
                        <a:rPr sz="1300" b="0">
                          <a:solidFill>
                            <a:srgbClr val="36393B"/>
                          </a:solidFill>
                        </a:rPr>
                        <a:t>2.21</a:t>
                      </a:r>
                    </a:p>
                  </a:txBody>
                  <a:tcPr anchor="ctr" marL="54864" marR="54864" marT="27432" marB="27432"/>
                </a:tc>
                <a:tc>
                  <a:txBody>
                    <a:bodyPr/>
                    <a:lstStyle/>
                    <a:p>
                      <a:pPr algn="ctr"/>
                      <a:r>
                        <a:rPr sz="1300" b="0">
                          <a:solidFill>
                            <a:srgbClr val="36393B"/>
                          </a:solidFill>
                        </a:rPr>
                        <a:t>1.000</a:t>
                      </a:r>
                    </a:p>
                  </a:txBody>
                  <a:tcPr anchor="ctr" marL="54864" marR="54864" marT="27432" marB="27432"/>
                </a:tc>
                <a:tc>
                  <a:txBody>
                    <a:bodyPr/>
                    <a:lstStyle/>
                    <a:p>
                      <a:pPr algn="ctr"/>
                      <a:r>
                        <a:rPr sz="1300" b="0">
                          <a:solidFill>
                            <a:srgbClr val="36393B"/>
                          </a:solidFill>
                        </a:rPr>
                        <a:t>1.0</a:t>
                      </a:r>
                    </a:p>
                  </a:txBody>
                  <a:tcPr anchor="ctr" marL="54864" marR="54864" marT="27432" marB="27432"/>
                </a:tc>
                <a:tc>
                  <a:txBody>
                    <a:bodyPr/>
                    <a:lstStyle/>
                    <a:p>
                      <a:pPr algn="ctr"/>
                      <a:r>
                        <a:rPr sz="1300" b="0">
                          <a:solidFill>
                            <a:srgbClr val="36393B"/>
                          </a:solidFill>
                        </a:rPr>
                        <a:t>BFI-2 exactly 3.00 on all five domains</a:t>
                      </a:r>
                    </a:p>
                  </a:txBody>
                  <a:tcPr anchor="ctr" marL="54864" marR="54864" marT="27432" marB="27432">
                    <a:solidFill>
                      <a:srgbClr val="FFF1CC"/>
                    </a:solidFill>
                  </a:tcPr>
                </a:tc>
              </a:tr>
              <a:tr h="548640">
                <a:tc>
                  <a:txBody>
                    <a:bodyPr/>
                    <a:lstStyle/>
                    <a:p>
                      <a:pPr algn="l"/>
                      <a:r>
                        <a:rPr sz="1300" b="1">
                          <a:solidFill>
                            <a:srgbClr val="36393B"/>
                          </a:solidFill>
                        </a:rPr>
                        <a:t>Kshitij</a:t>
                      </a:r>
                    </a:p>
                  </a:txBody>
                  <a:tcPr anchor="ctr" marL="54864" marR="54864" marT="27432" marB="27432"/>
                </a:tc>
                <a:tc>
                  <a:txBody>
                    <a:bodyPr/>
                    <a:lstStyle/>
                    <a:p>
                      <a:pPr algn="ctr"/>
                      <a:r>
                        <a:rPr sz="1300" b="0">
                          <a:solidFill>
                            <a:srgbClr val="36393B"/>
                          </a:solidFill>
                        </a:rPr>
                        <a:t>31</a:t>
                      </a:r>
                    </a:p>
                  </a:txBody>
                  <a:tcPr anchor="ctr" marL="54864" marR="54864" marT="27432" marB="27432"/>
                </a:tc>
                <a:tc>
                  <a:txBody>
                    <a:bodyPr/>
                    <a:lstStyle/>
                    <a:p>
                      <a:pPr algn="ctr"/>
                      <a:r>
                        <a:rPr sz="1300" b="0">
                          <a:solidFill>
                            <a:srgbClr val="36393B"/>
                          </a:solidFill>
                        </a:rPr>
                        <a:t>3 / 6</a:t>
                      </a:r>
                    </a:p>
                  </a:txBody>
                  <a:tcPr anchor="ctr" marL="54864" marR="54864" marT="27432" marB="27432"/>
                </a:tc>
                <a:tc>
                  <a:txBody>
                    <a:bodyPr/>
                    <a:lstStyle/>
                    <a:p>
                      <a:pPr algn="ctr"/>
                      <a:r>
                        <a:rPr sz="1300" b="0">
                          <a:solidFill>
                            <a:srgbClr val="36393B"/>
                          </a:solidFill>
                        </a:rPr>
                        <a:t>-0.50</a:t>
                      </a:r>
                    </a:p>
                  </a:txBody>
                  <a:tcPr anchor="ctr" marL="54864" marR="54864" marT="27432" marB="27432"/>
                </a:tc>
                <a:tc>
                  <a:txBody>
                    <a:bodyPr/>
                    <a:lstStyle/>
                    <a:p>
                      <a:pPr algn="ctr"/>
                      <a:r>
                        <a:rPr sz="1300" b="0">
                          <a:solidFill>
                            <a:srgbClr val="36393B"/>
                          </a:solidFill>
                        </a:rPr>
                        <a:t>1.600</a:t>
                      </a:r>
                    </a:p>
                  </a:txBody>
                  <a:tcPr anchor="ctr" marL="54864" marR="54864" marT="27432" marB="27432"/>
                </a:tc>
                <a:tc>
                  <a:txBody>
                    <a:bodyPr/>
                    <a:lstStyle/>
                    <a:p>
                      <a:pPr algn="ctr"/>
                      <a:r>
                        <a:rPr sz="1300" b="0">
                          <a:solidFill>
                            <a:srgbClr val="36393B"/>
                          </a:solidFill>
                        </a:rPr>
                        <a:t>1.0</a:t>
                      </a:r>
                    </a:p>
                  </a:txBody>
                  <a:tcPr anchor="ctr" marL="54864" marR="54864" marT="27432" marB="27432"/>
                </a:tc>
                <a:tc>
                  <a:txBody>
                    <a:bodyPr/>
                    <a:lstStyle/>
                    <a:p>
                      <a:pPr algn="ctr"/>
                      <a:r>
                        <a:rPr sz="1300" b="0">
                          <a:solidFill>
                            <a:srgbClr val="36393B"/>
                          </a:solidFill>
                        </a:rPr>
                        <a:t>—</a:t>
                      </a:r>
                    </a:p>
                  </a:txBody>
                  <a:tcPr anchor="ctr" marL="54864" marR="54864" marT="27432" marB="27432"/>
                </a:tc>
              </a:tr>
              <a:tr h="548640">
                <a:tc>
                  <a:txBody>
                    <a:bodyPr/>
                    <a:lstStyle/>
                    <a:p>
                      <a:pPr algn="l"/>
                      <a:r>
                        <a:rPr sz="1300" b="1">
                          <a:solidFill>
                            <a:srgbClr val="36393B"/>
                          </a:solidFill>
                        </a:rPr>
                        <a:t>Kartika</a:t>
                      </a:r>
                    </a:p>
                  </a:txBody>
                  <a:tcPr anchor="ctr" marL="54864" marR="54864" marT="27432" marB="27432"/>
                </a:tc>
                <a:tc>
                  <a:txBody>
                    <a:bodyPr/>
                    <a:lstStyle/>
                    <a:p>
                      <a:pPr algn="ctr"/>
                      <a:r>
                        <a:rPr sz="1300" b="0">
                          <a:solidFill>
                            <a:srgbClr val="36393B"/>
                          </a:solidFill>
                        </a:rPr>
                        <a:t>31</a:t>
                      </a:r>
                    </a:p>
                  </a:txBody>
                  <a:tcPr anchor="ctr" marL="54864" marR="54864" marT="27432" marB="27432"/>
                </a:tc>
                <a:tc>
                  <a:txBody>
                    <a:bodyPr/>
                    <a:lstStyle/>
                    <a:p>
                      <a:pPr algn="ctr"/>
                      <a:r>
                        <a:rPr sz="1300" b="0">
                          <a:solidFill>
                            <a:srgbClr val="36393B"/>
                          </a:solidFill>
                        </a:rPr>
                        <a:t>4 / 7</a:t>
                      </a:r>
                    </a:p>
                  </a:txBody>
                  <a:tcPr anchor="ctr" marL="54864" marR="54864" marT="27432" marB="27432"/>
                </a:tc>
                <a:tc>
                  <a:txBody>
                    <a:bodyPr/>
                    <a:lstStyle/>
                    <a:p>
                      <a:pPr algn="ctr"/>
                      <a:r>
                        <a:rPr sz="1300" b="0">
                          <a:solidFill>
                            <a:srgbClr val="36393B"/>
                          </a:solidFill>
                        </a:rPr>
                        <a:t>0.20</a:t>
                      </a:r>
                    </a:p>
                  </a:txBody>
                  <a:tcPr anchor="ctr" marL="54864" marR="54864" marT="27432" marB="27432"/>
                </a:tc>
                <a:tc>
                  <a:txBody>
                    <a:bodyPr/>
                    <a:lstStyle/>
                    <a:p>
                      <a:pPr algn="ctr"/>
                      <a:r>
                        <a:rPr sz="1300" b="0">
                          <a:solidFill>
                            <a:srgbClr val="36393B"/>
                          </a:solidFill>
                        </a:rPr>
                        <a:t>1.000</a:t>
                      </a:r>
                    </a:p>
                  </a:txBody>
                  <a:tcPr anchor="ctr" marL="54864" marR="54864" marT="27432" marB="27432"/>
                </a:tc>
                <a:tc>
                  <a:txBody>
                    <a:bodyPr/>
                    <a:lstStyle/>
                    <a:p>
                      <a:pPr algn="ctr"/>
                      <a:r>
                        <a:rPr sz="1300" b="0">
                          <a:solidFill>
                            <a:srgbClr val="36393B"/>
                          </a:solidFill>
                        </a:rPr>
                        <a:t>1.0</a:t>
                      </a:r>
                    </a:p>
                  </a:txBody>
                  <a:tcPr anchor="ctr" marL="54864" marR="54864" marT="27432" marB="27432"/>
                </a:tc>
                <a:tc>
                  <a:txBody>
                    <a:bodyPr/>
                    <a:lstStyle/>
                    <a:p>
                      <a:pPr algn="ctr"/>
                      <a:r>
                        <a:rPr sz="1300" b="0">
                          <a:solidFill>
                            <a:srgbClr val="36393B"/>
                          </a:solidFill>
                        </a:rPr>
                        <a:t>—</a:t>
                      </a:r>
                    </a:p>
                  </a:txBody>
                  <a:tcPr anchor="ctr" marL="54864" marR="54864" marT="27432" marB="27432"/>
                </a:tc>
              </a:tr>
              <a:tr h="548640">
                <a:tc>
                  <a:txBody>
                    <a:bodyPr/>
                    <a:lstStyle/>
                    <a:p>
                      <a:pPr algn="l"/>
                      <a:r>
                        <a:rPr sz="1300" b="1">
                          <a:solidFill>
                            <a:srgbClr val="36393B"/>
                          </a:solidFill>
                        </a:rPr>
                        <a:t>Ayushi</a:t>
                      </a:r>
                    </a:p>
                  </a:txBody>
                  <a:tcPr anchor="ctr" marL="54864" marR="54864" marT="27432" marB="27432"/>
                </a:tc>
                <a:tc>
                  <a:txBody>
                    <a:bodyPr/>
                    <a:lstStyle/>
                    <a:p>
                      <a:pPr algn="ctr"/>
                      <a:r>
                        <a:rPr sz="1300" b="0">
                          <a:solidFill>
                            <a:srgbClr val="36393B"/>
                          </a:solidFill>
                        </a:rPr>
                        <a:t>35</a:t>
                      </a:r>
                    </a:p>
                  </a:txBody>
                  <a:tcPr anchor="ctr" marL="54864" marR="54864" marT="27432" marB="27432"/>
                </a:tc>
                <a:tc>
                  <a:txBody>
                    <a:bodyPr/>
                    <a:lstStyle/>
                    <a:p>
                      <a:pPr algn="ctr"/>
                      <a:r>
                        <a:rPr sz="1300" b="0">
                          <a:solidFill>
                            <a:srgbClr val="36393B"/>
                          </a:solidFill>
                        </a:rPr>
                        <a:t>7 / 7</a:t>
                      </a:r>
                    </a:p>
                  </a:txBody>
                  <a:tcPr anchor="ctr" marL="54864" marR="54864" marT="27432" marB="27432"/>
                </a:tc>
                <a:tc>
                  <a:txBody>
                    <a:bodyPr/>
                    <a:lstStyle/>
                    <a:p>
                      <a:pPr algn="ctr"/>
                      <a:r>
                        <a:rPr sz="1300" b="0">
                          <a:solidFill>
                            <a:srgbClr val="36393B"/>
                          </a:solidFill>
                        </a:rPr>
                        <a:t>2.21</a:t>
                      </a:r>
                    </a:p>
                  </a:txBody>
                  <a:tcPr anchor="ctr" marL="54864" marR="54864" marT="27432" marB="27432"/>
                </a:tc>
                <a:tc>
                  <a:txBody>
                    <a:bodyPr/>
                    <a:lstStyle/>
                    <a:p>
                      <a:pPr algn="ctr"/>
                      <a:r>
                        <a:rPr sz="1300" b="0">
                          <a:solidFill>
                            <a:srgbClr val="36393B"/>
                          </a:solidFill>
                        </a:rPr>
                        <a:t>1.009</a:t>
                      </a:r>
                    </a:p>
                  </a:txBody>
                  <a:tcPr anchor="ctr" marL="54864" marR="54864" marT="27432" marB="27432"/>
                </a:tc>
                <a:tc>
                  <a:txBody>
                    <a:bodyPr/>
                    <a:lstStyle/>
                    <a:p>
                      <a:pPr algn="ctr"/>
                      <a:r>
                        <a:rPr sz="1300" b="0">
                          <a:solidFill>
                            <a:srgbClr val="36393B"/>
                          </a:solidFill>
                        </a:rPr>
                        <a:t>0.5</a:t>
                      </a:r>
                    </a:p>
                  </a:txBody>
                  <a:tcPr anchor="ctr" marL="54864" marR="54864" marT="27432" marB="27432">
                    <a:solidFill>
                      <a:srgbClr val="FFF1CC"/>
                    </a:solidFill>
                  </a:tcPr>
                </a:tc>
                <a:tc>
                  <a:txBody>
                    <a:bodyPr/>
                    <a:lstStyle/>
                    <a:p>
                      <a:pPr algn="ctr"/>
                      <a:r>
                        <a:rPr sz="1300" b="0">
                          <a:solidFill>
                            <a:srgbClr val="36393B"/>
                          </a:solidFill>
                        </a:rPr>
                        <a:t>Hidden repeats inconsistent (0.5)</a:t>
                      </a:r>
                    </a:p>
                  </a:txBody>
                  <a:tcPr anchor="ctr" marL="54864" marR="54864" marT="27432" marB="27432">
                    <a:solidFill>
                      <a:srgbClr val="FFF1CC"/>
                    </a:solidFill>
                  </a:tcPr>
                </a:tc>
              </a:tr>
              <a:tr h="548640">
                <a:tc>
                  <a:txBody>
                    <a:bodyPr/>
                    <a:lstStyle/>
                    <a:p>
                      <a:pPr algn="l"/>
                      <a:r>
                        <a:rPr sz="1300" b="1">
                          <a:solidFill>
                            <a:srgbClr val="36393B"/>
                          </a:solidFill>
                        </a:rPr>
                        <a:t>Adwaaiit Pande</a:t>
                      </a:r>
                    </a:p>
                  </a:txBody>
                  <a:tcPr anchor="ctr" marL="54864" marR="54864" marT="27432" marB="27432"/>
                </a:tc>
                <a:tc>
                  <a:txBody>
                    <a:bodyPr/>
                    <a:lstStyle/>
                    <a:p>
                      <a:pPr algn="ctr"/>
                      <a:r>
                        <a:rPr sz="1300" b="0">
                          <a:solidFill>
                            <a:srgbClr val="36393B"/>
                          </a:solidFill>
                        </a:rPr>
                        <a:t>40</a:t>
                      </a:r>
                    </a:p>
                  </a:txBody>
                  <a:tcPr anchor="ctr" marL="54864" marR="54864" marT="27432" marB="27432">
                    <a:solidFill>
                      <a:srgbClr val="FFF1CC"/>
                    </a:solidFill>
                  </a:tcPr>
                </a:tc>
                <a:tc>
                  <a:txBody>
                    <a:bodyPr/>
                    <a:lstStyle/>
                    <a:p>
                      <a:pPr algn="ctr"/>
                      <a:r>
                        <a:rPr sz="1300" b="0">
                          <a:solidFill>
                            <a:srgbClr val="36393B"/>
                          </a:solidFill>
                        </a:rPr>
                        <a:t>10 / 4</a:t>
                      </a:r>
                    </a:p>
                  </a:txBody>
                  <a:tcPr anchor="ctr" marL="54864" marR="54864" marT="27432" marB="27432">
                    <a:solidFill>
                      <a:srgbClr val="FFF1CC"/>
                    </a:solidFill>
                  </a:tcPr>
                </a:tc>
                <a:tc>
                  <a:txBody>
                    <a:bodyPr/>
                    <a:lstStyle/>
                    <a:p>
                      <a:pPr algn="ctr"/>
                      <a:r>
                        <a:rPr sz="1300" b="0">
                          <a:solidFill>
                            <a:srgbClr val="36393B"/>
                          </a:solidFill>
                        </a:rPr>
                        <a:t>2.19</a:t>
                      </a:r>
                    </a:p>
                  </a:txBody>
                  <a:tcPr anchor="ctr" marL="54864" marR="54864" marT="27432" marB="27432">
                    <a:solidFill>
                      <a:srgbClr val="FFF1CC"/>
                    </a:solidFill>
                  </a:tcPr>
                </a:tc>
                <a:tc>
                  <a:txBody>
                    <a:bodyPr/>
                    <a:lstStyle/>
                    <a:p>
                      <a:pPr algn="ctr"/>
                      <a:r>
                        <a:rPr sz="1300" b="0">
                          <a:solidFill>
                            <a:srgbClr val="36393B"/>
                          </a:solidFill>
                        </a:rPr>
                        <a:t>1.015</a:t>
                      </a:r>
                    </a:p>
                  </a:txBody>
                  <a:tcPr anchor="ctr" marL="54864" marR="54864" marT="27432" marB="27432"/>
                </a:tc>
                <a:tc>
                  <a:txBody>
                    <a:bodyPr/>
                    <a:lstStyle/>
                    <a:p>
                      <a:pPr algn="ctr"/>
                      <a:r>
                        <a:rPr sz="1300" b="0">
                          <a:solidFill>
                            <a:srgbClr val="36393B"/>
                          </a:solidFill>
                        </a:rPr>
                        <a:t>1.0</a:t>
                      </a:r>
                    </a:p>
                  </a:txBody>
                  <a:tcPr anchor="ctr" marL="54864" marR="54864" marT="27432" marB="27432"/>
                </a:tc>
                <a:tc>
                  <a:txBody>
                    <a:bodyPr/>
                    <a:lstStyle/>
                    <a:p>
                      <a:pPr algn="ctr"/>
                      <a:r>
                        <a:rPr sz="1300" b="0">
                          <a:solidFill>
                            <a:srgbClr val="36393B"/>
                          </a:solidFill>
                        </a:rPr>
                        <a:t>Says risk 10/10; choices give γ 2.2</a:t>
                      </a:r>
                    </a:p>
                  </a:txBody>
                  <a:tcPr anchor="ctr" marL="54864" marR="54864" marT="27432" marB="27432">
                    <a:solidFill>
                      <a:srgbClr val="FFF1CC"/>
                    </a:solidFill>
                  </a:tcPr>
                </a:tc>
              </a:tr>
            </a:tbl>
          </a:graphicData>
        </a:graphic>
      </p:graphicFrame>
      <p:sp>
        <p:nvSpPr>
          <p:cNvPr id="10" name="TextBox 9"/>
          <p:cNvSpPr txBox="1"/>
          <p:nvPr/>
        </p:nvSpPr>
        <p:spPr>
          <a:xfrm>
            <a:off x="850392" y="5074920"/>
            <a:ext cx="10424160" cy="1097280"/>
          </a:xfrm>
          <a:prstGeom prst="rect">
            <a:avLst/>
          </a:prstGeom>
          <a:noFill/>
        </p:spPr>
        <p:txBody>
          <a:bodyPr wrap="square" lIns="36576" rIns="36576" tIns="18288" bIns="18288" anchor="t">
            <a:spAutoFit/>
          </a:bodyPr>
          <a:lstStyle/>
          <a:p>
            <a:pPr algn="l">
              <a:spcAft>
                <a:spcPts val="400"/>
              </a:spcAft>
            </a:pPr>
            <a:r>
              <a:rPr sz="1300" b="1">
                <a:solidFill>
                  <a:srgbClr val="36393B"/>
                </a:solidFill>
              </a:rPr>
              <a:t>γ and λ drive the portfolios </a:t>
            </a:r>
            <a:r>
              <a:rPr sz="1300" b="0">
                <a:solidFill>
                  <a:srgbClr val="36393B"/>
                </a:solidFill>
              </a:rPr>
              <a:t>(pooled by Empirical Bayes). Kshitij's γ = −0.50 is floored to 0.05 for portfolio maths. α, β, δ are on the Step 4 graphs.</a:t>
            </a:r>
          </a:p>
          <a:p>
            <a:pPr algn="l">
              <a:spcAft>
                <a:spcPts val="400"/>
              </a:spcAft>
            </a:pPr>
            <a:r>
              <a:rPr sz="1200" b="0">
                <a:solidFill>
                  <a:srgbClr val="5F6266"/>
                </a:solidFill>
              </a:rPr>
              <a:t>Pilot sample: five classmates, including both presenters.</a:t>
            </a:r>
          </a:p>
        </p:txBody>
      </p:sp>
      <p:sp>
        <p:nvSpPr>
          <p:cNvPr id="11"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226339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sz="2400"/>
              <a:t>EUT: all five, 100%, one portfolio</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graphicFrame>
        <p:nvGraphicFramePr>
          <p:cNvPr id="9" name="Chart 8"/>
          <p:cNvGraphicFramePr>
            <a:graphicFrameLocks noGrp="1"/>
          </p:cNvGraphicFramePr>
          <p:nvPr/>
        </p:nvGraphicFramePr>
        <p:xfrm>
          <a:off x="777240" y="1463040"/>
          <a:ext cx="6035040" cy="4206240"/>
        </p:xfrm>
        <a:graphic>
          <a:graphicData uri="http://schemas.openxmlformats.org/drawingml/2006/chart">
            <c:chart xmlns:c="http://schemas.openxmlformats.org/drawingml/2006/chart" r:id="rId2"/>
          </a:graphicData>
        </a:graphic>
      </p:graphicFrame>
      <p:cxnSp>
        <p:nvCxnSpPr>
          <p:cNvPr id="10" name="Connector 9"/>
          <p:cNvCxnSpPr/>
          <p:nvPr/>
        </p:nvCxnSpPr>
        <p:spPr>
          <a:xfrm>
            <a:off x="850392" y="5897880"/>
            <a:ext cx="201168" cy="0"/>
          </a:xfrm>
          <a:prstGeom prst="line">
            <a:avLst/>
          </a:prstGeom>
          <a:ln w="38100">
            <a:solidFill>
              <a:srgbClr val="4D62E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97280" y="5760720"/>
            <a:ext cx="914400" cy="274320"/>
          </a:xfrm>
          <a:prstGeom prst="rect">
            <a:avLst/>
          </a:prstGeom>
          <a:noFill/>
        </p:spPr>
        <p:txBody>
          <a:bodyPr wrap="none" lIns="36576" rIns="36576" tIns="18288" bIns="18288" anchor="t">
            <a:spAutoFit/>
          </a:bodyPr>
          <a:lstStyle/>
          <a:p>
            <a:pPr algn="l">
              <a:spcAft>
                <a:spcPts val="400"/>
              </a:spcAft>
            </a:pPr>
            <a:r>
              <a:rPr sz="1050" b="0">
                <a:solidFill>
                  <a:srgbClr val="36393B"/>
                </a:solidFill>
              </a:rPr>
              <a:t>Shree Charan</a:t>
            </a:r>
          </a:p>
        </p:txBody>
      </p:sp>
      <p:cxnSp>
        <p:nvCxnSpPr>
          <p:cNvPr id="12" name="Connector 11"/>
          <p:cNvCxnSpPr/>
          <p:nvPr/>
        </p:nvCxnSpPr>
        <p:spPr>
          <a:xfrm>
            <a:off x="2039112" y="5897880"/>
            <a:ext cx="201168" cy="0"/>
          </a:xfrm>
          <a:prstGeom prst="line">
            <a:avLst/>
          </a:prstGeom>
          <a:ln w="38100">
            <a:solidFill>
              <a:srgbClr val="FD4C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286000" y="5760720"/>
            <a:ext cx="914400" cy="274320"/>
          </a:xfrm>
          <a:prstGeom prst="rect">
            <a:avLst/>
          </a:prstGeom>
          <a:noFill/>
        </p:spPr>
        <p:txBody>
          <a:bodyPr wrap="none" lIns="36576" rIns="36576" tIns="18288" bIns="18288" anchor="t">
            <a:spAutoFit/>
          </a:bodyPr>
          <a:lstStyle/>
          <a:p>
            <a:pPr algn="l">
              <a:spcAft>
                <a:spcPts val="400"/>
              </a:spcAft>
            </a:pPr>
            <a:r>
              <a:rPr sz="1050" b="0">
                <a:solidFill>
                  <a:srgbClr val="36393B"/>
                </a:solidFill>
              </a:rPr>
              <a:t>Kshitij</a:t>
            </a:r>
          </a:p>
        </p:txBody>
      </p:sp>
      <p:cxnSp>
        <p:nvCxnSpPr>
          <p:cNvPr id="14" name="Connector 13"/>
          <p:cNvCxnSpPr/>
          <p:nvPr/>
        </p:nvCxnSpPr>
        <p:spPr>
          <a:xfrm>
            <a:off x="3227832" y="5897880"/>
            <a:ext cx="201168" cy="0"/>
          </a:xfrm>
          <a:prstGeom prst="line">
            <a:avLst/>
          </a:prstGeom>
          <a:ln w="38100">
            <a:solidFill>
              <a:srgbClr val="12A38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74720" y="5760720"/>
            <a:ext cx="914400" cy="274320"/>
          </a:xfrm>
          <a:prstGeom prst="rect">
            <a:avLst/>
          </a:prstGeom>
          <a:noFill/>
        </p:spPr>
        <p:txBody>
          <a:bodyPr wrap="none" lIns="36576" rIns="36576" tIns="18288" bIns="18288" anchor="t">
            <a:spAutoFit/>
          </a:bodyPr>
          <a:lstStyle/>
          <a:p>
            <a:pPr algn="l">
              <a:spcAft>
                <a:spcPts val="400"/>
              </a:spcAft>
            </a:pPr>
            <a:r>
              <a:rPr sz="1050" b="0">
                <a:solidFill>
                  <a:srgbClr val="36393B"/>
                </a:solidFill>
              </a:rPr>
              <a:t>Kartika</a:t>
            </a:r>
          </a:p>
        </p:txBody>
      </p:sp>
      <p:cxnSp>
        <p:nvCxnSpPr>
          <p:cNvPr id="16" name="Connector 15"/>
          <p:cNvCxnSpPr/>
          <p:nvPr/>
        </p:nvCxnSpPr>
        <p:spPr>
          <a:xfrm>
            <a:off x="4416552" y="5897880"/>
            <a:ext cx="201168" cy="0"/>
          </a:xfrm>
          <a:prstGeom prst="line">
            <a:avLst/>
          </a:prstGeom>
          <a:ln w="38100">
            <a:solidFill>
              <a:srgbClr val="CA54F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63440" y="5760720"/>
            <a:ext cx="914400" cy="274320"/>
          </a:xfrm>
          <a:prstGeom prst="rect">
            <a:avLst/>
          </a:prstGeom>
          <a:noFill/>
        </p:spPr>
        <p:txBody>
          <a:bodyPr wrap="none" lIns="36576" rIns="36576" tIns="18288" bIns="18288" anchor="t">
            <a:spAutoFit/>
          </a:bodyPr>
          <a:lstStyle/>
          <a:p>
            <a:pPr algn="l">
              <a:spcAft>
                <a:spcPts val="400"/>
              </a:spcAft>
            </a:pPr>
            <a:r>
              <a:rPr sz="1050" b="0">
                <a:solidFill>
                  <a:srgbClr val="36393B"/>
                </a:solidFill>
              </a:rPr>
              <a:t>Ayushi</a:t>
            </a:r>
          </a:p>
        </p:txBody>
      </p:sp>
      <p:cxnSp>
        <p:nvCxnSpPr>
          <p:cNvPr id="18" name="Connector 17"/>
          <p:cNvCxnSpPr/>
          <p:nvPr/>
        </p:nvCxnSpPr>
        <p:spPr>
          <a:xfrm>
            <a:off x="5605272" y="5897880"/>
            <a:ext cx="201168" cy="0"/>
          </a:xfrm>
          <a:prstGeom prst="line">
            <a:avLst/>
          </a:prstGeom>
          <a:ln w="38100">
            <a:solidFill>
              <a:srgbClr val="D69E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852160" y="5760720"/>
            <a:ext cx="914400" cy="274320"/>
          </a:xfrm>
          <a:prstGeom prst="rect">
            <a:avLst/>
          </a:prstGeom>
          <a:noFill/>
        </p:spPr>
        <p:txBody>
          <a:bodyPr wrap="none" lIns="36576" rIns="36576" tIns="18288" bIns="18288" anchor="t">
            <a:spAutoFit/>
          </a:bodyPr>
          <a:lstStyle/>
          <a:p>
            <a:pPr algn="l">
              <a:spcAft>
                <a:spcPts val="400"/>
              </a:spcAft>
            </a:pPr>
            <a:r>
              <a:rPr sz="1050" b="0">
                <a:solidFill>
                  <a:srgbClr val="36393B"/>
                </a:solidFill>
              </a:rPr>
              <a:t>Adwaaiit</a:t>
            </a:r>
          </a:p>
        </p:txBody>
      </p:sp>
      <p:sp>
        <p:nvSpPr>
          <p:cNvPr id="20" name="TextBox 19"/>
          <p:cNvSpPr txBox="1"/>
          <p:nvPr/>
        </p:nvSpPr>
        <p:spPr>
          <a:xfrm>
            <a:off x="850392" y="6053328"/>
            <a:ext cx="6035040" cy="320040"/>
          </a:xfrm>
          <a:prstGeom prst="rect">
            <a:avLst/>
          </a:prstGeom>
          <a:noFill/>
        </p:spPr>
        <p:txBody>
          <a:bodyPr wrap="square" lIns="36576" rIns="36576" tIns="18288" bIns="18288" anchor="t">
            <a:spAutoFit/>
          </a:bodyPr>
          <a:lstStyle/>
          <a:p>
            <a:pPr algn="l">
              <a:spcAft>
                <a:spcPts val="400"/>
              </a:spcAft>
            </a:pPr>
            <a:r>
              <a:rPr sz="1000" b="0">
                <a:solidFill>
                  <a:srgbClr val="5F6266"/>
                </a:solidFill>
              </a:rPr>
              <a:t>Three dots overlap near γ = 2.2 (Shree Charan, Ayushi, Adwaaiit).</a:t>
            </a:r>
          </a:p>
        </p:txBody>
      </p:sp>
      <p:sp>
        <p:nvSpPr>
          <p:cNvPr id="21" name="TextBox 20"/>
          <p:cNvSpPr txBox="1"/>
          <p:nvPr/>
        </p:nvSpPr>
        <p:spPr>
          <a:xfrm>
            <a:off x="7086600" y="1600200"/>
            <a:ext cx="4206240" cy="685800"/>
          </a:xfrm>
          <a:prstGeom prst="rect">
            <a:avLst/>
          </a:prstGeom>
          <a:noFill/>
        </p:spPr>
        <p:txBody>
          <a:bodyPr wrap="square" lIns="36576" rIns="36576" tIns="18288" bIns="18288" anchor="t">
            <a:spAutoFit/>
          </a:bodyPr>
          <a:lstStyle/>
          <a:p>
            <a:pPr algn="l">
              <a:spcAft>
                <a:spcPts val="400"/>
              </a:spcAft>
            </a:pPr>
            <a:r>
              <a:rPr sz="3400" b="0">
                <a:solidFill>
                  <a:srgbClr val="0E8C74"/>
                </a:solidFill>
                <a:latin typeface="+mj-lt"/>
              </a:rPr>
              <a:t>100%</a:t>
            </a:r>
          </a:p>
        </p:txBody>
      </p:sp>
      <p:sp>
        <p:nvSpPr>
          <p:cNvPr id="22" name="TextBox 21"/>
          <p:cNvSpPr txBox="1"/>
          <p:nvPr/>
        </p:nvSpPr>
        <p:spPr>
          <a:xfrm>
            <a:off x="7086600" y="2286000"/>
            <a:ext cx="4206240" cy="777240"/>
          </a:xfrm>
          <a:prstGeom prst="rect">
            <a:avLst/>
          </a:prstGeom>
          <a:noFill/>
        </p:spPr>
        <p:txBody>
          <a:bodyPr wrap="square" lIns="36576" rIns="36576" tIns="18288" bIns="18288" anchor="t">
            <a:spAutoFit/>
          </a:bodyPr>
          <a:lstStyle/>
          <a:p>
            <a:pPr algn="l">
              <a:spcAft>
                <a:spcPts val="400"/>
              </a:spcAft>
            </a:pPr>
            <a:r>
              <a:rPr sz="1300" b="0">
                <a:solidFill>
                  <a:srgbClr val="36393B"/>
                </a:solidFill>
              </a:rPr>
              <a:t>in equities for all five, in the same tangency portfolio (66 stocks, none above 10%): 13.24% return, 16.17% volatility</a:t>
            </a:r>
          </a:p>
        </p:txBody>
      </p:sp>
      <p:sp>
        <p:nvSpPr>
          <p:cNvPr id="23" name="TextBox 22"/>
          <p:cNvSpPr txBox="1"/>
          <p:nvPr/>
        </p:nvSpPr>
        <p:spPr>
          <a:xfrm>
            <a:off x="7086600" y="3154680"/>
            <a:ext cx="4206240" cy="365760"/>
          </a:xfrm>
          <a:prstGeom prst="rect">
            <a:avLst/>
          </a:prstGeom>
          <a:noFill/>
        </p:spPr>
        <p:txBody>
          <a:bodyPr wrap="square" lIns="36576" rIns="36576" tIns="18288" bIns="18288" anchor="t">
            <a:spAutoFit/>
          </a:bodyPr>
          <a:lstStyle/>
          <a:p>
            <a:pPr algn="l">
              <a:spcAft>
                <a:spcPts val="400"/>
              </a:spcAft>
            </a:pPr>
            <a:r>
              <a:rPr sz="1200" b="1">
                <a:solidFill>
                  <a:srgbClr val="36393B"/>
                </a:solidFill>
              </a:rPr>
              <a:t>Robustness: risky share vs. market price of risk</a:t>
            </a:r>
          </a:p>
        </p:txBody>
      </p:sp>
      <p:graphicFrame>
        <p:nvGraphicFramePr>
          <p:cNvPr id="24" name="Table 23"/>
          <p:cNvGraphicFramePr>
            <a:graphicFrameLocks noGrp="1"/>
          </p:cNvGraphicFramePr>
          <p:nvPr/>
        </p:nvGraphicFramePr>
        <p:xfrm>
          <a:off x="7086600" y="3520440"/>
          <a:ext cx="4160520" cy="1737360"/>
        </p:xfrm>
        <a:graphic>
          <a:graphicData uri="http://schemas.openxmlformats.org/drawingml/2006/table">
            <a:tbl>
              <a:tblPr firstRow="1" bandRow="1">
                <a:tableStyleId>{5C22544A-7EE6-4342-B048-85BDC9FD1C3A}</a:tableStyleId>
              </a:tblPr>
              <a:tblGrid>
                <a:gridCol w="1051560"/>
                <a:gridCol w="1005840"/>
                <a:gridCol w="1097280"/>
                <a:gridCol w="1005840"/>
              </a:tblGrid>
              <a:tr h="347472">
                <a:tc>
                  <a:txBody>
                    <a:bodyPr/>
                    <a:lstStyle/>
                    <a:p>
                      <a:pPr algn="l"/>
                      <a:r>
                        <a:rPr sz="1000" b="0">
                          <a:solidFill>
                            <a:srgbClr val="36393B"/>
                          </a:solidFill>
                          <a:latin typeface="+mj-lt"/>
                        </a:rPr>
                        <a:t>λ_MKT</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MKT SHARPE</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γ ≈ 2.2 (×3)</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KARTIKA, KSHITIJ</a:t>
                      </a:r>
                    </a:p>
                  </a:txBody>
                  <a:tcPr anchor="ctr" marL="54864" marR="54864" marT="27432" marB="27432">
                    <a:solidFill>
                      <a:schemeClr val="accent1">
                        <a:lumMod val="75000"/>
                      </a:schemeClr>
                    </a:solidFill>
                  </a:tcPr>
                </a:tc>
              </a:tr>
              <a:tr h="347472">
                <a:tc>
                  <a:txBody>
                    <a:bodyPr/>
                    <a:lstStyle/>
                    <a:p>
                      <a:pPr algn="l"/>
                      <a:r>
                        <a:rPr sz="1100" b="1">
                          <a:solidFill>
                            <a:srgbClr val="36393B"/>
                          </a:solidFill>
                        </a:rPr>
                        <a:t>1.5</a:t>
                      </a:r>
                    </a:p>
                  </a:txBody>
                  <a:tcPr anchor="ctr" marL="54864" marR="54864" marT="27432" marB="27432"/>
                </a:tc>
                <a:tc>
                  <a:txBody>
                    <a:bodyPr/>
                    <a:lstStyle/>
                    <a:p>
                      <a:pPr algn="ctr"/>
                      <a:r>
                        <a:rPr sz="1100" b="0">
                          <a:solidFill>
                            <a:srgbClr val="36393B"/>
                          </a:solidFill>
                        </a:rPr>
                        <a:t>0.24</a:t>
                      </a:r>
                    </a:p>
                  </a:txBody>
                  <a:tcPr anchor="ctr" marL="54864" marR="54864" marT="27432" marB="27432"/>
                </a:tc>
                <a:tc>
                  <a:txBody>
                    <a:bodyPr/>
                    <a:lstStyle/>
                    <a:p>
                      <a:pPr algn="ctr"/>
                      <a:r>
                        <a:rPr sz="1100" b="0">
                          <a:solidFill>
                            <a:srgbClr val="36393B"/>
                          </a:solidFill>
                        </a:rPr>
                        <a:t>67–68%</a:t>
                      </a:r>
                    </a:p>
                  </a:txBody>
                  <a:tcPr anchor="ctr" marL="54864" marR="54864" marT="27432" marB="27432"/>
                </a:tc>
                <a:tc>
                  <a:txBody>
                    <a:bodyPr/>
                    <a:lstStyle/>
                    <a:p>
                      <a:pPr algn="ctr"/>
                      <a:r>
                        <a:rPr sz="1100" b="0">
                          <a:solidFill>
                            <a:srgbClr val="36393B"/>
                          </a:solidFill>
                        </a:rPr>
                        <a:t>100%</a:t>
                      </a:r>
                    </a:p>
                  </a:txBody>
                  <a:tcPr anchor="ctr" marL="54864" marR="54864" marT="27432" marB="27432"/>
                </a:tc>
              </a:tr>
              <a:tr h="347472">
                <a:tc>
                  <a:txBody>
                    <a:bodyPr/>
                    <a:lstStyle/>
                    <a:p>
                      <a:pPr algn="l"/>
                      <a:r>
                        <a:rPr sz="1100" b="1">
                          <a:solidFill>
                            <a:srgbClr val="36393B"/>
                          </a:solidFill>
                        </a:rPr>
                        <a:t>2.0</a:t>
                      </a:r>
                    </a:p>
                  </a:txBody>
                  <a:tcPr anchor="ctr" marL="54864" marR="54864" marT="27432" marB="27432"/>
                </a:tc>
                <a:tc>
                  <a:txBody>
                    <a:bodyPr/>
                    <a:lstStyle/>
                    <a:p>
                      <a:pPr algn="ctr"/>
                      <a:r>
                        <a:rPr sz="1100" b="0">
                          <a:solidFill>
                            <a:srgbClr val="36393B"/>
                          </a:solidFill>
                        </a:rPr>
                        <a:t>0.32</a:t>
                      </a:r>
                    </a:p>
                  </a:txBody>
                  <a:tcPr anchor="ctr" marL="54864" marR="54864" marT="27432" marB="27432"/>
                </a:tc>
                <a:tc>
                  <a:txBody>
                    <a:bodyPr/>
                    <a:lstStyle/>
                    <a:p>
                      <a:pPr algn="ctr"/>
                      <a:r>
                        <a:rPr sz="1100" b="0">
                          <a:solidFill>
                            <a:srgbClr val="36393B"/>
                          </a:solidFill>
                        </a:rPr>
                        <a:t>90–91%</a:t>
                      </a:r>
                    </a:p>
                  </a:txBody>
                  <a:tcPr anchor="ctr" marL="54864" marR="54864" marT="27432" marB="27432"/>
                </a:tc>
                <a:tc>
                  <a:txBody>
                    <a:bodyPr/>
                    <a:lstStyle/>
                    <a:p>
                      <a:pPr algn="ctr"/>
                      <a:r>
                        <a:rPr sz="1100" b="0">
                          <a:solidFill>
                            <a:srgbClr val="36393B"/>
                          </a:solidFill>
                        </a:rPr>
                        <a:t>100%</a:t>
                      </a:r>
                    </a:p>
                  </a:txBody>
                  <a:tcPr anchor="ctr" marL="54864" marR="54864" marT="27432" marB="27432"/>
                </a:tc>
              </a:tr>
              <a:tr h="347472">
                <a:tc>
                  <a:txBody>
                    <a:bodyPr/>
                    <a:lstStyle/>
                    <a:p>
                      <a:pPr algn="l"/>
                      <a:r>
                        <a:rPr sz="1100" b="1">
                          <a:solidFill>
                            <a:srgbClr val="36393B"/>
                          </a:solidFill>
                        </a:rPr>
                        <a:t>2.5 (base)</a:t>
                      </a:r>
                    </a:p>
                  </a:txBody>
                  <a:tcPr anchor="ctr" marL="54864" marR="54864" marT="27432" marB="27432"/>
                </a:tc>
                <a:tc>
                  <a:txBody>
                    <a:bodyPr/>
                    <a:lstStyle/>
                    <a:p>
                      <a:pPr algn="ctr"/>
                      <a:r>
                        <a:rPr sz="1100" b="0">
                          <a:solidFill>
                            <a:srgbClr val="36393B"/>
                          </a:solidFill>
                        </a:rPr>
                        <a:t>0.40</a:t>
                      </a:r>
                    </a:p>
                  </a:txBody>
                  <a:tcPr anchor="ctr" marL="54864" marR="54864" marT="27432" marB="27432"/>
                </a:tc>
                <a:tc>
                  <a:txBody>
                    <a:bodyPr/>
                    <a:lstStyle/>
                    <a:p>
                      <a:pPr algn="ctr"/>
                      <a:r>
                        <a:rPr sz="1100" b="0">
                          <a:solidFill>
                            <a:srgbClr val="36393B"/>
                          </a:solidFill>
                        </a:rPr>
                        <a:t>100%</a:t>
                      </a:r>
                    </a:p>
                  </a:txBody>
                  <a:tcPr anchor="ctr" marL="54864" marR="54864" marT="27432" marB="27432"/>
                </a:tc>
                <a:tc>
                  <a:txBody>
                    <a:bodyPr/>
                    <a:lstStyle/>
                    <a:p>
                      <a:pPr algn="ctr"/>
                      <a:r>
                        <a:rPr sz="1100" b="0">
                          <a:solidFill>
                            <a:srgbClr val="36393B"/>
                          </a:solidFill>
                        </a:rPr>
                        <a:t>100%</a:t>
                      </a:r>
                    </a:p>
                  </a:txBody>
                  <a:tcPr anchor="ctr" marL="54864" marR="54864" marT="27432" marB="27432"/>
                </a:tc>
              </a:tr>
              <a:tr h="347472">
                <a:tc>
                  <a:txBody>
                    <a:bodyPr/>
                    <a:lstStyle/>
                    <a:p>
                      <a:pPr algn="l"/>
                      <a:r>
                        <a:rPr sz="1100" b="1">
                          <a:solidFill>
                            <a:srgbClr val="36393B"/>
                          </a:solidFill>
                        </a:rPr>
                        <a:t>3.0</a:t>
                      </a:r>
                    </a:p>
                  </a:txBody>
                  <a:tcPr anchor="ctr" marL="54864" marR="54864" marT="27432" marB="27432"/>
                </a:tc>
                <a:tc>
                  <a:txBody>
                    <a:bodyPr/>
                    <a:lstStyle/>
                    <a:p>
                      <a:pPr algn="ctr"/>
                      <a:r>
                        <a:rPr sz="1100" b="0">
                          <a:solidFill>
                            <a:srgbClr val="36393B"/>
                          </a:solidFill>
                        </a:rPr>
                        <a:t>0.48</a:t>
                      </a:r>
                    </a:p>
                  </a:txBody>
                  <a:tcPr anchor="ctr" marL="54864" marR="54864" marT="27432" marB="27432"/>
                </a:tc>
                <a:tc>
                  <a:txBody>
                    <a:bodyPr/>
                    <a:lstStyle/>
                    <a:p>
                      <a:pPr algn="ctr"/>
                      <a:r>
                        <a:rPr sz="1100" b="0">
                          <a:solidFill>
                            <a:srgbClr val="36393B"/>
                          </a:solidFill>
                        </a:rPr>
                        <a:t>100%</a:t>
                      </a:r>
                    </a:p>
                  </a:txBody>
                  <a:tcPr anchor="ctr" marL="54864" marR="54864" marT="27432" marB="27432"/>
                </a:tc>
                <a:tc>
                  <a:txBody>
                    <a:bodyPr/>
                    <a:lstStyle/>
                    <a:p>
                      <a:pPr algn="ctr"/>
                      <a:r>
                        <a:rPr sz="1100" b="0">
                          <a:solidFill>
                            <a:srgbClr val="36393B"/>
                          </a:solidFill>
                        </a:rPr>
                        <a:t>100%</a:t>
                      </a:r>
                    </a:p>
                  </a:txBody>
                  <a:tcPr anchor="ctr" marL="54864" marR="54864" marT="27432" marB="27432"/>
                </a:tc>
              </a:tr>
            </a:tbl>
          </a:graphicData>
        </a:graphic>
      </p:graphicFrame>
      <p:sp>
        <p:nvSpPr>
          <p:cNvPr id="25" name="TextBox 24"/>
          <p:cNvSpPr txBox="1"/>
          <p:nvPr/>
        </p:nvSpPr>
        <p:spPr>
          <a:xfrm>
            <a:off x="7086600" y="5349240"/>
            <a:ext cx="4206240" cy="914400"/>
          </a:xfrm>
          <a:prstGeom prst="rect">
            <a:avLst/>
          </a:prstGeom>
          <a:noFill/>
        </p:spPr>
        <p:txBody>
          <a:bodyPr wrap="square" lIns="36576" rIns="36576" tIns="18288" bIns="18288" anchor="t">
            <a:spAutoFit/>
          </a:bodyPr>
          <a:lstStyle/>
          <a:p>
            <a:pPr algn="l">
              <a:spcAft>
                <a:spcPts val="400"/>
              </a:spcAft>
            </a:pPr>
            <a:r>
              <a:rPr sz="1100" b="0">
                <a:solidFill>
                  <a:srgbClr val="5F6266"/>
                </a:solidFill>
              </a:rPr>
              <a:t>Also conditional on γ: the engine identifies γ only as above ~1 (at γ = 3.0 the share is 83%), and γ comes from small-stakes choices (Rabin, 2000).</a:t>
            </a:r>
          </a:p>
        </p:txBody>
      </p:sp>
      <p:sp>
        <p:nvSpPr>
          <p:cNvPr id="26"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Ayushi</a:t>
            </a:r>
          </a:p>
        </p:txBody>
      </p:sp>
      <p:sp>
        <p:nvSpPr>
          <p:cNvPr id="27" name="Sources"/>
          <p:cNvSpPr txBox="1"/>
          <p:nvPr/>
        </p:nvSpPr>
        <p:spPr>
          <a:xfrm>
            <a:off x="3840480" y="6455664"/>
            <a:ext cx="7406640" cy="274320"/>
          </a:xfrm>
          <a:prstGeom prst="rect">
            <a:avLst/>
          </a:prstGeom>
          <a:noFill/>
        </p:spPr>
        <p:txBody>
          <a:bodyPr wrap="square" lIns="36576" rIns="36576" tIns="18288" bIns="18288" anchor="t">
            <a:spAutoFit/>
          </a:bodyPr>
          <a:lstStyle/>
          <a:p>
            <a:pPr algn="r">
              <a:spcAft>
                <a:spcPts val="400"/>
              </a:spcAft>
            </a:pPr>
            <a:r>
              <a:rPr sz="900" b="0">
                <a:solidFill>
                  <a:srgbClr val="5F6266"/>
                </a:solidFill>
              </a:rPr>
              <a:t>Two-fund separation; He &amp; Litterman (1999); Rabin (2000). Sharpe = λ_mkt × σ_mkt (σ ≈ 16%)</a:t>
            </a:r>
          </a:p>
        </p:txBody>
      </p:sp>
    </p:spTree>
    <p:extLst>
      <p:ext uri="{BB962C8B-B14F-4D97-AF65-F5344CB8AC3E}">
        <p14:creationId xmlns:p14="http://schemas.microsoft.com/office/powerpoint/2010/main" val="226339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sz="2400"/>
              <a:t>SP/A-BPT personalises the mix through loss aversion</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graphicFrame>
        <p:nvGraphicFramePr>
          <p:cNvPr id="9" name="Chart 8"/>
          <p:cNvGraphicFramePr>
            <a:graphicFrameLocks noGrp="1"/>
          </p:cNvGraphicFramePr>
          <p:nvPr/>
        </p:nvGraphicFramePr>
        <p:xfrm>
          <a:off x="777240" y="1463040"/>
          <a:ext cx="5394960" cy="4343400"/>
        </p:xfrm>
        <a:graphic>
          <a:graphicData uri="http://schemas.openxmlformats.org/drawingml/2006/chart">
            <c:chart xmlns:c="http://schemas.openxmlformats.org/drawingml/2006/chart" r:id="rId2"/>
          </a:graphicData>
        </a:graphic>
      </p:graphicFrame>
      <p:graphicFrame>
        <p:nvGraphicFramePr>
          <p:cNvPr id="10" name="Table 9"/>
          <p:cNvGraphicFramePr>
            <a:graphicFrameLocks noGrp="1"/>
          </p:cNvGraphicFramePr>
          <p:nvPr/>
        </p:nvGraphicFramePr>
        <p:xfrm>
          <a:off x="6400800" y="1554480"/>
          <a:ext cx="4846320" cy="2651760"/>
        </p:xfrm>
        <a:graphic>
          <a:graphicData uri="http://schemas.openxmlformats.org/drawingml/2006/table">
            <a:tbl>
              <a:tblPr firstRow="1" bandRow="1">
                <a:tableStyleId>{5C22544A-7EE6-4342-B048-85BDC9FD1C3A}</a:tableStyleId>
              </a:tblPr>
              <a:tblGrid>
                <a:gridCol w="1097280"/>
                <a:gridCol w="640080"/>
                <a:gridCol w="731520"/>
                <a:gridCol w="731520"/>
                <a:gridCol w="822960"/>
                <a:gridCol w="822960"/>
              </a:tblGrid>
              <a:tr h="441960">
                <a:tc>
                  <a:txBody>
                    <a:bodyPr/>
                    <a:lstStyle/>
                    <a:p>
                      <a:pPr algn="l"/>
                      <a:r>
                        <a:rPr sz="1000" b="0">
                          <a:solidFill>
                            <a:srgbClr val="36393B"/>
                          </a:solidFill>
                          <a:latin typeface="+mj-lt"/>
                        </a:rPr>
                        <a:t>RESPONDENT</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λ</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SAFETY</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G-SECS</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RETURN</a:t>
                      </a:r>
                    </a:p>
                  </a:txBody>
                  <a:tcPr anchor="ctr" marL="54864" marR="54864" marT="27432" marB="27432">
                    <a:solidFill>
                      <a:schemeClr val="accent1">
                        <a:lumMod val="75000"/>
                      </a:schemeClr>
                    </a:solidFill>
                  </a:tcPr>
                </a:tc>
                <a:tc>
                  <a:txBody>
                    <a:bodyPr/>
                    <a:lstStyle/>
                    <a:p>
                      <a:pPr algn="ctr"/>
                      <a:r>
                        <a:rPr sz="1000" b="0">
                          <a:solidFill>
                            <a:srgbClr val="36393B"/>
                          </a:solidFill>
                          <a:latin typeface="+mj-lt"/>
                        </a:rPr>
                        <a:t>VOL.</a:t>
                      </a:r>
                    </a:p>
                  </a:txBody>
                  <a:tcPr anchor="ctr" marL="54864" marR="54864" marT="27432" marB="27432">
                    <a:solidFill>
                      <a:schemeClr val="accent1">
                        <a:lumMod val="75000"/>
                      </a:schemeClr>
                    </a:solidFill>
                  </a:tcPr>
                </a:tc>
              </a:tr>
              <a:tr h="441960">
                <a:tc>
                  <a:txBody>
                    <a:bodyPr/>
                    <a:lstStyle/>
                    <a:p>
                      <a:pPr algn="l"/>
                      <a:r>
                        <a:rPr sz="1100" b="1">
                          <a:solidFill>
                            <a:srgbClr val="36393B"/>
                          </a:solidFill>
                        </a:rPr>
                        <a:t>Shree Charan</a:t>
                      </a:r>
                    </a:p>
                  </a:txBody>
                  <a:tcPr anchor="ctr" marL="54864" marR="54864" marT="27432" marB="27432"/>
                </a:tc>
                <a:tc>
                  <a:txBody>
                    <a:bodyPr/>
                    <a:lstStyle/>
                    <a:p>
                      <a:pPr algn="ctr"/>
                      <a:r>
                        <a:rPr sz="1100" b="0">
                          <a:solidFill>
                            <a:srgbClr val="36393B"/>
                          </a:solidFill>
                        </a:rPr>
                        <a:t>1.000</a:t>
                      </a:r>
                    </a:p>
                  </a:txBody>
                  <a:tcPr anchor="ctr" marL="54864" marR="54864" marT="27432" marB="27432"/>
                </a:tc>
                <a:tc>
                  <a:txBody>
                    <a:bodyPr/>
                    <a:lstStyle/>
                    <a:p>
                      <a:pPr algn="ctr"/>
                      <a:r>
                        <a:rPr sz="1100" b="0">
                          <a:solidFill>
                            <a:srgbClr val="36393B"/>
                          </a:solidFill>
                        </a:rPr>
                        <a:t>30.0%</a:t>
                      </a:r>
                    </a:p>
                  </a:txBody>
                  <a:tcPr anchor="ctr" marL="54864" marR="54864" marT="27432" marB="27432"/>
                </a:tc>
                <a:tc>
                  <a:txBody>
                    <a:bodyPr/>
                    <a:lstStyle/>
                    <a:p>
                      <a:pPr algn="ctr"/>
                      <a:r>
                        <a:rPr sz="1100" b="0">
                          <a:solidFill>
                            <a:srgbClr val="36393B"/>
                          </a:solidFill>
                        </a:rPr>
                        <a:t>19.9%</a:t>
                      </a:r>
                    </a:p>
                  </a:txBody>
                  <a:tcPr anchor="ctr" marL="54864" marR="54864" marT="27432" marB="27432"/>
                </a:tc>
                <a:tc>
                  <a:txBody>
                    <a:bodyPr/>
                    <a:lstStyle/>
                    <a:p>
                      <a:pPr algn="ctr"/>
                      <a:r>
                        <a:rPr sz="1100" b="0">
                          <a:solidFill>
                            <a:srgbClr val="36393B"/>
                          </a:solidFill>
                        </a:rPr>
                        <a:t>14.25%</a:t>
                      </a:r>
                    </a:p>
                  </a:txBody>
                  <a:tcPr anchor="ctr" marL="54864" marR="54864" marT="27432" marB="27432"/>
                </a:tc>
                <a:tc>
                  <a:txBody>
                    <a:bodyPr/>
                    <a:lstStyle/>
                    <a:p>
                      <a:pPr algn="ctr"/>
                      <a:r>
                        <a:rPr sz="1100" b="0">
                          <a:solidFill>
                            <a:srgbClr val="36393B"/>
                          </a:solidFill>
                        </a:rPr>
                        <a:t>20.50%</a:t>
                      </a:r>
                    </a:p>
                  </a:txBody>
                  <a:tcPr anchor="ctr" marL="54864" marR="54864" marT="27432" marB="27432"/>
                </a:tc>
              </a:tr>
              <a:tr h="441960">
                <a:tc>
                  <a:txBody>
                    <a:bodyPr/>
                    <a:lstStyle/>
                    <a:p>
                      <a:pPr algn="l"/>
                      <a:r>
                        <a:rPr sz="1100" b="1">
                          <a:solidFill>
                            <a:srgbClr val="36393B"/>
                          </a:solidFill>
                        </a:rPr>
                        <a:t>Kshitij</a:t>
                      </a:r>
                    </a:p>
                  </a:txBody>
                  <a:tcPr anchor="ctr" marL="54864" marR="54864" marT="27432" marB="27432"/>
                </a:tc>
                <a:tc>
                  <a:txBody>
                    <a:bodyPr/>
                    <a:lstStyle/>
                    <a:p>
                      <a:pPr algn="ctr"/>
                      <a:r>
                        <a:rPr sz="1100" b="0">
                          <a:solidFill>
                            <a:srgbClr val="36393B"/>
                          </a:solidFill>
                        </a:rPr>
                        <a:t>1.600</a:t>
                      </a:r>
                    </a:p>
                  </a:txBody>
                  <a:tcPr anchor="ctr" marL="54864" marR="54864" marT="27432" marB="27432"/>
                </a:tc>
                <a:tc>
                  <a:txBody>
                    <a:bodyPr/>
                    <a:lstStyle/>
                    <a:p>
                      <a:pPr algn="ctr"/>
                      <a:r>
                        <a:rPr sz="1100" b="0">
                          <a:solidFill>
                            <a:srgbClr val="36393B"/>
                          </a:solidFill>
                        </a:rPr>
                        <a:t>40.0%</a:t>
                      </a:r>
                    </a:p>
                  </a:txBody>
                  <a:tcPr anchor="ctr" marL="54864" marR="54864" marT="27432" marB="27432"/>
                </a:tc>
                <a:tc>
                  <a:txBody>
                    <a:bodyPr/>
                    <a:lstStyle/>
                    <a:p>
                      <a:pPr algn="ctr"/>
                      <a:r>
                        <a:rPr sz="1100" b="0">
                          <a:solidFill>
                            <a:srgbClr val="36393B"/>
                          </a:solidFill>
                        </a:rPr>
                        <a:t>26.6%</a:t>
                      </a:r>
                    </a:p>
                  </a:txBody>
                  <a:tcPr anchor="ctr" marL="54864" marR="54864" marT="27432" marB="27432"/>
                </a:tc>
                <a:tc>
                  <a:txBody>
                    <a:bodyPr/>
                    <a:lstStyle/>
                    <a:p>
                      <a:pPr algn="ctr"/>
                      <a:r>
                        <a:rPr sz="1100" b="0">
                          <a:solidFill>
                            <a:srgbClr val="36393B"/>
                          </a:solidFill>
                        </a:rPr>
                        <a:t>13.49%</a:t>
                      </a:r>
                    </a:p>
                  </a:txBody>
                  <a:tcPr anchor="ctr" marL="54864" marR="54864" marT="27432" marB="27432"/>
                </a:tc>
                <a:tc>
                  <a:txBody>
                    <a:bodyPr/>
                    <a:lstStyle/>
                    <a:p>
                      <a:pPr algn="ctr"/>
                      <a:r>
                        <a:rPr sz="1100" b="0">
                          <a:solidFill>
                            <a:srgbClr val="36393B"/>
                          </a:solidFill>
                        </a:rPr>
                        <a:t>18.28%</a:t>
                      </a:r>
                    </a:p>
                  </a:txBody>
                  <a:tcPr anchor="ctr" marL="54864" marR="54864" marT="27432" marB="27432"/>
                </a:tc>
              </a:tr>
              <a:tr h="441960">
                <a:tc>
                  <a:txBody>
                    <a:bodyPr/>
                    <a:lstStyle/>
                    <a:p>
                      <a:pPr algn="l"/>
                      <a:r>
                        <a:rPr sz="1100" b="1">
                          <a:solidFill>
                            <a:srgbClr val="36393B"/>
                          </a:solidFill>
                        </a:rPr>
                        <a:t>Kartika</a:t>
                      </a:r>
                    </a:p>
                  </a:txBody>
                  <a:tcPr anchor="ctr" marL="54864" marR="54864" marT="27432" marB="27432"/>
                </a:tc>
                <a:tc>
                  <a:txBody>
                    <a:bodyPr/>
                    <a:lstStyle/>
                    <a:p>
                      <a:pPr algn="ctr"/>
                      <a:r>
                        <a:rPr sz="1100" b="0">
                          <a:solidFill>
                            <a:srgbClr val="36393B"/>
                          </a:solidFill>
                        </a:rPr>
                        <a:t>1.000</a:t>
                      </a:r>
                    </a:p>
                  </a:txBody>
                  <a:tcPr anchor="ctr" marL="54864" marR="54864" marT="27432" marB="27432"/>
                </a:tc>
                <a:tc>
                  <a:txBody>
                    <a:bodyPr/>
                    <a:lstStyle/>
                    <a:p>
                      <a:pPr algn="ctr"/>
                      <a:r>
                        <a:rPr sz="1100" b="0">
                          <a:solidFill>
                            <a:srgbClr val="36393B"/>
                          </a:solidFill>
                        </a:rPr>
                        <a:t>30.0%</a:t>
                      </a:r>
                    </a:p>
                  </a:txBody>
                  <a:tcPr anchor="ctr" marL="54864" marR="54864" marT="27432" marB="27432"/>
                </a:tc>
                <a:tc>
                  <a:txBody>
                    <a:bodyPr/>
                    <a:lstStyle/>
                    <a:p>
                      <a:pPr algn="ctr"/>
                      <a:r>
                        <a:rPr sz="1100" b="0">
                          <a:solidFill>
                            <a:srgbClr val="36393B"/>
                          </a:solidFill>
                        </a:rPr>
                        <a:t>19.9%</a:t>
                      </a:r>
                    </a:p>
                  </a:txBody>
                  <a:tcPr anchor="ctr" marL="54864" marR="54864" marT="27432" marB="27432"/>
                </a:tc>
                <a:tc>
                  <a:txBody>
                    <a:bodyPr/>
                    <a:lstStyle/>
                    <a:p>
                      <a:pPr algn="ctr"/>
                      <a:r>
                        <a:rPr sz="1100" b="0">
                          <a:solidFill>
                            <a:srgbClr val="36393B"/>
                          </a:solidFill>
                        </a:rPr>
                        <a:t>14.25%</a:t>
                      </a:r>
                    </a:p>
                  </a:txBody>
                  <a:tcPr anchor="ctr" marL="54864" marR="54864" marT="27432" marB="27432"/>
                </a:tc>
                <a:tc>
                  <a:txBody>
                    <a:bodyPr/>
                    <a:lstStyle/>
                    <a:p>
                      <a:pPr algn="ctr"/>
                      <a:r>
                        <a:rPr sz="1100" b="0">
                          <a:solidFill>
                            <a:srgbClr val="36393B"/>
                          </a:solidFill>
                        </a:rPr>
                        <a:t>20.50%</a:t>
                      </a:r>
                    </a:p>
                  </a:txBody>
                  <a:tcPr anchor="ctr" marL="54864" marR="54864" marT="27432" marB="27432"/>
                </a:tc>
              </a:tr>
              <a:tr h="441960">
                <a:tc>
                  <a:txBody>
                    <a:bodyPr/>
                    <a:lstStyle/>
                    <a:p>
                      <a:pPr algn="l"/>
                      <a:r>
                        <a:rPr sz="1100" b="1">
                          <a:solidFill>
                            <a:srgbClr val="36393B"/>
                          </a:solidFill>
                        </a:rPr>
                        <a:t>Ayushi</a:t>
                      </a:r>
                    </a:p>
                  </a:txBody>
                  <a:tcPr anchor="ctr" marL="54864" marR="54864" marT="27432" marB="27432"/>
                </a:tc>
                <a:tc>
                  <a:txBody>
                    <a:bodyPr/>
                    <a:lstStyle/>
                    <a:p>
                      <a:pPr algn="ctr"/>
                      <a:r>
                        <a:rPr sz="1100" b="0">
                          <a:solidFill>
                            <a:srgbClr val="36393B"/>
                          </a:solidFill>
                        </a:rPr>
                        <a:t>1.009</a:t>
                      </a:r>
                    </a:p>
                  </a:txBody>
                  <a:tcPr anchor="ctr" marL="54864" marR="54864" marT="27432" marB="27432"/>
                </a:tc>
                <a:tc>
                  <a:txBody>
                    <a:bodyPr/>
                    <a:lstStyle/>
                    <a:p>
                      <a:pPr algn="ctr"/>
                      <a:r>
                        <a:rPr sz="1100" b="0">
                          <a:solidFill>
                            <a:srgbClr val="36393B"/>
                          </a:solidFill>
                        </a:rPr>
                        <a:t>30.2%</a:t>
                      </a:r>
                    </a:p>
                  </a:txBody>
                  <a:tcPr anchor="ctr" marL="54864" marR="54864" marT="27432" marB="27432"/>
                </a:tc>
                <a:tc>
                  <a:txBody>
                    <a:bodyPr/>
                    <a:lstStyle/>
                    <a:p>
                      <a:pPr algn="ctr"/>
                      <a:r>
                        <a:rPr sz="1100" b="0">
                          <a:solidFill>
                            <a:srgbClr val="36393B"/>
                          </a:solidFill>
                        </a:rPr>
                        <a:t>20.0%</a:t>
                      </a:r>
                    </a:p>
                  </a:txBody>
                  <a:tcPr anchor="ctr" marL="54864" marR="54864" marT="27432" marB="27432"/>
                </a:tc>
                <a:tc>
                  <a:txBody>
                    <a:bodyPr/>
                    <a:lstStyle/>
                    <a:p>
                      <a:pPr algn="ctr"/>
                      <a:r>
                        <a:rPr sz="1100" b="0">
                          <a:solidFill>
                            <a:srgbClr val="36393B"/>
                          </a:solidFill>
                        </a:rPr>
                        <a:t>14.24%</a:t>
                      </a:r>
                    </a:p>
                  </a:txBody>
                  <a:tcPr anchor="ctr" marL="54864" marR="54864" marT="27432" marB="27432"/>
                </a:tc>
                <a:tc>
                  <a:txBody>
                    <a:bodyPr/>
                    <a:lstStyle/>
                    <a:p>
                      <a:pPr algn="ctr"/>
                      <a:r>
                        <a:rPr sz="1100" b="0">
                          <a:solidFill>
                            <a:srgbClr val="36393B"/>
                          </a:solidFill>
                        </a:rPr>
                        <a:t>20.47%</a:t>
                      </a:r>
                    </a:p>
                  </a:txBody>
                  <a:tcPr anchor="ctr" marL="54864" marR="54864" marT="27432" marB="27432"/>
                </a:tc>
              </a:tr>
              <a:tr h="441960">
                <a:tc>
                  <a:txBody>
                    <a:bodyPr/>
                    <a:lstStyle/>
                    <a:p>
                      <a:pPr algn="l"/>
                      <a:r>
                        <a:rPr sz="1100" b="1">
                          <a:solidFill>
                            <a:srgbClr val="36393B"/>
                          </a:solidFill>
                        </a:rPr>
                        <a:t>Adwaaiit</a:t>
                      </a:r>
                    </a:p>
                  </a:txBody>
                  <a:tcPr anchor="ctr" marL="54864" marR="54864" marT="27432" marB="27432"/>
                </a:tc>
                <a:tc>
                  <a:txBody>
                    <a:bodyPr/>
                    <a:lstStyle/>
                    <a:p>
                      <a:pPr algn="ctr"/>
                      <a:r>
                        <a:rPr sz="1100" b="0">
                          <a:solidFill>
                            <a:srgbClr val="36393B"/>
                          </a:solidFill>
                        </a:rPr>
                        <a:t>1.015</a:t>
                      </a:r>
                    </a:p>
                  </a:txBody>
                  <a:tcPr anchor="ctr" marL="54864" marR="54864" marT="27432" marB="27432"/>
                </a:tc>
                <a:tc>
                  <a:txBody>
                    <a:bodyPr/>
                    <a:lstStyle/>
                    <a:p>
                      <a:pPr algn="ctr"/>
                      <a:r>
                        <a:rPr sz="1100" b="0">
                          <a:solidFill>
                            <a:srgbClr val="36393B"/>
                          </a:solidFill>
                        </a:rPr>
                        <a:t>30.3%</a:t>
                      </a:r>
                    </a:p>
                  </a:txBody>
                  <a:tcPr anchor="ctr" marL="54864" marR="54864" marT="27432" marB="27432"/>
                </a:tc>
                <a:tc>
                  <a:txBody>
                    <a:bodyPr/>
                    <a:lstStyle/>
                    <a:p>
                      <a:pPr algn="ctr"/>
                      <a:r>
                        <a:rPr sz="1100" b="0">
                          <a:solidFill>
                            <a:srgbClr val="36393B"/>
                          </a:solidFill>
                        </a:rPr>
                        <a:t>20.1%</a:t>
                      </a:r>
                    </a:p>
                  </a:txBody>
                  <a:tcPr anchor="ctr" marL="54864" marR="54864" marT="27432" marB="27432"/>
                </a:tc>
                <a:tc>
                  <a:txBody>
                    <a:bodyPr/>
                    <a:lstStyle/>
                    <a:p>
                      <a:pPr algn="ctr"/>
                      <a:r>
                        <a:rPr sz="1100" b="0">
                          <a:solidFill>
                            <a:srgbClr val="36393B"/>
                          </a:solidFill>
                        </a:rPr>
                        <a:t>14.23%</a:t>
                      </a:r>
                    </a:p>
                  </a:txBody>
                  <a:tcPr anchor="ctr" marL="54864" marR="54864" marT="27432" marB="27432"/>
                </a:tc>
                <a:tc>
                  <a:txBody>
                    <a:bodyPr/>
                    <a:lstStyle/>
                    <a:p>
                      <a:pPr algn="ctr"/>
                      <a:r>
                        <a:rPr sz="1100" b="0">
                          <a:solidFill>
                            <a:srgbClr val="36393B"/>
                          </a:solidFill>
                        </a:rPr>
                        <a:t>20.44%</a:t>
                      </a:r>
                    </a:p>
                  </a:txBody>
                  <a:tcPr anchor="ctr" marL="54864" marR="54864" marT="27432" marB="27432"/>
                </a:tc>
              </a:tr>
            </a:tbl>
          </a:graphicData>
        </a:graphic>
      </p:graphicFrame>
      <p:sp>
        <p:nvSpPr>
          <p:cNvPr id="11" name="Fix card"/>
          <p:cNvSpPr/>
          <p:nvPr/>
        </p:nvSpPr>
        <p:spPr>
          <a:xfrm>
            <a:off x="6400800" y="4343400"/>
            <a:ext cx="484632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4434840"/>
            <a:ext cx="4526280" cy="1783080"/>
          </a:xfrm>
          <a:prstGeom prst="rect">
            <a:avLst/>
          </a:prstGeom>
          <a:noFill/>
        </p:spPr>
        <p:txBody>
          <a:bodyPr wrap="square" lIns="36576" rIns="36576" tIns="18288" bIns="18288" anchor="t">
            <a:spAutoFit/>
          </a:bodyPr>
          <a:lstStyle/>
          <a:p>
            <a:pPr algn="l">
              <a:spcAft>
                <a:spcPts val="600"/>
              </a:spcAft>
            </a:pPr>
            <a:r>
              <a:rPr sz="1150" b="1">
                <a:solidFill>
                  <a:srgbClr val="36393B"/>
                </a:solidFill>
              </a:rPr>
              <a:t>We fixed our first model. </a:t>
            </a:r>
            <a:r>
              <a:rPr sz="1150" b="0">
                <a:solidFill>
                  <a:srgbClr val="36393B"/>
                </a:solidFill>
              </a:rPr>
              <a:t>It had an all-equity safety layer and no stock limits: 27–29% volatility, 42% in one stock. Now G-Secs sit in the safety account (Telser rule: a loss in at most 1 year in 20) and every stock is capped at 10%: 18–21% volatility, 7.6% top stock.</a:t>
            </a:r>
          </a:p>
          <a:p>
            <a:pPr algn="l">
              <a:spcAft>
                <a:spcPts val="600"/>
              </a:spcAft>
            </a:pPr>
            <a:r>
              <a:rPr sz="1150" b="1">
                <a:solidFill>
                  <a:srgbClr val="36393B"/>
                </a:solidFill>
              </a:rPr>
              <a:t>Still above EUT's 16.2%: </a:t>
            </a:r>
            <a:r>
              <a:rPr sz="1150" b="0">
                <a:solidFill>
                  <a:srgbClr val="36393B"/>
                </a:solidFill>
              </a:rPr>
              <a:t>EUT is pinned at 100% equity. Unconstrained, it would hold 112–114% (≈18.3% volatility).</a:t>
            </a:r>
          </a:p>
        </p:txBody>
      </p:sp>
      <p:sp>
        <p:nvSpPr>
          <p:cNvPr id="13"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Ayushi</a:t>
            </a:r>
          </a:p>
        </p:txBody>
      </p:sp>
      <p:sp>
        <p:nvSpPr>
          <p:cNvPr id="14" name="Sources"/>
          <p:cNvSpPr txBox="1"/>
          <p:nvPr/>
        </p:nvSpPr>
        <p:spPr>
          <a:xfrm>
            <a:off x="3840480" y="6455664"/>
            <a:ext cx="7406640" cy="274320"/>
          </a:xfrm>
          <a:prstGeom prst="rect">
            <a:avLst/>
          </a:prstGeom>
          <a:noFill/>
        </p:spPr>
        <p:txBody>
          <a:bodyPr wrap="square" lIns="36576" rIns="36576" tIns="18288" bIns="18288" anchor="t">
            <a:spAutoFit/>
          </a:bodyPr>
          <a:lstStyle/>
          <a:p>
            <a:pPr algn="r">
              <a:spcAft>
                <a:spcPts val="400"/>
              </a:spcAft>
            </a:pPr>
            <a:r>
              <a:rPr sz="900" b="0">
                <a:solidFill>
                  <a:srgbClr val="5F6266"/>
                </a:solidFill>
              </a:rPr>
              <a:t>Das, Markowitz, Scheid &amp; Statman (2010); Telser (1955); Roy (1952)</a:t>
            </a:r>
          </a:p>
        </p:txBody>
      </p:sp>
    </p:spTree>
    <p:extLst>
      <p:ext uri="{BB962C8B-B14F-4D97-AF65-F5344CB8AC3E}">
        <p14:creationId xmlns:p14="http://schemas.microsoft.com/office/powerpoint/2010/main" val="226339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sz="2400"/>
              <a:t>What we would tell each client</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sp>
        <p:nvSpPr>
          <p:cNvPr id="9" name="TextBox 8"/>
          <p:cNvSpPr txBox="1"/>
          <p:nvPr/>
        </p:nvSpPr>
        <p:spPr>
          <a:xfrm>
            <a:off x="850392" y="1325880"/>
            <a:ext cx="10424160" cy="411480"/>
          </a:xfrm>
          <a:prstGeom prst="rect">
            <a:avLst/>
          </a:prstGeom>
          <a:noFill/>
        </p:spPr>
        <p:txBody>
          <a:bodyPr wrap="square" lIns="36576" rIns="36576" tIns="18288" bIns="18288" anchor="t">
            <a:spAutoFit/>
          </a:bodyPr>
          <a:lstStyle/>
          <a:p>
            <a:pPr algn="l">
              <a:spcAft>
                <a:spcPts val="400"/>
              </a:spcAft>
            </a:pPr>
            <a:r>
              <a:rPr sz="1300" b="0">
                <a:solidFill>
                  <a:srgbClr val="5F6266"/>
                </a:solidFill>
              </a:rPr>
              <a:t>Per ₹1 crore. EUT gives every client the same answer: 100% in the tangency portfolio (13.2% return, 16.2% vol). SP/A-BPT splits each client's money:</a:t>
            </a:r>
          </a:p>
        </p:txBody>
      </p:sp>
      <p:sp>
        <p:nvSpPr>
          <p:cNvPr id="10" name="Client Kshitij"/>
          <p:cNvSpPr/>
          <p:nvPr/>
        </p:nvSpPr>
        <p:spPr>
          <a:xfrm>
            <a:off x="850392" y="1874519"/>
            <a:ext cx="1975104" cy="384048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0392" y="1874519"/>
            <a:ext cx="1975104" cy="109728"/>
          </a:xfrm>
          <a:prstGeom prst="rect">
            <a:avLst/>
          </a:prstGeom>
          <a:solidFill>
            <a:srgbClr val="FD4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075688"/>
            <a:ext cx="1755648" cy="365760"/>
          </a:xfrm>
          <a:prstGeom prst="rect">
            <a:avLst/>
          </a:prstGeom>
          <a:noFill/>
        </p:spPr>
        <p:txBody>
          <a:bodyPr wrap="square" lIns="36576" rIns="36576" tIns="18288" bIns="18288" anchor="t">
            <a:spAutoFit/>
          </a:bodyPr>
          <a:lstStyle/>
          <a:p>
            <a:pPr algn="l">
              <a:spcAft>
                <a:spcPts val="400"/>
              </a:spcAft>
            </a:pPr>
            <a:r>
              <a:rPr sz="1500" b="1">
                <a:solidFill>
                  <a:srgbClr val="36393B"/>
                </a:solidFill>
              </a:rPr>
              <a:t>Kshitij</a:t>
            </a:r>
          </a:p>
        </p:txBody>
      </p:sp>
      <p:sp>
        <p:nvSpPr>
          <p:cNvPr id="13" name="TextBox 12"/>
          <p:cNvSpPr txBox="1"/>
          <p:nvPr/>
        </p:nvSpPr>
        <p:spPr>
          <a:xfrm>
            <a:off x="960120" y="2468879"/>
            <a:ext cx="1755648" cy="777240"/>
          </a:xfrm>
          <a:prstGeom prst="rect">
            <a:avLst/>
          </a:prstGeom>
          <a:noFill/>
        </p:spPr>
        <p:txBody>
          <a:bodyPr wrap="square" lIns="36576" rIns="36576" tIns="18288" bIns="18288" anchor="t">
            <a:spAutoFit/>
          </a:bodyPr>
          <a:lstStyle/>
          <a:p>
            <a:pPr algn="l">
              <a:spcAft>
                <a:spcPts val="400"/>
              </a:spcAft>
            </a:pPr>
            <a:r>
              <a:rPr sz="1050" b="0">
                <a:solidFill>
                  <a:srgbClr val="0E8C74"/>
                </a:solidFill>
              </a:rPr>
              <a:t>Loss-averse (λ 1.6), risk-seeking in gains, most impatient</a:t>
            </a:r>
          </a:p>
        </p:txBody>
      </p:sp>
      <p:sp>
        <p:nvSpPr>
          <p:cNvPr id="14" name="TextBox 13"/>
          <p:cNvSpPr txBox="1"/>
          <p:nvPr/>
        </p:nvSpPr>
        <p:spPr>
          <a:xfrm>
            <a:off x="960120" y="3291839"/>
            <a:ext cx="1755648" cy="320040"/>
          </a:xfrm>
          <a:prstGeom prst="rect">
            <a:avLst/>
          </a:prstGeom>
          <a:noFill/>
        </p:spPr>
        <p:txBody>
          <a:bodyPr wrap="square" lIns="36576" rIns="36576" tIns="18288" bIns="18288" anchor="t">
            <a:spAutoFit/>
          </a:bodyPr>
          <a:lstStyle/>
          <a:p>
            <a:pPr algn="l">
              <a:spcAft>
                <a:spcPts val="400"/>
              </a:spcAft>
            </a:pPr>
            <a:r>
              <a:rPr sz="900" b="1">
                <a:solidFill>
                  <a:srgbClr val="5F6266"/>
                </a:solidFill>
              </a:rPr>
              <a:t>SAFETY · ASPIRATION</a:t>
            </a:r>
          </a:p>
        </p:txBody>
      </p:sp>
      <p:sp>
        <p:nvSpPr>
          <p:cNvPr id="15" name="TextBox 14"/>
          <p:cNvSpPr txBox="1"/>
          <p:nvPr/>
        </p:nvSpPr>
        <p:spPr>
          <a:xfrm>
            <a:off x="960120" y="3566160"/>
            <a:ext cx="1755648" cy="411480"/>
          </a:xfrm>
          <a:prstGeom prst="rect">
            <a:avLst/>
          </a:prstGeom>
          <a:noFill/>
        </p:spPr>
        <p:txBody>
          <a:bodyPr wrap="square" lIns="36576" rIns="36576" tIns="18288" bIns="18288" anchor="t">
            <a:spAutoFit/>
          </a:bodyPr>
          <a:lstStyle/>
          <a:p>
            <a:pPr algn="l">
              <a:spcAft>
                <a:spcPts val="400"/>
              </a:spcAft>
            </a:pPr>
            <a:r>
              <a:rPr sz="1500" b="1">
                <a:solidFill>
                  <a:srgbClr val="36393B"/>
                </a:solidFill>
              </a:rPr>
              <a:t>₹40.0L · ₹60.0L</a:t>
            </a:r>
          </a:p>
        </p:txBody>
      </p:sp>
      <p:sp>
        <p:nvSpPr>
          <p:cNvPr id="16" name="TextBox 15"/>
          <p:cNvSpPr txBox="1"/>
          <p:nvPr/>
        </p:nvSpPr>
        <p:spPr>
          <a:xfrm>
            <a:off x="960120" y="3977639"/>
            <a:ext cx="1755648" cy="548640"/>
          </a:xfrm>
          <a:prstGeom prst="rect">
            <a:avLst/>
          </a:prstGeom>
          <a:noFill/>
        </p:spPr>
        <p:txBody>
          <a:bodyPr wrap="square" lIns="36576" rIns="36576" tIns="18288" bIns="18288" anchor="t">
            <a:spAutoFit/>
          </a:bodyPr>
          <a:lstStyle/>
          <a:p>
            <a:pPr algn="l">
              <a:spcAft>
                <a:spcPts val="100"/>
              </a:spcAft>
            </a:pPr>
            <a:r>
              <a:rPr sz="1050" b="0">
                <a:solidFill>
                  <a:srgbClr val="36393B"/>
                </a:solidFill>
              </a:rPr>
              <a:t>G-Secs: ₹26.6L</a:t>
            </a:r>
          </a:p>
          <a:p>
            <a:pPr algn="l">
              <a:spcAft>
                <a:spcPts val="100"/>
              </a:spcAft>
            </a:pPr>
            <a:r>
              <a:rPr sz="1050" b="0">
                <a:solidFill>
                  <a:srgbClr val="36393B"/>
                </a:solidFill>
              </a:rPr>
              <a:t>13.5% return · 18.3% vol</a:t>
            </a:r>
          </a:p>
        </p:txBody>
      </p:sp>
      <p:sp>
        <p:nvSpPr>
          <p:cNvPr id="17" name="TextBox 16"/>
          <p:cNvSpPr txBox="1"/>
          <p:nvPr/>
        </p:nvSpPr>
        <p:spPr>
          <a:xfrm>
            <a:off x="960120" y="4572000"/>
            <a:ext cx="1755648" cy="1097280"/>
          </a:xfrm>
          <a:prstGeom prst="rect">
            <a:avLst/>
          </a:prstGeom>
          <a:noFill/>
        </p:spPr>
        <p:txBody>
          <a:bodyPr wrap="square" lIns="36576" rIns="36576" tIns="18288" bIns="18288" anchor="t">
            <a:spAutoFit/>
          </a:bodyPr>
          <a:lstStyle/>
          <a:p>
            <a:pPr algn="l">
              <a:spcAft>
                <a:spcPts val="400"/>
              </a:spcAft>
            </a:pPr>
            <a:r>
              <a:rPr sz="1150" b="0">
                <a:solidFill>
                  <a:srgbClr val="36393B"/>
                </a:solidFill>
              </a:rPr>
              <a:t>Frame advice in drawdown terms; use SIPs and lock-ins to curb impatience.</a:t>
            </a:r>
          </a:p>
        </p:txBody>
      </p:sp>
      <p:sp>
        <p:nvSpPr>
          <p:cNvPr id="18" name="Client Kartika"/>
          <p:cNvSpPr/>
          <p:nvPr/>
        </p:nvSpPr>
        <p:spPr>
          <a:xfrm>
            <a:off x="2962656" y="1874519"/>
            <a:ext cx="1975104" cy="384048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62656" y="1874519"/>
            <a:ext cx="1975104" cy="109728"/>
          </a:xfrm>
          <a:prstGeom prst="rect">
            <a:avLst/>
          </a:prstGeom>
          <a:solidFill>
            <a:srgbClr val="12A3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72384" y="2075688"/>
            <a:ext cx="1755648" cy="365760"/>
          </a:xfrm>
          <a:prstGeom prst="rect">
            <a:avLst/>
          </a:prstGeom>
          <a:noFill/>
        </p:spPr>
        <p:txBody>
          <a:bodyPr wrap="square" lIns="36576" rIns="36576" tIns="18288" bIns="18288" anchor="t">
            <a:spAutoFit/>
          </a:bodyPr>
          <a:lstStyle/>
          <a:p>
            <a:pPr algn="l">
              <a:spcAft>
                <a:spcPts val="400"/>
              </a:spcAft>
            </a:pPr>
            <a:r>
              <a:rPr sz="1500" b="1">
                <a:solidFill>
                  <a:srgbClr val="36393B"/>
                </a:solidFill>
              </a:rPr>
              <a:t>Kartika</a:t>
            </a:r>
          </a:p>
        </p:txBody>
      </p:sp>
      <p:sp>
        <p:nvSpPr>
          <p:cNvPr id="21" name="TextBox 20"/>
          <p:cNvSpPr txBox="1"/>
          <p:nvPr/>
        </p:nvSpPr>
        <p:spPr>
          <a:xfrm>
            <a:off x="3072384" y="2468879"/>
            <a:ext cx="1755648" cy="777240"/>
          </a:xfrm>
          <a:prstGeom prst="rect">
            <a:avLst/>
          </a:prstGeom>
          <a:noFill/>
        </p:spPr>
        <p:txBody>
          <a:bodyPr wrap="square" lIns="36576" rIns="36576" tIns="18288" bIns="18288" anchor="t">
            <a:spAutoFit/>
          </a:bodyPr>
          <a:lstStyle/>
          <a:p>
            <a:pPr algn="l">
              <a:spcAft>
                <a:spcPts val="400"/>
              </a:spcAft>
            </a:pPr>
            <a:r>
              <a:rPr sz="1050" b="0">
                <a:solidFill>
                  <a:srgbClr val="0E8C74"/>
                </a:solidFill>
              </a:rPr>
              <a:t>Near risk-neutral; gambling appetite above investing (6.67 vs 4.67)</a:t>
            </a:r>
          </a:p>
        </p:txBody>
      </p:sp>
      <p:sp>
        <p:nvSpPr>
          <p:cNvPr id="22" name="TextBox 21"/>
          <p:cNvSpPr txBox="1"/>
          <p:nvPr/>
        </p:nvSpPr>
        <p:spPr>
          <a:xfrm>
            <a:off x="3072384" y="3291839"/>
            <a:ext cx="1755648" cy="320040"/>
          </a:xfrm>
          <a:prstGeom prst="rect">
            <a:avLst/>
          </a:prstGeom>
          <a:noFill/>
        </p:spPr>
        <p:txBody>
          <a:bodyPr wrap="square" lIns="36576" rIns="36576" tIns="18288" bIns="18288" anchor="t">
            <a:spAutoFit/>
          </a:bodyPr>
          <a:lstStyle/>
          <a:p>
            <a:pPr algn="l">
              <a:spcAft>
                <a:spcPts val="400"/>
              </a:spcAft>
            </a:pPr>
            <a:r>
              <a:rPr sz="900" b="1">
                <a:solidFill>
                  <a:srgbClr val="5F6266"/>
                </a:solidFill>
              </a:rPr>
              <a:t>SAFETY · ASPIRATION</a:t>
            </a:r>
          </a:p>
        </p:txBody>
      </p:sp>
      <p:sp>
        <p:nvSpPr>
          <p:cNvPr id="23" name="TextBox 22"/>
          <p:cNvSpPr txBox="1"/>
          <p:nvPr/>
        </p:nvSpPr>
        <p:spPr>
          <a:xfrm>
            <a:off x="3072384" y="3566160"/>
            <a:ext cx="1755648" cy="411480"/>
          </a:xfrm>
          <a:prstGeom prst="rect">
            <a:avLst/>
          </a:prstGeom>
          <a:noFill/>
        </p:spPr>
        <p:txBody>
          <a:bodyPr wrap="square" lIns="36576" rIns="36576" tIns="18288" bIns="18288" anchor="t">
            <a:spAutoFit/>
          </a:bodyPr>
          <a:lstStyle/>
          <a:p>
            <a:pPr algn="l">
              <a:spcAft>
                <a:spcPts val="400"/>
              </a:spcAft>
            </a:pPr>
            <a:r>
              <a:rPr sz="1500" b="1">
                <a:solidFill>
                  <a:srgbClr val="36393B"/>
                </a:solidFill>
              </a:rPr>
              <a:t>₹30.0L · ₹70.0L</a:t>
            </a:r>
          </a:p>
        </p:txBody>
      </p:sp>
      <p:sp>
        <p:nvSpPr>
          <p:cNvPr id="24" name="TextBox 23"/>
          <p:cNvSpPr txBox="1"/>
          <p:nvPr/>
        </p:nvSpPr>
        <p:spPr>
          <a:xfrm>
            <a:off x="3072384" y="3977639"/>
            <a:ext cx="1755648" cy="548640"/>
          </a:xfrm>
          <a:prstGeom prst="rect">
            <a:avLst/>
          </a:prstGeom>
          <a:noFill/>
        </p:spPr>
        <p:txBody>
          <a:bodyPr wrap="square" lIns="36576" rIns="36576" tIns="18288" bIns="18288" anchor="t">
            <a:spAutoFit/>
          </a:bodyPr>
          <a:lstStyle/>
          <a:p>
            <a:pPr algn="l">
              <a:spcAft>
                <a:spcPts val="100"/>
              </a:spcAft>
            </a:pPr>
            <a:r>
              <a:rPr sz="1050" b="0">
                <a:solidFill>
                  <a:srgbClr val="36393B"/>
                </a:solidFill>
              </a:rPr>
              <a:t>G-Secs: ₹19.9L</a:t>
            </a:r>
          </a:p>
          <a:p>
            <a:pPr algn="l">
              <a:spcAft>
                <a:spcPts val="100"/>
              </a:spcAft>
            </a:pPr>
            <a:r>
              <a:rPr sz="1050" b="0">
                <a:solidFill>
                  <a:srgbClr val="36393B"/>
                </a:solidFill>
              </a:rPr>
              <a:t>14.3% return · 20.5% vol</a:t>
            </a:r>
          </a:p>
        </p:txBody>
      </p:sp>
      <p:sp>
        <p:nvSpPr>
          <p:cNvPr id="25" name="TextBox 24"/>
          <p:cNvSpPr txBox="1"/>
          <p:nvPr/>
        </p:nvSpPr>
        <p:spPr>
          <a:xfrm>
            <a:off x="3072384" y="4572000"/>
            <a:ext cx="1755648" cy="1097280"/>
          </a:xfrm>
          <a:prstGeom prst="rect">
            <a:avLst/>
          </a:prstGeom>
          <a:noFill/>
        </p:spPr>
        <p:txBody>
          <a:bodyPr wrap="square" lIns="36576" rIns="36576" tIns="18288" bIns="18288" anchor="t">
            <a:spAutoFit/>
          </a:bodyPr>
          <a:lstStyle/>
          <a:p>
            <a:pPr algn="l">
              <a:spcAft>
                <a:spcPts val="400"/>
              </a:spcAft>
            </a:pPr>
            <a:r>
              <a:rPr sz="1150" b="0">
                <a:solidFill>
                  <a:srgbClr val="36393B"/>
                </a:solidFill>
              </a:rPr>
              <a:t>Automate rebalancing; ring-fence speculation inside the aspiration sleeve.</a:t>
            </a:r>
          </a:p>
        </p:txBody>
      </p:sp>
      <p:sp>
        <p:nvSpPr>
          <p:cNvPr id="26" name="Client Shree Charan"/>
          <p:cNvSpPr/>
          <p:nvPr/>
        </p:nvSpPr>
        <p:spPr>
          <a:xfrm>
            <a:off x="5074920" y="1874519"/>
            <a:ext cx="1975104" cy="384048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74920" y="1874519"/>
            <a:ext cx="1975104" cy="109728"/>
          </a:xfrm>
          <a:prstGeom prst="rect">
            <a:avLst/>
          </a:prstGeom>
          <a:solidFill>
            <a:srgbClr val="4D6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4648" y="2075688"/>
            <a:ext cx="1755648" cy="365760"/>
          </a:xfrm>
          <a:prstGeom prst="rect">
            <a:avLst/>
          </a:prstGeom>
          <a:noFill/>
        </p:spPr>
        <p:txBody>
          <a:bodyPr wrap="square" lIns="36576" rIns="36576" tIns="18288" bIns="18288" anchor="t">
            <a:spAutoFit/>
          </a:bodyPr>
          <a:lstStyle/>
          <a:p>
            <a:pPr algn="l">
              <a:spcAft>
                <a:spcPts val="400"/>
              </a:spcAft>
            </a:pPr>
            <a:r>
              <a:rPr sz="1500" b="1">
                <a:solidFill>
                  <a:srgbClr val="36393B"/>
                </a:solidFill>
              </a:rPr>
              <a:t>Shree Charan</a:t>
            </a:r>
          </a:p>
        </p:txBody>
      </p:sp>
      <p:sp>
        <p:nvSpPr>
          <p:cNvPr id="29" name="TextBox 28"/>
          <p:cNvSpPr txBox="1"/>
          <p:nvPr/>
        </p:nvSpPr>
        <p:spPr>
          <a:xfrm>
            <a:off x="5184648" y="2468879"/>
            <a:ext cx="1755648" cy="777240"/>
          </a:xfrm>
          <a:prstGeom prst="rect">
            <a:avLst/>
          </a:prstGeom>
          <a:noFill/>
        </p:spPr>
        <p:txBody>
          <a:bodyPr wrap="square" lIns="36576" rIns="36576" tIns="18288" bIns="18288" anchor="t">
            <a:spAutoFit/>
          </a:bodyPr>
          <a:lstStyle/>
          <a:p>
            <a:pPr algn="l">
              <a:spcAft>
                <a:spcPts val="400"/>
              </a:spcAft>
            </a:pPr>
            <a:r>
              <a:rPr sz="1050" b="0">
                <a:solidFill>
                  <a:srgbClr val="0E8C74"/>
                </a:solidFill>
              </a:rPr>
              <a:t>Overweights long shots (α 0.57); flat BFI-2 profile</a:t>
            </a:r>
          </a:p>
        </p:txBody>
      </p:sp>
      <p:sp>
        <p:nvSpPr>
          <p:cNvPr id="30" name="TextBox 29"/>
          <p:cNvSpPr txBox="1"/>
          <p:nvPr/>
        </p:nvSpPr>
        <p:spPr>
          <a:xfrm>
            <a:off x="5184648" y="3291839"/>
            <a:ext cx="1755648" cy="320040"/>
          </a:xfrm>
          <a:prstGeom prst="rect">
            <a:avLst/>
          </a:prstGeom>
          <a:noFill/>
        </p:spPr>
        <p:txBody>
          <a:bodyPr wrap="square" lIns="36576" rIns="36576" tIns="18288" bIns="18288" anchor="t">
            <a:spAutoFit/>
          </a:bodyPr>
          <a:lstStyle/>
          <a:p>
            <a:pPr algn="l">
              <a:spcAft>
                <a:spcPts val="400"/>
              </a:spcAft>
            </a:pPr>
            <a:r>
              <a:rPr sz="900" b="1">
                <a:solidFill>
                  <a:srgbClr val="5F6266"/>
                </a:solidFill>
              </a:rPr>
              <a:t>SAFETY · ASPIRATION</a:t>
            </a:r>
          </a:p>
        </p:txBody>
      </p:sp>
      <p:sp>
        <p:nvSpPr>
          <p:cNvPr id="31" name="TextBox 30"/>
          <p:cNvSpPr txBox="1"/>
          <p:nvPr/>
        </p:nvSpPr>
        <p:spPr>
          <a:xfrm>
            <a:off x="5184648" y="3566160"/>
            <a:ext cx="1755648" cy="411480"/>
          </a:xfrm>
          <a:prstGeom prst="rect">
            <a:avLst/>
          </a:prstGeom>
          <a:noFill/>
        </p:spPr>
        <p:txBody>
          <a:bodyPr wrap="square" lIns="36576" rIns="36576" tIns="18288" bIns="18288" anchor="t">
            <a:spAutoFit/>
          </a:bodyPr>
          <a:lstStyle/>
          <a:p>
            <a:pPr algn="l">
              <a:spcAft>
                <a:spcPts val="400"/>
              </a:spcAft>
            </a:pPr>
            <a:r>
              <a:rPr sz="1500" b="1">
                <a:solidFill>
                  <a:srgbClr val="36393B"/>
                </a:solidFill>
              </a:rPr>
              <a:t>₹30.0L · ₹70.0L</a:t>
            </a:r>
          </a:p>
        </p:txBody>
      </p:sp>
      <p:sp>
        <p:nvSpPr>
          <p:cNvPr id="32" name="TextBox 31"/>
          <p:cNvSpPr txBox="1"/>
          <p:nvPr/>
        </p:nvSpPr>
        <p:spPr>
          <a:xfrm>
            <a:off x="5184648" y="3977639"/>
            <a:ext cx="1755648" cy="548640"/>
          </a:xfrm>
          <a:prstGeom prst="rect">
            <a:avLst/>
          </a:prstGeom>
          <a:noFill/>
        </p:spPr>
        <p:txBody>
          <a:bodyPr wrap="square" lIns="36576" rIns="36576" tIns="18288" bIns="18288" anchor="t">
            <a:spAutoFit/>
          </a:bodyPr>
          <a:lstStyle/>
          <a:p>
            <a:pPr algn="l">
              <a:spcAft>
                <a:spcPts val="100"/>
              </a:spcAft>
            </a:pPr>
            <a:r>
              <a:rPr sz="1050" b="0">
                <a:solidFill>
                  <a:srgbClr val="36393B"/>
                </a:solidFill>
              </a:rPr>
              <a:t>G-Secs: ₹19.9L</a:t>
            </a:r>
          </a:p>
          <a:p>
            <a:pPr algn="l">
              <a:spcAft>
                <a:spcPts val="100"/>
              </a:spcAft>
            </a:pPr>
            <a:r>
              <a:rPr sz="1050" b="0">
                <a:solidFill>
                  <a:srgbClr val="36393B"/>
                </a:solidFill>
              </a:rPr>
              <a:t>14.3% return · 20.5% vol</a:t>
            </a:r>
          </a:p>
        </p:txBody>
      </p:sp>
      <p:sp>
        <p:nvSpPr>
          <p:cNvPr id="33" name="TextBox 32"/>
          <p:cNvSpPr txBox="1"/>
          <p:nvPr/>
        </p:nvSpPr>
        <p:spPr>
          <a:xfrm>
            <a:off x="5184648" y="4572000"/>
            <a:ext cx="1755648" cy="1097280"/>
          </a:xfrm>
          <a:prstGeom prst="rect">
            <a:avLst/>
          </a:prstGeom>
          <a:noFill/>
        </p:spPr>
        <p:txBody>
          <a:bodyPr wrap="square" lIns="36576" rIns="36576" tIns="18288" bIns="18288" anchor="t">
            <a:spAutoFit/>
          </a:bodyPr>
          <a:lstStyle/>
          <a:p>
            <a:pPr algn="l">
              <a:spcAft>
                <a:spcPts val="400"/>
              </a:spcAft>
            </a:pPr>
            <a:r>
              <a:rPr sz="1150" b="0">
                <a:solidFill>
                  <a:srgbClr val="36393B"/>
                </a:solidFill>
              </a:rPr>
              <a:t>Re-run the BFI-2 before finalising; cap lottery-type picks.</a:t>
            </a:r>
          </a:p>
        </p:txBody>
      </p:sp>
      <p:sp>
        <p:nvSpPr>
          <p:cNvPr id="34" name="Client Ayushi"/>
          <p:cNvSpPr/>
          <p:nvPr/>
        </p:nvSpPr>
        <p:spPr>
          <a:xfrm>
            <a:off x="7187183" y="1874519"/>
            <a:ext cx="1975104" cy="384048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87183" y="1874519"/>
            <a:ext cx="1975104" cy="109728"/>
          </a:xfrm>
          <a:prstGeom prst="rect">
            <a:avLst/>
          </a:prstGeom>
          <a:solidFill>
            <a:srgbClr val="CA5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96912" y="2075688"/>
            <a:ext cx="1755648" cy="365760"/>
          </a:xfrm>
          <a:prstGeom prst="rect">
            <a:avLst/>
          </a:prstGeom>
          <a:noFill/>
        </p:spPr>
        <p:txBody>
          <a:bodyPr wrap="square" lIns="36576" rIns="36576" tIns="18288" bIns="18288" anchor="t">
            <a:spAutoFit/>
          </a:bodyPr>
          <a:lstStyle/>
          <a:p>
            <a:pPr algn="l">
              <a:spcAft>
                <a:spcPts val="400"/>
              </a:spcAft>
            </a:pPr>
            <a:r>
              <a:rPr sz="1500" b="1">
                <a:solidFill>
                  <a:srgbClr val="36393B"/>
                </a:solidFill>
              </a:rPr>
              <a:t>Ayushi</a:t>
            </a:r>
          </a:p>
        </p:txBody>
      </p:sp>
      <p:sp>
        <p:nvSpPr>
          <p:cNvPr id="37" name="TextBox 36"/>
          <p:cNvSpPr txBox="1"/>
          <p:nvPr/>
        </p:nvSpPr>
        <p:spPr>
          <a:xfrm>
            <a:off x="7296912" y="2468879"/>
            <a:ext cx="1755648" cy="777240"/>
          </a:xfrm>
          <a:prstGeom prst="rect">
            <a:avLst/>
          </a:prstGeom>
          <a:noFill/>
        </p:spPr>
        <p:txBody>
          <a:bodyPr wrap="square" lIns="36576" rIns="36576" tIns="18288" bIns="18288" anchor="t">
            <a:spAutoFit/>
          </a:bodyPr>
          <a:lstStyle/>
          <a:p>
            <a:pPr algn="l">
              <a:spcAft>
                <a:spcPts val="400"/>
              </a:spcAft>
            </a:pPr>
            <a:r>
              <a:rPr sz="1050" b="0">
                <a:solidFill>
                  <a:srgbClr val="0E8C74"/>
                </a:solidFill>
              </a:rPr>
              <a:t>Open to new framing (Openness 4.0); inconsistent repeats</a:t>
            </a:r>
          </a:p>
        </p:txBody>
      </p:sp>
      <p:sp>
        <p:nvSpPr>
          <p:cNvPr id="38" name="TextBox 37"/>
          <p:cNvSpPr txBox="1"/>
          <p:nvPr/>
        </p:nvSpPr>
        <p:spPr>
          <a:xfrm>
            <a:off x="7296912" y="3291839"/>
            <a:ext cx="1755648" cy="320040"/>
          </a:xfrm>
          <a:prstGeom prst="rect">
            <a:avLst/>
          </a:prstGeom>
          <a:noFill/>
        </p:spPr>
        <p:txBody>
          <a:bodyPr wrap="square" lIns="36576" rIns="36576" tIns="18288" bIns="18288" anchor="t">
            <a:spAutoFit/>
          </a:bodyPr>
          <a:lstStyle/>
          <a:p>
            <a:pPr algn="l">
              <a:spcAft>
                <a:spcPts val="400"/>
              </a:spcAft>
            </a:pPr>
            <a:r>
              <a:rPr sz="900" b="1">
                <a:solidFill>
                  <a:srgbClr val="5F6266"/>
                </a:solidFill>
              </a:rPr>
              <a:t>SAFETY · ASPIRATION</a:t>
            </a:r>
          </a:p>
        </p:txBody>
      </p:sp>
      <p:sp>
        <p:nvSpPr>
          <p:cNvPr id="39" name="TextBox 38"/>
          <p:cNvSpPr txBox="1"/>
          <p:nvPr/>
        </p:nvSpPr>
        <p:spPr>
          <a:xfrm>
            <a:off x="7296912" y="3566160"/>
            <a:ext cx="1755648" cy="411480"/>
          </a:xfrm>
          <a:prstGeom prst="rect">
            <a:avLst/>
          </a:prstGeom>
          <a:noFill/>
        </p:spPr>
        <p:txBody>
          <a:bodyPr wrap="square" lIns="36576" rIns="36576" tIns="18288" bIns="18288" anchor="t">
            <a:spAutoFit/>
          </a:bodyPr>
          <a:lstStyle/>
          <a:p>
            <a:pPr algn="l">
              <a:spcAft>
                <a:spcPts val="400"/>
              </a:spcAft>
            </a:pPr>
            <a:r>
              <a:rPr sz="1500" b="1">
                <a:solidFill>
                  <a:srgbClr val="36393B"/>
                </a:solidFill>
              </a:rPr>
              <a:t>₹30.2L · ₹69.8L</a:t>
            </a:r>
          </a:p>
        </p:txBody>
      </p:sp>
      <p:sp>
        <p:nvSpPr>
          <p:cNvPr id="40" name="TextBox 39"/>
          <p:cNvSpPr txBox="1"/>
          <p:nvPr/>
        </p:nvSpPr>
        <p:spPr>
          <a:xfrm>
            <a:off x="7296912" y="3977639"/>
            <a:ext cx="1755648" cy="548640"/>
          </a:xfrm>
          <a:prstGeom prst="rect">
            <a:avLst/>
          </a:prstGeom>
          <a:noFill/>
        </p:spPr>
        <p:txBody>
          <a:bodyPr wrap="square" lIns="36576" rIns="36576" tIns="18288" bIns="18288" anchor="t">
            <a:spAutoFit/>
          </a:bodyPr>
          <a:lstStyle/>
          <a:p>
            <a:pPr algn="l">
              <a:spcAft>
                <a:spcPts val="100"/>
              </a:spcAft>
            </a:pPr>
            <a:r>
              <a:rPr sz="1050" b="0">
                <a:solidFill>
                  <a:srgbClr val="36393B"/>
                </a:solidFill>
              </a:rPr>
              <a:t>G-Secs: ₹20.0L</a:t>
            </a:r>
          </a:p>
          <a:p>
            <a:pPr algn="l">
              <a:spcAft>
                <a:spcPts val="100"/>
              </a:spcAft>
            </a:pPr>
            <a:r>
              <a:rPr sz="1050" b="0">
                <a:solidFill>
                  <a:srgbClr val="36393B"/>
                </a:solidFill>
              </a:rPr>
              <a:t>14.2% return · 20.5% vol</a:t>
            </a:r>
          </a:p>
        </p:txBody>
      </p:sp>
      <p:sp>
        <p:nvSpPr>
          <p:cNvPr id="41" name="TextBox 40"/>
          <p:cNvSpPr txBox="1"/>
          <p:nvPr/>
        </p:nvSpPr>
        <p:spPr>
          <a:xfrm>
            <a:off x="7296912" y="4572000"/>
            <a:ext cx="1755648" cy="1097280"/>
          </a:xfrm>
          <a:prstGeom prst="rect">
            <a:avLst/>
          </a:prstGeom>
          <a:noFill/>
        </p:spPr>
        <p:txBody>
          <a:bodyPr wrap="square" lIns="36576" rIns="36576" tIns="18288" bIns="18288" anchor="t">
            <a:spAutoFit/>
          </a:bodyPr>
          <a:lstStyle/>
          <a:p>
            <a:pPr algn="l">
              <a:spcAft>
                <a:spcPts val="400"/>
              </a:spcAft>
            </a:pPr>
            <a:r>
              <a:rPr sz="1150" b="0">
                <a:solidFill>
                  <a:srgbClr val="36393B"/>
                </a:solidFill>
              </a:rPr>
              <a:t>Confirm preferences in a five-minute follow-up before investing.</a:t>
            </a:r>
          </a:p>
        </p:txBody>
      </p:sp>
      <p:sp>
        <p:nvSpPr>
          <p:cNvPr id="42" name="Client Adwaaiit Pande"/>
          <p:cNvSpPr/>
          <p:nvPr/>
        </p:nvSpPr>
        <p:spPr>
          <a:xfrm>
            <a:off x="9299448" y="1874519"/>
            <a:ext cx="1975104" cy="384048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99448" y="1874519"/>
            <a:ext cx="1975104" cy="109728"/>
          </a:xfrm>
          <a:prstGeom prst="rect">
            <a:avLst/>
          </a:prstGeom>
          <a:solidFill>
            <a:srgbClr val="D69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09176" y="2075688"/>
            <a:ext cx="1755648" cy="365760"/>
          </a:xfrm>
          <a:prstGeom prst="rect">
            <a:avLst/>
          </a:prstGeom>
          <a:noFill/>
        </p:spPr>
        <p:txBody>
          <a:bodyPr wrap="square" lIns="36576" rIns="36576" tIns="18288" bIns="18288" anchor="t">
            <a:spAutoFit/>
          </a:bodyPr>
          <a:lstStyle/>
          <a:p>
            <a:pPr algn="l">
              <a:spcAft>
                <a:spcPts val="400"/>
              </a:spcAft>
            </a:pPr>
            <a:r>
              <a:rPr sz="1500" b="1">
                <a:solidFill>
                  <a:srgbClr val="36393B"/>
                </a:solidFill>
              </a:rPr>
              <a:t>Adwaaiit</a:t>
            </a:r>
          </a:p>
        </p:txBody>
      </p:sp>
      <p:sp>
        <p:nvSpPr>
          <p:cNvPr id="45" name="TextBox 44"/>
          <p:cNvSpPr txBox="1"/>
          <p:nvPr/>
        </p:nvSpPr>
        <p:spPr>
          <a:xfrm>
            <a:off x="9409176" y="2468879"/>
            <a:ext cx="1755648" cy="777240"/>
          </a:xfrm>
          <a:prstGeom prst="rect">
            <a:avLst/>
          </a:prstGeom>
          <a:noFill/>
        </p:spPr>
        <p:txBody>
          <a:bodyPr wrap="square" lIns="36576" rIns="36576" tIns="18288" bIns="18288" anchor="t">
            <a:spAutoFit/>
          </a:bodyPr>
          <a:lstStyle/>
          <a:p>
            <a:pPr algn="l">
              <a:spcAft>
                <a:spcPts val="400"/>
              </a:spcAft>
            </a:pPr>
            <a:r>
              <a:rPr sz="1050" b="0">
                <a:solidFill>
                  <a:srgbClr val="0E8C74"/>
                </a:solidFill>
              </a:rPr>
              <a:t>Says 10/10 risk, chooses γ 2.2; most patient</a:t>
            </a:r>
          </a:p>
        </p:txBody>
      </p:sp>
      <p:sp>
        <p:nvSpPr>
          <p:cNvPr id="46" name="TextBox 45"/>
          <p:cNvSpPr txBox="1"/>
          <p:nvPr/>
        </p:nvSpPr>
        <p:spPr>
          <a:xfrm>
            <a:off x="9409176" y="3291839"/>
            <a:ext cx="1755648" cy="320040"/>
          </a:xfrm>
          <a:prstGeom prst="rect">
            <a:avLst/>
          </a:prstGeom>
          <a:noFill/>
        </p:spPr>
        <p:txBody>
          <a:bodyPr wrap="square" lIns="36576" rIns="36576" tIns="18288" bIns="18288" anchor="t">
            <a:spAutoFit/>
          </a:bodyPr>
          <a:lstStyle/>
          <a:p>
            <a:pPr algn="l">
              <a:spcAft>
                <a:spcPts val="400"/>
              </a:spcAft>
            </a:pPr>
            <a:r>
              <a:rPr sz="900" b="1">
                <a:solidFill>
                  <a:srgbClr val="5F6266"/>
                </a:solidFill>
              </a:rPr>
              <a:t>SAFETY · ASPIRATION</a:t>
            </a:r>
          </a:p>
        </p:txBody>
      </p:sp>
      <p:sp>
        <p:nvSpPr>
          <p:cNvPr id="47" name="TextBox 46"/>
          <p:cNvSpPr txBox="1"/>
          <p:nvPr/>
        </p:nvSpPr>
        <p:spPr>
          <a:xfrm>
            <a:off x="9409176" y="3566160"/>
            <a:ext cx="1755648" cy="411480"/>
          </a:xfrm>
          <a:prstGeom prst="rect">
            <a:avLst/>
          </a:prstGeom>
          <a:noFill/>
        </p:spPr>
        <p:txBody>
          <a:bodyPr wrap="square" lIns="36576" rIns="36576" tIns="18288" bIns="18288" anchor="t">
            <a:spAutoFit/>
          </a:bodyPr>
          <a:lstStyle/>
          <a:p>
            <a:pPr algn="l">
              <a:spcAft>
                <a:spcPts val="400"/>
              </a:spcAft>
            </a:pPr>
            <a:r>
              <a:rPr sz="1500" b="1">
                <a:solidFill>
                  <a:srgbClr val="36393B"/>
                </a:solidFill>
              </a:rPr>
              <a:t>₹30.3L · ₹69.7L</a:t>
            </a:r>
          </a:p>
        </p:txBody>
      </p:sp>
      <p:sp>
        <p:nvSpPr>
          <p:cNvPr id="48" name="TextBox 47"/>
          <p:cNvSpPr txBox="1"/>
          <p:nvPr/>
        </p:nvSpPr>
        <p:spPr>
          <a:xfrm>
            <a:off x="9409176" y="3977639"/>
            <a:ext cx="1755648" cy="548640"/>
          </a:xfrm>
          <a:prstGeom prst="rect">
            <a:avLst/>
          </a:prstGeom>
          <a:noFill/>
        </p:spPr>
        <p:txBody>
          <a:bodyPr wrap="square" lIns="36576" rIns="36576" tIns="18288" bIns="18288" anchor="t">
            <a:spAutoFit/>
          </a:bodyPr>
          <a:lstStyle/>
          <a:p>
            <a:pPr algn="l">
              <a:spcAft>
                <a:spcPts val="100"/>
              </a:spcAft>
            </a:pPr>
            <a:r>
              <a:rPr sz="1050" b="0">
                <a:solidFill>
                  <a:srgbClr val="36393B"/>
                </a:solidFill>
              </a:rPr>
              <a:t>G-Secs: ₹20.1L</a:t>
            </a:r>
          </a:p>
          <a:p>
            <a:pPr algn="l">
              <a:spcAft>
                <a:spcPts val="100"/>
              </a:spcAft>
            </a:pPr>
            <a:r>
              <a:rPr sz="1050" b="0">
                <a:solidFill>
                  <a:srgbClr val="36393B"/>
                </a:solidFill>
              </a:rPr>
              <a:t>14.2% return · 20.4% vol</a:t>
            </a:r>
          </a:p>
        </p:txBody>
      </p:sp>
      <p:sp>
        <p:nvSpPr>
          <p:cNvPr id="49" name="TextBox 48"/>
          <p:cNvSpPr txBox="1"/>
          <p:nvPr/>
        </p:nvSpPr>
        <p:spPr>
          <a:xfrm>
            <a:off x="9409176" y="4572000"/>
            <a:ext cx="1755648" cy="1097280"/>
          </a:xfrm>
          <a:prstGeom prst="rect">
            <a:avLst/>
          </a:prstGeom>
          <a:noFill/>
        </p:spPr>
        <p:txBody>
          <a:bodyPr wrap="square" lIns="36576" rIns="36576" tIns="18288" bIns="18288" anchor="t">
            <a:spAutoFit/>
          </a:bodyPr>
          <a:lstStyle/>
          <a:p>
            <a:pPr algn="l">
              <a:spcAft>
                <a:spcPts val="400"/>
              </a:spcAft>
            </a:pPr>
            <a:r>
              <a:rPr sz="1150" b="0">
                <a:solidFill>
                  <a:srgbClr val="36393B"/>
                </a:solidFill>
              </a:rPr>
              <a:t>Discuss the say-vs-do gap before going all-in; long horizon suits him.</a:t>
            </a:r>
          </a:p>
        </p:txBody>
      </p:sp>
      <p:sp>
        <p:nvSpPr>
          <p:cNvPr id="50"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226339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F8D88-DE22-2DE5-BF64-9FC10B8DC4E0}"/>
              </a:ext>
            </a:extLst>
          </p:cNvPr>
          <p:cNvSpPr>
            <a:spLocks noGrp="1"/>
          </p:cNvSpPr>
          <p:nvPr>
            <p:ph type="title"/>
          </p:nvPr>
        </p:nvSpPr>
        <p:spPr>
          <a:xfrm>
            <a:off x="850392" y="0"/>
            <a:ext cx="10122632" cy="1307592"/>
          </a:xfrm>
        </p:spPr>
        <p:txBody>
          <a:bodyPr/>
          <a:lstStyle/>
          <a:p>
            <a:r>
              <a:rPr lang="en-US" noProof="0" dirty="0" sz="2400"/>
              <a:t>Personality should shape the advice, not the weights</a:t>
            </a:r>
            <a:endParaRPr lang="en-US" dirty="0"/>
          </a:p>
        </p:txBody>
      </p:sp>
      <p:sp>
        <p:nvSpPr>
          <p:cNvPr id="12" name="Slide Number Placeholder 11">
            <a:extLst>
              <a:ext uri="{FF2B5EF4-FFF2-40B4-BE49-F238E27FC236}">
                <a16:creationId xmlns:a16="http://schemas.microsoft.com/office/drawing/2014/main" id="{A8CBBE5F-9A1C-95FF-B955-8D818F3A20E6}"/>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6</a:t>
            </a:fld>
            <a:endParaRPr lang="en-US" dirty="0"/>
          </a:p>
        </p:txBody>
      </p:sp>
      <p:sp>
        <p:nvSpPr>
          <p:cNvPr id="13" name="TextBox 12"/>
          <p:cNvSpPr txBox="1"/>
          <p:nvPr/>
        </p:nvSpPr>
        <p:spPr>
          <a:xfrm>
            <a:off x="850392" y="1371600"/>
            <a:ext cx="10424160" cy="457200"/>
          </a:xfrm>
          <a:prstGeom prst="rect">
            <a:avLst/>
          </a:prstGeom>
          <a:noFill/>
        </p:spPr>
        <p:txBody>
          <a:bodyPr wrap="square" lIns="36576" rIns="36576" tIns="18288" bIns="18288" anchor="t">
            <a:spAutoFit/>
          </a:bodyPr>
          <a:lstStyle/>
          <a:p>
            <a:pPr algn="l">
              <a:spcAft>
                <a:spcPts val="400"/>
              </a:spcAft>
            </a:pPr>
            <a:r>
              <a:rPr sz="1500" b="1">
                <a:solidFill>
                  <a:srgbClr val="36393B"/>
                </a:solidFill>
              </a:rPr>
              <a:t>Principle: </a:t>
            </a:r>
            <a:r>
              <a:rPr sz="1500" b="0">
                <a:solidFill>
                  <a:srgbClr val="36393B"/>
                </a:solidFill>
              </a:rPr>
              <a:t>personality changes how we advise and how much we trust the numbers; γ and λ alone set the weights.</a:t>
            </a:r>
          </a:p>
        </p:txBody>
      </p:sp>
      <p:sp>
        <p:nvSpPr>
          <p:cNvPr id="14" name="Card 1"/>
          <p:cNvSpPr/>
          <p:nvPr/>
        </p:nvSpPr>
        <p:spPr>
          <a:xfrm>
            <a:off x="850392" y="2011680"/>
            <a:ext cx="502920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121408"/>
            <a:ext cx="4663440" cy="365760"/>
          </a:xfrm>
          <a:prstGeom prst="rect">
            <a:avLst/>
          </a:prstGeom>
          <a:noFill/>
        </p:spPr>
        <p:txBody>
          <a:bodyPr wrap="square" lIns="36576" rIns="36576" tIns="18288" bIns="18288" anchor="t">
            <a:spAutoFit/>
          </a:bodyPr>
          <a:lstStyle/>
          <a:p>
            <a:pPr algn="l">
              <a:spcAft>
                <a:spcPts val="400"/>
              </a:spcAft>
            </a:pPr>
            <a:r>
              <a:rPr sz="1300" b="1">
                <a:solidFill>
                  <a:srgbClr val="36393B"/>
                </a:solidFill>
                <a:latin typeface="+mj-lt"/>
              </a:rPr>
              <a:t>NEGATIVE EMOTIONALITY × λ</a:t>
            </a:r>
          </a:p>
        </p:txBody>
      </p:sp>
      <p:sp>
        <p:nvSpPr>
          <p:cNvPr id="16" name="TextBox 15"/>
          <p:cNvSpPr txBox="1"/>
          <p:nvPr/>
        </p:nvSpPr>
        <p:spPr>
          <a:xfrm>
            <a:off x="1033272" y="2514600"/>
            <a:ext cx="4663440" cy="868680"/>
          </a:xfrm>
          <a:prstGeom prst="rect">
            <a:avLst/>
          </a:prstGeom>
          <a:noFill/>
        </p:spPr>
        <p:txBody>
          <a:bodyPr wrap="square" lIns="36576" rIns="36576" tIns="18288" bIns="18288" anchor="t">
            <a:spAutoFit/>
          </a:bodyPr>
          <a:lstStyle/>
          <a:p>
            <a:pPr algn="l">
              <a:spcAft>
                <a:spcPts val="400"/>
              </a:spcAft>
            </a:pPr>
            <a:r>
              <a:rPr sz="1400" b="0">
                <a:solidFill>
                  <a:srgbClr val="36393B"/>
                </a:solidFill>
              </a:rPr>
              <a:t>Both high → lead with drawdown alerts and reassurance. They disagree → human follow-up.</a:t>
            </a:r>
          </a:p>
        </p:txBody>
      </p:sp>
      <p:sp>
        <p:nvSpPr>
          <p:cNvPr id="17" name="TextBox 16"/>
          <p:cNvSpPr txBox="1"/>
          <p:nvPr/>
        </p:nvSpPr>
        <p:spPr>
          <a:xfrm>
            <a:off x="1033272" y="3364992"/>
            <a:ext cx="4663440" cy="548640"/>
          </a:xfrm>
          <a:prstGeom prst="rect">
            <a:avLst/>
          </a:prstGeom>
          <a:noFill/>
        </p:spPr>
        <p:txBody>
          <a:bodyPr wrap="square" lIns="36576" rIns="36576" tIns="18288" bIns="18288" anchor="t">
            <a:spAutoFit/>
          </a:bodyPr>
          <a:lstStyle/>
          <a:p>
            <a:pPr algn="l">
              <a:spcAft>
                <a:spcPts val="400"/>
              </a:spcAft>
            </a:pPr>
            <a:r>
              <a:rPr sz="1200" b="0">
                <a:solidFill>
                  <a:srgbClr val="0E8C74"/>
                </a:solidFill>
              </a:rPr>
              <a:t>None of our five crosses the 3.5 threshold; the rule is built in for a larger cohort.</a:t>
            </a:r>
          </a:p>
        </p:txBody>
      </p:sp>
      <p:sp>
        <p:nvSpPr>
          <p:cNvPr id="18" name="Card 2"/>
          <p:cNvSpPr/>
          <p:nvPr/>
        </p:nvSpPr>
        <p:spPr>
          <a:xfrm>
            <a:off x="6153912" y="2011680"/>
            <a:ext cx="502920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792" y="2121408"/>
            <a:ext cx="4663440" cy="365760"/>
          </a:xfrm>
          <a:prstGeom prst="rect">
            <a:avLst/>
          </a:prstGeom>
          <a:noFill/>
        </p:spPr>
        <p:txBody>
          <a:bodyPr wrap="square" lIns="36576" rIns="36576" tIns="18288" bIns="18288" anchor="t">
            <a:spAutoFit/>
          </a:bodyPr>
          <a:lstStyle/>
          <a:p>
            <a:pPr algn="l">
              <a:spcAft>
                <a:spcPts val="400"/>
              </a:spcAft>
            </a:pPr>
            <a:r>
              <a:rPr sz="1300" b="1">
                <a:solidFill>
                  <a:srgbClr val="36393B"/>
                </a:solidFill>
                <a:latin typeface="+mj-lt"/>
              </a:rPr>
              <a:t>SAY VS. DO GAPS</a:t>
            </a:r>
          </a:p>
        </p:txBody>
      </p:sp>
      <p:sp>
        <p:nvSpPr>
          <p:cNvPr id="20" name="TextBox 19"/>
          <p:cNvSpPr txBox="1"/>
          <p:nvPr/>
        </p:nvSpPr>
        <p:spPr>
          <a:xfrm>
            <a:off x="6336792" y="2514600"/>
            <a:ext cx="4663440" cy="868680"/>
          </a:xfrm>
          <a:prstGeom prst="rect">
            <a:avLst/>
          </a:prstGeom>
          <a:noFill/>
        </p:spPr>
        <p:txBody>
          <a:bodyPr wrap="square" lIns="36576" rIns="36576" tIns="18288" bIns="18288" anchor="t">
            <a:spAutoFit/>
          </a:bodyPr>
          <a:lstStyle/>
          <a:p>
            <a:pPr algn="l">
              <a:spcAft>
                <a:spcPts val="400"/>
              </a:spcAft>
            </a:pPr>
            <a:r>
              <a:rPr sz="1400" b="0">
                <a:solidFill>
                  <a:srgbClr val="36393B"/>
                </a:solidFill>
              </a:rPr>
              <a:t>Self-report far from revealed γ → a short conversation before investing, never a silent average.</a:t>
            </a:r>
          </a:p>
        </p:txBody>
      </p:sp>
      <p:sp>
        <p:nvSpPr>
          <p:cNvPr id="21" name="TextBox 20"/>
          <p:cNvSpPr txBox="1"/>
          <p:nvPr/>
        </p:nvSpPr>
        <p:spPr>
          <a:xfrm>
            <a:off x="6336792" y="3364992"/>
            <a:ext cx="4663440" cy="548640"/>
          </a:xfrm>
          <a:prstGeom prst="rect">
            <a:avLst/>
          </a:prstGeom>
          <a:noFill/>
        </p:spPr>
        <p:txBody>
          <a:bodyPr wrap="square" lIns="36576" rIns="36576" tIns="18288" bIns="18288" anchor="t">
            <a:spAutoFit/>
          </a:bodyPr>
          <a:lstStyle/>
          <a:p>
            <a:pPr algn="l">
              <a:spcAft>
                <a:spcPts val="400"/>
              </a:spcAft>
            </a:pPr>
            <a:r>
              <a:rPr sz="1200" b="0">
                <a:solidFill>
                  <a:srgbClr val="0E8C74"/>
                </a:solidFill>
              </a:rPr>
              <a:t>Adwaaiit: risk 10/10, top Grable-Lytton score (40), yet γ ≈ 2.2.</a:t>
            </a:r>
          </a:p>
        </p:txBody>
      </p:sp>
      <p:sp>
        <p:nvSpPr>
          <p:cNvPr id="22" name="Card 3"/>
          <p:cNvSpPr/>
          <p:nvPr/>
        </p:nvSpPr>
        <p:spPr>
          <a:xfrm>
            <a:off x="850392" y="4160520"/>
            <a:ext cx="502920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4663440" cy="365760"/>
          </a:xfrm>
          <a:prstGeom prst="rect">
            <a:avLst/>
          </a:prstGeom>
          <a:noFill/>
        </p:spPr>
        <p:txBody>
          <a:bodyPr wrap="square" lIns="36576" rIns="36576" tIns="18288" bIns="18288" anchor="t">
            <a:spAutoFit/>
          </a:bodyPr>
          <a:lstStyle/>
          <a:p>
            <a:pPr algn="l">
              <a:spcAft>
                <a:spcPts val="400"/>
              </a:spcAft>
            </a:pPr>
            <a:r>
              <a:rPr sz="1300" b="1">
                <a:solidFill>
                  <a:srgbClr val="36393B"/>
                </a:solidFill>
                <a:latin typeface="+mj-lt"/>
              </a:rPr>
              <a:t>DATA-QUALITY SIGNALS</a:t>
            </a:r>
          </a:p>
        </p:txBody>
      </p:sp>
      <p:sp>
        <p:nvSpPr>
          <p:cNvPr id="24" name="TextBox 23"/>
          <p:cNvSpPr txBox="1"/>
          <p:nvPr/>
        </p:nvSpPr>
        <p:spPr>
          <a:xfrm>
            <a:off x="1033272" y="4663440"/>
            <a:ext cx="4663440" cy="868680"/>
          </a:xfrm>
          <a:prstGeom prst="rect">
            <a:avLst/>
          </a:prstGeom>
          <a:noFill/>
        </p:spPr>
        <p:txBody>
          <a:bodyPr wrap="square" lIns="36576" rIns="36576" tIns="18288" bIns="18288" anchor="t">
            <a:spAutoFit/>
          </a:bodyPr>
          <a:lstStyle/>
          <a:p>
            <a:pPr algn="l">
              <a:spcAft>
                <a:spcPts val="400"/>
              </a:spcAft>
            </a:pPr>
            <a:r>
              <a:rPr sz="1400" b="0">
                <a:solidFill>
                  <a:srgbClr val="36393B"/>
                </a:solidFill>
              </a:rPr>
              <a:t>Flat BFI-2 or low retest → lower confidence: re-survey, or a more conservative default.</a:t>
            </a:r>
          </a:p>
        </p:txBody>
      </p:sp>
      <p:sp>
        <p:nvSpPr>
          <p:cNvPr id="25" name="TextBox 24"/>
          <p:cNvSpPr txBox="1"/>
          <p:nvPr/>
        </p:nvSpPr>
        <p:spPr>
          <a:xfrm>
            <a:off x="1033272" y="5513832"/>
            <a:ext cx="4663440" cy="548640"/>
          </a:xfrm>
          <a:prstGeom prst="rect">
            <a:avLst/>
          </a:prstGeom>
          <a:noFill/>
        </p:spPr>
        <p:txBody>
          <a:bodyPr wrap="square" lIns="36576" rIns="36576" tIns="18288" bIns="18288" anchor="t">
            <a:spAutoFit/>
          </a:bodyPr>
          <a:lstStyle/>
          <a:p>
            <a:pPr algn="l">
              <a:spcAft>
                <a:spcPts val="400"/>
              </a:spcAft>
            </a:pPr>
            <a:r>
              <a:rPr sz="1200" b="0">
                <a:solidFill>
                  <a:srgbClr val="0E8C74"/>
                </a:solidFill>
              </a:rPr>
              <a:t>Shree Charan: 3.00 on all five domains. Ayushi: retest 0.5.</a:t>
            </a:r>
          </a:p>
        </p:txBody>
      </p:sp>
      <p:sp>
        <p:nvSpPr>
          <p:cNvPr id="26" name="Card 4"/>
          <p:cNvSpPr/>
          <p:nvPr/>
        </p:nvSpPr>
        <p:spPr>
          <a:xfrm>
            <a:off x="6153912" y="4160520"/>
            <a:ext cx="5029200" cy="196596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4270248"/>
            <a:ext cx="4663440" cy="365760"/>
          </a:xfrm>
          <a:prstGeom prst="rect">
            <a:avLst/>
          </a:prstGeom>
          <a:noFill/>
        </p:spPr>
        <p:txBody>
          <a:bodyPr wrap="square" lIns="36576" rIns="36576" tIns="18288" bIns="18288" anchor="t">
            <a:spAutoFit/>
          </a:bodyPr>
          <a:lstStyle/>
          <a:p>
            <a:pPr algn="l">
              <a:spcAft>
                <a:spcPts val="400"/>
              </a:spcAft>
            </a:pPr>
            <a:r>
              <a:rPr sz="1300" b="1">
                <a:solidFill>
                  <a:srgbClr val="36393B"/>
                </a:solidFill>
                <a:latin typeface="+mj-lt"/>
              </a:rPr>
              <a:t>OPENNESS &amp; CONSCIENTIOUSNESS</a:t>
            </a:r>
          </a:p>
        </p:txBody>
      </p:sp>
      <p:sp>
        <p:nvSpPr>
          <p:cNvPr id="28" name="TextBox 27"/>
          <p:cNvSpPr txBox="1"/>
          <p:nvPr/>
        </p:nvSpPr>
        <p:spPr>
          <a:xfrm>
            <a:off x="6336792" y="4663440"/>
            <a:ext cx="4663440" cy="868680"/>
          </a:xfrm>
          <a:prstGeom prst="rect">
            <a:avLst/>
          </a:prstGeom>
          <a:noFill/>
        </p:spPr>
        <p:txBody>
          <a:bodyPr wrap="square" lIns="36576" rIns="36576" tIns="18288" bIns="18288" anchor="t">
            <a:spAutoFit/>
          </a:bodyPr>
          <a:lstStyle/>
          <a:p>
            <a:pPr algn="l">
              <a:spcAft>
                <a:spcPts val="400"/>
              </a:spcAft>
            </a:pPr>
            <a:r>
              <a:rPr sz="1400" b="0">
                <a:solidFill>
                  <a:srgbClr val="36393B"/>
                </a:solidFill>
              </a:rPr>
              <a:t>Openness → comfort with two mental accounts. Conscientiousness → will they keep rebalancing?</a:t>
            </a:r>
          </a:p>
        </p:txBody>
      </p:sp>
      <p:sp>
        <p:nvSpPr>
          <p:cNvPr id="29" name="TextBox 28"/>
          <p:cNvSpPr txBox="1"/>
          <p:nvPr/>
        </p:nvSpPr>
        <p:spPr>
          <a:xfrm>
            <a:off x="6336792" y="5513832"/>
            <a:ext cx="4663440" cy="548640"/>
          </a:xfrm>
          <a:prstGeom prst="rect">
            <a:avLst/>
          </a:prstGeom>
          <a:noFill/>
        </p:spPr>
        <p:txBody>
          <a:bodyPr wrap="square" lIns="36576" rIns="36576" tIns="18288" bIns="18288" anchor="t">
            <a:spAutoFit/>
          </a:bodyPr>
          <a:lstStyle/>
          <a:p>
            <a:pPr algn="l">
              <a:spcAft>
                <a:spcPts val="400"/>
              </a:spcAft>
            </a:pPr>
            <a:r>
              <a:rPr sz="1200" b="0">
                <a:solidFill>
                  <a:srgbClr val="0E8C74"/>
                </a:solidFill>
              </a:rPr>
              <a:t>Kartika: open (3.17) but less conscientious (2.83) → automate rebalancing.</a:t>
            </a:r>
          </a:p>
        </p:txBody>
      </p:sp>
      <p:sp>
        <p:nvSpPr>
          <p:cNvPr id="30"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Ayushi</a:t>
            </a:r>
          </a:p>
        </p:txBody>
      </p:sp>
      <p:sp>
        <p:nvSpPr>
          <p:cNvPr id="31" name="Sources"/>
          <p:cNvSpPr txBox="1"/>
          <p:nvPr/>
        </p:nvSpPr>
        <p:spPr>
          <a:xfrm>
            <a:off x="3840480" y="6455664"/>
            <a:ext cx="7406640" cy="274320"/>
          </a:xfrm>
          <a:prstGeom prst="rect">
            <a:avLst/>
          </a:prstGeom>
          <a:noFill/>
        </p:spPr>
        <p:txBody>
          <a:bodyPr wrap="square" lIns="36576" rIns="36576" tIns="18288" bIns="18288" anchor="t">
            <a:spAutoFit/>
          </a:bodyPr>
          <a:lstStyle/>
          <a:p>
            <a:pPr algn="r">
              <a:spcAft>
                <a:spcPts val="400"/>
              </a:spcAft>
            </a:pPr>
            <a:r>
              <a:rPr sz="900" b="0">
                <a:solidFill>
                  <a:srgbClr val="5F6266"/>
                </a:solidFill>
              </a:rPr>
              <a:t>BFI-2: Soto &amp; John (2017)</a:t>
            </a:r>
          </a:p>
        </p:txBody>
      </p:sp>
    </p:spTree>
    <p:extLst>
      <p:ext uri="{BB962C8B-B14F-4D97-AF65-F5344CB8AC3E}">
        <p14:creationId xmlns:p14="http://schemas.microsoft.com/office/powerpoint/2010/main" val="1572098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B9C5-183A-3556-D047-215BDB00B71F}"/>
              </a:ext>
            </a:extLst>
          </p:cNvPr>
          <p:cNvSpPr>
            <a:spLocks noGrp="1"/>
          </p:cNvSpPr>
          <p:nvPr>
            <p:ph type="title"/>
          </p:nvPr>
        </p:nvSpPr>
        <p:spPr>
          <a:xfrm>
            <a:off x="850392" y="0"/>
            <a:ext cx="10122632" cy="1307592"/>
          </a:xfrm>
        </p:spPr>
        <p:txBody>
          <a:bodyPr/>
          <a:lstStyle/>
          <a:p>
            <a:r>
              <a:rPr lang="en-US" dirty="0" sz="2400"/>
              <a:t>A working robo-advisor: survey to portfolio in one sitting</a:t>
            </a:r>
          </a:p>
        </p:txBody>
      </p:sp>
      <p:sp>
        <p:nvSpPr>
          <p:cNvPr id="8" name="Slide Number Placeholder 7">
            <a:extLst>
              <a:ext uri="{FF2B5EF4-FFF2-40B4-BE49-F238E27FC236}">
                <a16:creationId xmlns:a16="http://schemas.microsoft.com/office/drawing/2014/main" id="{20003034-4367-3A30-B08B-22F07E87A60C}"/>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11</a:t>
            </a:fld>
            <a:endParaRPr lang="en-US" dirty="0"/>
          </a:p>
        </p:txBody>
      </p:sp>
      <p:pic>
        <p:nvPicPr>
          <p:cNvPr id="9" name="Screenshot question" descr="p_question.png"/>
          <p:cNvPicPr>
            <a:picLocks noChangeAspect="1"/>
          </p:cNvPicPr>
          <p:nvPr/>
        </p:nvPicPr>
        <p:blipFill>
          <a:blip r:embed="rId2"/>
          <a:stretch>
            <a:fillRect/>
          </a:stretch>
        </p:blipFill>
        <p:spPr>
          <a:xfrm>
            <a:off x="850392" y="1463040"/>
            <a:ext cx="5120640" cy="2032000"/>
          </a:xfrm>
          <a:prstGeom prst="rect">
            <a:avLst/>
          </a:prstGeom>
          <a:ln w="9525">
            <a:solidFill>
              <a:srgbClr val="C9C6C8"/>
            </a:solidFill>
          </a:ln>
        </p:spPr>
      </p:pic>
      <p:pic>
        <p:nvPicPr>
          <p:cNvPr id="10" name="Screenshot results" descr="p_results.png"/>
          <p:cNvPicPr>
            <a:picLocks noChangeAspect="1"/>
          </p:cNvPicPr>
          <p:nvPr/>
        </p:nvPicPr>
        <p:blipFill>
          <a:blip r:embed="rId3"/>
          <a:stretch>
            <a:fillRect/>
          </a:stretch>
        </p:blipFill>
        <p:spPr>
          <a:xfrm>
            <a:off x="850392" y="3611880"/>
            <a:ext cx="5120640" cy="2116183"/>
          </a:xfrm>
          <a:prstGeom prst="rect">
            <a:avLst/>
          </a:prstGeom>
          <a:ln w="9525">
            <a:solidFill>
              <a:srgbClr val="C9C6C8"/>
            </a:solidFill>
          </a:ln>
        </p:spPr>
      </p:pic>
      <p:sp>
        <p:nvSpPr>
          <p:cNvPr id="11" name="TextBox 10"/>
          <p:cNvSpPr txBox="1"/>
          <p:nvPr/>
        </p:nvSpPr>
        <p:spPr>
          <a:xfrm>
            <a:off x="6263640" y="1463040"/>
            <a:ext cx="457200" cy="548640"/>
          </a:xfrm>
          <a:prstGeom prst="rect">
            <a:avLst/>
          </a:prstGeom>
          <a:noFill/>
        </p:spPr>
        <p:txBody>
          <a:bodyPr wrap="square" lIns="36576" rIns="36576" tIns="18288" bIns="18288" anchor="t">
            <a:spAutoFit/>
          </a:bodyPr>
          <a:lstStyle/>
          <a:p>
            <a:pPr algn="l">
              <a:spcAft>
                <a:spcPts val="400"/>
              </a:spcAft>
            </a:pPr>
            <a:r>
              <a:rPr sz="2600" b="0">
                <a:solidFill>
                  <a:srgbClr val="0E8C74"/>
                </a:solidFill>
                <a:latin typeface="+mj-lt"/>
              </a:rPr>
              <a:t>1</a:t>
            </a:r>
          </a:p>
        </p:txBody>
      </p:sp>
      <p:sp>
        <p:nvSpPr>
          <p:cNvPr id="12" name="TextBox 11"/>
          <p:cNvSpPr txBox="1"/>
          <p:nvPr/>
        </p:nvSpPr>
        <p:spPr>
          <a:xfrm>
            <a:off x="6720840" y="1481328"/>
            <a:ext cx="4572000" cy="320040"/>
          </a:xfrm>
          <a:prstGeom prst="rect">
            <a:avLst/>
          </a:prstGeom>
          <a:noFill/>
        </p:spPr>
        <p:txBody>
          <a:bodyPr wrap="square" lIns="36576" rIns="36576" tIns="18288" bIns="18288" anchor="t">
            <a:spAutoFit/>
          </a:bodyPr>
          <a:lstStyle/>
          <a:p>
            <a:pPr algn="l">
              <a:spcAft>
                <a:spcPts val="400"/>
              </a:spcAft>
            </a:pPr>
            <a:r>
              <a:rPr sz="1400" b="1">
                <a:solidFill>
                  <a:srgbClr val="36393B"/>
                </a:solidFill>
              </a:rPr>
              <a:t>Client takes the survey</a:t>
            </a:r>
          </a:p>
        </p:txBody>
      </p:sp>
      <p:sp>
        <p:nvSpPr>
          <p:cNvPr id="13" name="TextBox 12"/>
          <p:cNvSpPr txBox="1"/>
          <p:nvPr/>
        </p:nvSpPr>
        <p:spPr>
          <a:xfrm>
            <a:off x="6720840" y="1810512"/>
            <a:ext cx="4572000" cy="594360"/>
          </a:xfrm>
          <a:prstGeom prst="rect">
            <a:avLst/>
          </a:prstGeom>
          <a:noFill/>
        </p:spPr>
        <p:txBody>
          <a:bodyPr wrap="square" lIns="36576" rIns="36576" tIns="18288" bIns="18288" anchor="t">
            <a:spAutoFit/>
          </a:bodyPr>
          <a:lstStyle/>
          <a:p>
            <a:pPr algn="l">
              <a:spcAft>
                <a:spcPts val="400"/>
              </a:spcAft>
            </a:pPr>
            <a:r>
              <a:rPr sz="1200" b="0">
                <a:solidFill>
                  <a:srgbClr val="36393B"/>
                </a:solidFill>
              </a:rPr>
              <a:t>4 scales + 20 adaptive choices, 20–25 minutes</a:t>
            </a:r>
          </a:p>
        </p:txBody>
      </p:sp>
      <p:sp>
        <p:nvSpPr>
          <p:cNvPr id="14" name="TextBox 13"/>
          <p:cNvSpPr txBox="1"/>
          <p:nvPr/>
        </p:nvSpPr>
        <p:spPr>
          <a:xfrm>
            <a:off x="6263640" y="2423160"/>
            <a:ext cx="457200" cy="548640"/>
          </a:xfrm>
          <a:prstGeom prst="rect">
            <a:avLst/>
          </a:prstGeom>
          <a:noFill/>
        </p:spPr>
        <p:txBody>
          <a:bodyPr wrap="square" lIns="36576" rIns="36576" tIns="18288" bIns="18288" anchor="t">
            <a:spAutoFit/>
          </a:bodyPr>
          <a:lstStyle/>
          <a:p>
            <a:pPr algn="l">
              <a:spcAft>
                <a:spcPts val="400"/>
              </a:spcAft>
            </a:pPr>
            <a:r>
              <a:rPr sz="2600" b="0">
                <a:solidFill>
                  <a:srgbClr val="0E8C74"/>
                </a:solidFill>
                <a:latin typeface="+mj-lt"/>
              </a:rPr>
              <a:t>2</a:t>
            </a:r>
          </a:p>
        </p:txBody>
      </p:sp>
      <p:sp>
        <p:nvSpPr>
          <p:cNvPr id="15" name="TextBox 14"/>
          <p:cNvSpPr txBox="1"/>
          <p:nvPr/>
        </p:nvSpPr>
        <p:spPr>
          <a:xfrm>
            <a:off x="6720840" y="2441448"/>
            <a:ext cx="4572000" cy="320040"/>
          </a:xfrm>
          <a:prstGeom prst="rect">
            <a:avLst/>
          </a:prstGeom>
          <a:noFill/>
        </p:spPr>
        <p:txBody>
          <a:bodyPr wrap="square" lIns="36576" rIns="36576" tIns="18288" bIns="18288" anchor="t">
            <a:spAutoFit/>
          </a:bodyPr>
          <a:lstStyle/>
          <a:p>
            <a:pPr algn="l">
              <a:spcAft>
                <a:spcPts val="400"/>
              </a:spcAft>
            </a:pPr>
            <a:r>
              <a:rPr sz="1400" b="1">
                <a:solidFill>
                  <a:srgbClr val="36393B"/>
                </a:solidFill>
              </a:rPr>
              <a:t>Instant, in-browser result</a:t>
            </a:r>
          </a:p>
        </p:txBody>
      </p:sp>
      <p:sp>
        <p:nvSpPr>
          <p:cNvPr id="16" name="TextBox 15"/>
          <p:cNvSpPr txBox="1"/>
          <p:nvPr/>
        </p:nvSpPr>
        <p:spPr>
          <a:xfrm>
            <a:off x="6720840" y="2770632"/>
            <a:ext cx="4572000" cy="594360"/>
          </a:xfrm>
          <a:prstGeom prst="rect">
            <a:avLst/>
          </a:prstGeom>
          <a:noFill/>
        </p:spPr>
        <p:txBody>
          <a:bodyPr wrap="square" lIns="36576" rIns="36576" tIns="18288" bIns="18288" anchor="t">
            <a:spAutoFit/>
          </a:bodyPr>
          <a:lstStyle/>
          <a:p>
            <a:pPr algn="l">
              <a:spcAft>
                <a:spcPts val="400"/>
              </a:spcAft>
            </a:pPr>
            <a:r>
              <a:rPr sz="1200" b="0">
                <a:solidFill>
                  <a:srgbClr val="36393B"/>
                </a:solidFill>
              </a:rPr>
              <a:t>EUT and BPT portfolios, the client's own utility and value curves, personality-aware advice</a:t>
            </a:r>
          </a:p>
        </p:txBody>
      </p:sp>
      <p:sp>
        <p:nvSpPr>
          <p:cNvPr id="17" name="TextBox 16"/>
          <p:cNvSpPr txBox="1"/>
          <p:nvPr/>
        </p:nvSpPr>
        <p:spPr>
          <a:xfrm>
            <a:off x="6263640" y="3383280"/>
            <a:ext cx="457200" cy="548640"/>
          </a:xfrm>
          <a:prstGeom prst="rect">
            <a:avLst/>
          </a:prstGeom>
          <a:noFill/>
        </p:spPr>
        <p:txBody>
          <a:bodyPr wrap="square" lIns="36576" rIns="36576" tIns="18288" bIns="18288" anchor="t">
            <a:spAutoFit/>
          </a:bodyPr>
          <a:lstStyle/>
          <a:p>
            <a:pPr algn="l">
              <a:spcAft>
                <a:spcPts val="400"/>
              </a:spcAft>
            </a:pPr>
            <a:r>
              <a:rPr sz="2600" b="0">
                <a:solidFill>
                  <a:srgbClr val="0E8C74"/>
                </a:solidFill>
                <a:latin typeface="+mj-lt"/>
              </a:rPr>
              <a:t>3</a:t>
            </a:r>
          </a:p>
        </p:txBody>
      </p:sp>
      <p:sp>
        <p:nvSpPr>
          <p:cNvPr id="18" name="TextBox 17"/>
          <p:cNvSpPr txBox="1"/>
          <p:nvPr/>
        </p:nvSpPr>
        <p:spPr>
          <a:xfrm>
            <a:off x="6720840" y="3401568"/>
            <a:ext cx="4572000" cy="320040"/>
          </a:xfrm>
          <a:prstGeom prst="rect">
            <a:avLst/>
          </a:prstGeom>
          <a:noFill/>
        </p:spPr>
        <p:txBody>
          <a:bodyPr wrap="square" lIns="36576" rIns="36576" tIns="18288" bIns="18288" anchor="t">
            <a:spAutoFit/>
          </a:bodyPr>
          <a:lstStyle/>
          <a:p>
            <a:pPr algn="l">
              <a:spcAft>
                <a:spcPts val="400"/>
              </a:spcAft>
            </a:pPr>
            <a:r>
              <a:rPr sz="1400" b="1">
                <a:solidFill>
                  <a:srgbClr val="36393B"/>
                </a:solidFill>
              </a:rPr>
              <a:t>Evaluator view</a:t>
            </a:r>
          </a:p>
        </p:txBody>
      </p:sp>
      <p:sp>
        <p:nvSpPr>
          <p:cNvPr id="19" name="TextBox 18"/>
          <p:cNvSpPr txBox="1"/>
          <p:nvPr/>
        </p:nvSpPr>
        <p:spPr>
          <a:xfrm>
            <a:off x="6720840" y="3730752"/>
            <a:ext cx="4572000" cy="594360"/>
          </a:xfrm>
          <a:prstGeom prst="rect">
            <a:avLst/>
          </a:prstGeom>
          <a:noFill/>
        </p:spPr>
        <p:txBody>
          <a:bodyPr wrap="square" lIns="36576" rIns="36576" tIns="18288" bIns="18288" anchor="t">
            <a:spAutoFit/>
          </a:bodyPr>
          <a:lstStyle/>
          <a:p>
            <a:pPr algn="l">
              <a:spcAft>
                <a:spcPts val="400"/>
              </a:spcAft>
            </a:pPr>
            <a:r>
              <a:rPr sz="1200" b="0">
                <a:solidFill>
                  <a:srgbClr val="36393B"/>
                </a:solidFill>
              </a:rPr>
              <a:t>All five clients, every instrument and the full maths pre-loaded (#evaluate)</a:t>
            </a:r>
          </a:p>
        </p:txBody>
      </p:sp>
      <p:sp>
        <p:nvSpPr>
          <p:cNvPr id="20" name="Roadmap card"/>
          <p:cNvSpPr/>
          <p:nvPr/>
        </p:nvSpPr>
        <p:spPr>
          <a:xfrm>
            <a:off x="6263640" y="4434840"/>
            <a:ext cx="4983480" cy="1234440"/>
          </a:xfrm>
          <a:prstGeom prst="rect">
            <a:avLst/>
          </a:prstGeom>
          <a:solidFill>
            <a:srgbClr val="EBFD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507992"/>
            <a:ext cx="4754880" cy="1143000"/>
          </a:xfrm>
          <a:prstGeom prst="rect">
            <a:avLst/>
          </a:prstGeom>
          <a:noFill/>
        </p:spPr>
        <p:txBody>
          <a:bodyPr wrap="square" lIns="36576" rIns="36576" tIns="18288" bIns="18288" anchor="t">
            <a:spAutoFit/>
          </a:bodyPr>
          <a:lstStyle/>
          <a:p>
            <a:pPr algn="l">
              <a:spcAft>
                <a:spcPts val="400"/>
              </a:spcAft>
            </a:pPr>
            <a:r>
              <a:rPr sz="1200" b="1">
                <a:solidFill>
                  <a:srgbClr val="36393B"/>
                </a:solidFill>
              </a:rPr>
              <a:t>Production roadmap: </a:t>
            </a:r>
            <a:r>
              <a:rPr sz="1200" b="0">
                <a:solidFill>
                  <a:srgbClr val="36393B"/>
                </a:solidFill>
              </a:rPr>
              <a:t>adaptive engine + 15-item BFI-2-XS + goals, horizon and income questions → onboarding under 10 minutes, in line with SEBI risk profiling.</a:t>
            </a:r>
          </a:p>
        </p:txBody>
      </p:sp>
      <p:sp>
        <p:nvSpPr>
          <p:cNvPr id="22" name="TextBox 21"/>
          <p:cNvSpPr txBox="1"/>
          <p:nvPr/>
        </p:nvSpPr>
        <p:spPr>
          <a:xfrm>
            <a:off x="6263640" y="5760720"/>
            <a:ext cx="4983480" cy="548640"/>
          </a:xfrm>
          <a:prstGeom prst="rect">
            <a:avLst/>
          </a:prstGeom>
          <a:noFill/>
        </p:spPr>
        <p:txBody>
          <a:bodyPr wrap="square" lIns="36576" rIns="36576" tIns="18288" bIns="18288" anchor="t">
            <a:spAutoFit/>
          </a:bodyPr>
          <a:lstStyle/>
          <a:p>
            <a:pPr algn="l">
              <a:spcAft>
                <a:spcPts val="400"/>
              </a:spcAft>
            </a:pPr>
            <a:r>
              <a:rPr sz="1100" b="0">
                <a:solidFill>
                  <a:srgbClr val="5F6266"/>
                </a:solidFill>
              </a:rPr>
              <a:t>Live: </a:t>
            </a:r>
            <a:r>
              <a:rPr sz="1100" b="1">
                <a:solidFill>
                  <a:srgbClr val="0E8C74"/>
                </a:solidFill>
              </a:rPr>
              <a:t>mba680-robo-advisor.vercel.app</a:t>
            </a:r>
            <a:r>
              <a:rPr sz="1100" b="0">
                <a:solidFill>
                  <a:srgbClr val="5F6266"/>
                </a:solidFill>
              </a:rPr>
              <a:t>  ·  matches our Python model to 5 decimals</a:t>
            </a:r>
          </a:p>
        </p:txBody>
      </p:sp>
      <p:sp>
        <p:nvSpPr>
          <p:cNvPr id="23"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226339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BA8B96-A97F-34F3-6F87-24039CBE0C06}"/>
              </a:ext>
            </a:extLst>
          </p:cNvPr>
          <p:cNvSpPr>
            <a:spLocks noGrp="1"/>
          </p:cNvSpPr>
          <p:nvPr>
            <p:ph type="title"/>
          </p:nvPr>
        </p:nvSpPr>
        <p:spPr>
          <a:xfrm>
            <a:off x="850392" y="365760"/>
            <a:ext cx="10085832" cy="978408"/>
          </a:xfrm>
        </p:spPr>
        <p:txBody>
          <a:bodyPr/>
          <a:lstStyle/>
          <a:p>
            <a:r>
              <a:rPr lang="en-US" dirty="0"/>
              <a:t>Summary</a:t>
            </a:r>
          </a:p>
        </p:txBody>
      </p:sp>
      <p:sp>
        <p:nvSpPr>
          <p:cNvPr id="6" name="Content Placeholder 5">
            <a:extLst>
              <a:ext uri="{FF2B5EF4-FFF2-40B4-BE49-F238E27FC236}">
                <a16:creationId xmlns:a16="http://schemas.microsoft.com/office/drawing/2014/main" id="{8A235974-1A3D-2F95-9DA6-0B610F0E590B}"/>
              </a:ext>
            </a:extLst>
          </p:cNvPr>
          <p:cNvSpPr>
            <a:spLocks noGrp="1"/>
          </p:cNvSpPr>
          <p:nvPr>
            <p:ph sz="half" idx="2"/>
          </p:nvPr>
        </p:nvSpPr>
        <p:spPr>
          <a:xfrm>
            <a:off x="850392" y="1911096"/>
            <a:ext cx="4837176" cy="2898648"/>
          </a:xfrm>
        </p:spPr>
        <p:txBody>
          <a:bodyPr/>
          <a:lstStyle/>
          <a:p>
            <a:r>
              <a:rPr lang="en-US" dirty="0"/>
              <a:t>EUT alone can't personalise a young, risk-tolerant group: all five get 100% of the same portfolio.</a:t>
            </a:r>
          </a:p>
          <a:p>
            <a:r>
              <a:rPr lang="en-US" dirty="0"/>
              <a:t>SP/A-BPT can, through loss aversion: a bond-backed safety account that grows with λ; stocks capped at 10%.</a:t>
            </a:r>
          </a:p>
          <a:p>
            <a:r>
              <a:rPr lang="en-US" dirty="0"/>
              <a:t>Personality belongs in how advice is delivered and how much the numbers are trusted.</a:t>
            </a:r>
          </a:p>
        </p:txBody>
      </p:sp>
      <p:sp>
        <p:nvSpPr>
          <p:cNvPr id="25" name="Content Placeholder 24">
            <a:extLst>
              <a:ext uri="{FF2B5EF4-FFF2-40B4-BE49-F238E27FC236}">
                <a16:creationId xmlns:a16="http://schemas.microsoft.com/office/drawing/2014/main" id="{3E6AD0AA-58A6-5A6D-4BF7-5963B235CA74}"/>
              </a:ext>
            </a:extLst>
          </p:cNvPr>
          <p:cNvSpPr>
            <a:spLocks noGrp="1"/>
          </p:cNvSpPr>
          <p:nvPr>
            <p:ph sz="half" idx="36"/>
          </p:nvPr>
        </p:nvSpPr>
        <p:spPr>
          <a:xfrm>
            <a:off x="6812280" y="1911096"/>
            <a:ext cx="4453128" cy="1911096"/>
          </a:xfrm>
        </p:spPr>
        <p:txBody>
          <a:bodyPr/>
          <a:lstStyle/>
          <a:p>
            <a:r>
              <a:rPr lang="en-US" dirty="0"/>
              <a:t>Next: goals &amp; risk capacity</a:t>
            </a:r>
          </a:p>
          <a:p>
            <a:r>
              <a:rPr lang="en-US" dirty="0"/>
              <a:t>Sector caps, fat-tail rule</a:t>
            </a:r>
          </a:p>
          <a:p>
            <a:r>
              <a:rPr lang="en-US" dirty="0"/>
              <a:t>Larger stakes to pin down γ</a:t>
            </a:r>
          </a:p>
          <a:p>
            <a:r>
              <a:rPr lang="en-US" dirty="0"/>
              <a:t>Bigger, independent sample</a:t>
            </a:r>
          </a:p>
        </p:txBody>
      </p:sp>
      <p:pic>
        <p:nvPicPr>
          <p:cNvPr id="32" name="Picture Placeholder 31" descr="Close up of skyscrapers">
            <a:extLst>
              <a:ext uri="{FF2B5EF4-FFF2-40B4-BE49-F238E27FC236}">
                <a16:creationId xmlns:a16="http://schemas.microsoft.com/office/drawing/2014/main" id="{24A9B74D-E2A1-3529-BC0C-6F3E582BA966}"/>
              </a:ext>
            </a:extLst>
          </p:cNvPr>
          <p:cNvPicPr>
            <a:picLocks noGrp="1" noChangeAspect="1"/>
          </p:cNvPicPr>
          <p:nvPr>
            <p:ph type="pic" sz="quarter" idx="10"/>
          </p:nvPr>
        </p:nvPicPr>
        <p:blipFill>
          <a:blip r:embed="rId2"/>
          <a:srcRect t="52" b="52"/>
          <a:stretch/>
        </p:blipFill>
        <p:spPr>
          <a:xfrm>
            <a:off x="6812280" y="4242816"/>
            <a:ext cx="4123944" cy="2615184"/>
          </a:xfrm>
        </p:spPr>
      </p:pic>
      <p:sp>
        <p:nvSpPr>
          <p:cNvPr id="4" name="Slide Number Placeholder 3">
            <a:extLst>
              <a:ext uri="{FF2B5EF4-FFF2-40B4-BE49-F238E27FC236}">
                <a16:creationId xmlns:a16="http://schemas.microsoft.com/office/drawing/2014/main" id="{54F1F300-07D0-6B39-2D9D-ACA25BCE9EC4}"/>
              </a:ext>
            </a:extLst>
          </p:cNvPr>
          <p:cNvSpPr>
            <a:spLocks noGrp="1"/>
          </p:cNvSpPr>
          <p:nvPr>
            <p:ph type="sldNum" sz="quarter" idx="35"/>
          </p:nvPr>
        </p:nvSpPr>
        <p:spPr>
          <a:xfrm rot="16200000">
            <a:off x="11716512" y="6382510"/>
            <a:ext cx="566928" cy="384048"/>
          </a:xfrm>
        </p:spPr>
        <p:txBody>
          <a:bodyPr/>
          <a:lstStyle/>
          <a:p>
            <a:fld id="{09A01C0A-2BB6-49E7-91A3-DCB9F9F59583}" type="slidenum">
              <a:rPr lang="en-US" smtClean="0"/>
              <a:pPr/>
              <a:t>12</a:t>
            </a:fld>
            <a:endParaRPr lang="en-US" dirty="0"/>
          </a:p>
        </p:txBody>
      </p:sp>
      <p:sp>
        <p:nvSpPr>
          <p:cNvPr id="33" name="Rectangle 32">
            <a:extLst>
              <a:ext uri="{FF2B5EF4-FFF2-40B4-BE49-F238E27FC236}">
                <a16:creationId xmlns:a16="http://schemas.microsoft.com/office/drawing/2014/main" id="{45A16232-26A5-5976-4EB0-BDA2944D376A}"/>
              </a:ext>
              <a:ext uri="{C183D7F6-B498-43B3-948B-1728B52AA6E4}">
                <adec:decorative xmlns:adec="http://schemas.microsoft.com/office/drawing/2017/decorative" val="1"/>
              </a:ext>
            </a:extLst>
          </p:cNvPr>
          <p:cNvSpPr/>
          <p:nvPr/>
        </p:nvSpPr>
        <p:spPr>
          <a:xfrm rot="5400000">
            <a:off x="3870445" y="2819362"/>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34" name="Speaker tag"/>
          <p:cNvSpPr txBox="1"/>
          <p:nvPr/>
        </p:nvSpPr>
        <p:spPr>
          <a:xfrm>
            <a:off x="850392" y="6455664"/>
            <a:ext cx="2743200" cy="274320"/>
          </a:xfrm>
          <a:prstGeom prst="rect">
            <a:avLst/>
          </a:prstGeom>
          <a:noFill/>
        </p:spPr>
        <p:txBody>
          <a:bodyPr wrap="square" lIns="36576" rIns="36576" tIns="18288" bIns="18288" anchor="t">
            <a:spAutoFit/>
          </a:bodyPr>
          <a:lstStyle/>
          <a:p>
            <a:pPr algn="l">
              <a:spcAft>
                <a:spcPts val="400"/>
              </a:spcAft>
            </a:pPr>
            <a:r>
              <a:rPr sz="1000" b="0">
                <a:solidFill>
                  <a:srgbClr val="5F6266"/>
                </a:solidFill>
              </a:rPr>
              <a:t>Ayushi</a:t>
            </a:r>
          </a:p>
        </p:txBody>
      </p:sp>
    </p:spTree>
    <p:extLst>
      <p:ext uri="{BB962C8B-B14F-4D97-AF65-F5344CB8AC3E}">
        <p14:creationId xmlns:p14="http://schemas.microsoft.com/office/powerpoint/2010/main" val="121697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6A12F8-DD2F-AE73-677F-D5310D6D52B5}"/>
              </a:ext>
            </a:extLst>
          </p:cNvPr>
          <p:cNvSpPr>
            <a:spLocks noGrp="1"/>
          </p:cNvSpPr>
          <p:nvPr>
            <p:ph type="title"/>
          </p:nvPr>
        </p:nvSpPr>
        <p:spPr>
          <a:xfrm>
            <a:off x="1907196" y="2188196"/>
            <a:ext cx="5985159" cy="1594507"/>
          </a:xfrm>
        </p:spPr>
        <p:txBody>
          <a:bodyPr/>
          <a:lstStyle/>
          <a:p>
            <a:r>
              <a:rPr lang="en-US" dirty="0"/>
              <a:t>Thank you</a:t>
            </a:r>
          </a:p>
        </p:txBody>
      </p:sp>
      <p:sp>
        <p:nvSpPr>
          <p:cNvPr id="15" name="Text Placeholder 14">
            <a:extLst>
              <a:ext uri="{FF2B5EF4-FFF2-40B4-BE49-F238E27FC236}">
                <a16:creationId xmlns:a16="http://schemas.microsoft.com/office/drawing/2014/main" id="{791AF693-3675-52A5-9E8E-C071048A1A4D}"/>
              </a:ext>
            </a:extLst>
          </p:cNvPr>
          <p:cNvSpPr>
            <a:spLocks noGrp="1"/>
          </p:cNvSpPr>
          <p:nvPr>
            <p:ph type="body" idx="1"/>
          </p:nvPr>
        </p:nvSpPr>
        <p:spPr>
          <a:xfrm>
            <a:off x="1907196" y="4078224"/>
            <a:ext cx="5444517" cy="1731890"/>
          </a:xfrm>
        </p:spPr>
        <p:txBody>
          <a:bodyPr/>
          <a:lstStyle/>
          <a:p>
            <a:r>
              <a:rPr lang="en-US" dirty="0"/>
              <a:t>Adwaaiit Pande · Ayushi Mishra</a:t>
            </a:r>
          </a:p>
          <a:p>
            <a:r>
              <a:rPr lang="en-US" dirty="0"/>
              <a:t>Robo-advisory portal:</a:t>
            </a:r>
          </a:p>
          <a:p>
            <a:r>
              <a:rPr lang="en-US" dirty="0"/>
              <a:t>mba680-robo-advisor.vercel.app</a:t>
            </a:r>
          </a:p>
          <a:p>
            <a:r>
              <a:rPr lang="en-US" dirty="0"/>
              <a:t>Questions?</a:t>
            </a:r>
          </a:p>
        </p:txBody>
      </p:sp>
      <p:sp>
        <p:nvSpPr>
          <p:cNvPr id="16" name="QR card"/>
          <p:cNvSpPr/>
          <p:nvPr/>
        </p:nvSpPr>
        <p:spPr>
          <a:xfrm>
            <a:off x="9189720" y="2331720"/>
            <a:ext cx="2194560" cy="26060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QR evaluate view" descr="qr_evaluate.png"/>
          <p:cNvPicPr>
            <a:picLocks noChangeAspect="1"/>
          </p:cNvPicPr>
          <p:nvPr/>
        </p:nvPicPr>
        <p:blipFill>
          <a:blip r:embed="rId4"/>
          <a:stretch>
            <a:fillRect/>
          </a:stretch>
        </p:blipFill>
        <p:spPr>
          <a:xfrm>
            <a:off x="9372600" y="2468880"/>
            <a:ext cx="1828800" cy="1828800"/>
          </a:xfrm>
          <a:prstGeom prst="rect">
            <a:avLst/>
          </a:prstGeom>
        </p:spPr>
      </p:pic>
      <p:sp>
        <p:nvSpPr>
          <p:cNvPr id="18" name="TextBox 17"/>
          <p:cNvSpPr txBox="1"/>
          <p:nvPr/>
        </p:nvSpPr>
        <p:spPr>
          <a:xfrm>
            <a:off x="9235440" y="4389120"/>
            <a:ext cx="2103120" cy="411480"/>
          </a:xfrm>
          <a:prstGeom prst="rect">
            <a:avLst/>
          </a:prstGeom>
          <a:noFill/>
        </p:spPr>
        <p:txBody>
          <a:bodyPr wrap="square" lIns="36576" rIns="36576" tIns="18288" bIns="18288" anchor="t">
            <a:spAutoFit/>
          </a:bodyPr>
          <a:lstStyle/>
          <a:p>
            <a:pPr algn="ctr">
              <a:spcAft>
                <a:spcPts val="400"/>
              </a:spcAft>
            </a:pPr>
            <a:r>
              <a:rPr sz="1200" b="1">
                <a:solidFill>
                  <a:srgbClr val="36393B"/>
                </a:solidFill>
              </a:rPr>
              <a:t>Scan: full project view</a:t>
            </a: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0E3FE2-6B9B-4C9A-84D9-AD118750DE60}">
  <ds:schemaRefs>
    <ds:schemaRef ds:uri="http://schemas.microsoft.com/sharepoint/v3/contenttype/forms"/>
  </ds:schemaRefs>
</ds:datastoreItem>
</file>

<file path=customXml/itemProps3.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{6C685447-D573-4BD3-954E-4D2AB5ED6BB2}TFe33beb5d-e502-4448-a67e-cd378462b5dc44b6c264_win32-f98e54472961</Template>
  <TotalTime>0</TotalTime>
  <Words>334</Words>
  <Application>Microsoft Office PowerPoint</Application>
  <PresentationFormat>Widescreen</PresentationFormat>
  <Paragraphs>111</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Black</vt:lpstr>
      <vt:lpstr>Avenir Next LT Pro</vt:lpstr>
      <vt:lpstr>Avenir Next LT Pro Light</vt:lpstr>
      <vt:lpstr>Calibri</vt:lpstr>
      <vt:lpstr>Custom</vt:lpstr>
      <vt:lpstr>Product Pitch deck</vt:lpstr>
      <vt:lpstr>AGENDA</vt:lpstr>
      <vt:lpstr>Introduction</vt:lpstr>
      <vt:lpstr>MARKET COMPARISON</vt:lpstr>
      <vt:lpstr>PRODUCT OVERVIEW</vt:lpstr>
      <vt:lpstr>Product benefits</vt:lpstr>
      <vt:lpstr>Market overview</vt:lpstr>
      <vt:lpstr>Competitive landscape</vt:lpstr>
      <vt:lpstr>Growth strategy</vt:lpstr>
      <vt:lpstr>Traction</vt:lpstr>
      <vt:lpstr>Financials</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Adwaaiit Pande</dc:creator>
  <cp:lastModifiedBy>Adwaaiit Pande</cp:lastModifiedBy>
  <cp:revision>1</cp:revision>
  <dcterms:created xsi:type="dcterms:W3CDTF">2026-10-05T16:12:43Z</dcterms:created>
  <dcterms:modified xsi:type="dcterms:W3CDTF">2026-10-05T16:13:16Z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